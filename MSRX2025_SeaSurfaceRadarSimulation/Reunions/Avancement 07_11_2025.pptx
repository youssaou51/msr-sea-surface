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13"/>
  </p:notesMasterIdLst>
  <p:sldIdLst>
    <p:sldId id="256" r:id="rId2"/>
    <p:sldId id="258" r:id="rId3"/>
    <p:sldId id="262" r:id="rId4"/>
    <p:sldId id="266" r:id="rId5"/>
    <p:sldId id="270" r:id="rId6"/>
    <p:sldId id="267" r:id="rId7"/>
    <p:sldId id="273" r:id="rId8"/>
    <p:sldId id="271" r:id="rId9"/>
    <p:sldId id="272" r:id="rId10"/>
    <p:sldId id="269" r:id="rId11"/>
    <p:sldId id="265" r:id="rId12"/>
  </p:sldIdLst>
  <p:sldSz cx="9144000" cy="5143500" type="screen16x9"/>
  <p:notesSz cx="6858000" cy="9144000"/>
  <p:embeddedFontLst>
    <p:embeddedFont>
      <p:font typeface="Aharoni" panose="020B0604020202020204" charset="-79"/>
      <p:bold r:id="rId14"/>
    </p:embeddedFont>
    <p:embeddedFont>
      <p:font typeface="Montserrat Light" panose="020B0604020202020204" charset="0"/>
      <p:regular r:id="rId15"/>
      <p:bold r:id="rId16"/>
      <p:italic r:id="rId17"/>
      <p:boldItalic r:id="rId18"/>
    </p:embeddedFont>
    <p:embeddedFont>
      <p:font typeface="Montserrat SemiBold" panose="020B0604020202020204" charset="0"/>
      <p:regular r:id="rId19"/>
      <p:bold r:id="rId20"/>
      <p:italic r:id="rId21"/>
      <p:boldItalic r:id="rId22"/>
    </p:embeddedFont>
    <p:embeddedFont>
      <p:font typeface="Calibri" panose="020F0502020204030204" pitchFamily="34" charset="0"/>
      <p:regular r:id="rId23"/>
      <p:bold r:id="rId24"/>
      <p:italic r:id="rId25"/>
      <p:boldItalic r:id="rId26"/>
    </p:embeddedFont>
    <p:embeddedFont>
      <p:font typeface="Montserrat" panose="020B060402020202020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03">
          <p15:clr>
            <a:srgbClr val="747775"/>
          </p15:clr>
        </p15:guide>
        <p15:guide id="2" pos="2854">
          <p15:clr>
            <a:srgbClr val="747775"/>
          </p15:clr>
        </p15:guide>
        <p15:guide id="3" pos="340">
          <p15:clr>
            <a:srgbClr val="747775"/>
          </p15:clr>
        </p15:guide>
        <p15:guide id="4" orient="horz" pos="213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Style léger 3 - Accentuation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Style clair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7" y="883"/>
      </p:cViewPr>
      <p:guideLst>
        <p:guide orient="horz" pos="1603"/>
        <p:guide pos="2854"/>
        <p:guide pos="340"/>
        <p:guide orient="horz" pos="213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font" Target="fonts/font1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CM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6856195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468f01b72f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CM"/>
          </a:p>
        </p:txBody>
      </p:sp>
      <p:sp>
        <p:nvSpPr>
          <p:cNvPr id="145" name="Google Shape;145;g2468f01b72f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95332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9f5bf7ef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CM"/>
          </a:p>
        </p:txBody>
      </p:sp>
      <p:sp>
        <p:nvSpPr>
          <p:cNvPr id="171" name="Google Shape;171;g29f5bf7efb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08524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468f01b72f_0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CM"/>
          </a:p>
        </p:txBody>
      </p:sp>
      <p:sp>
        <p:nvSpPr>
          <p:cNvPr id="269" name="Google Shape;269;g2468f01b72f_0_2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66528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>
          <a:extLst>
            <a:ext uri="{FF2B5EF4-FFF2-40B4-BE49-F238E27FC236}">
              <a16:creationId xmlns:a16="http://schemas.microsoft.com/office/drawing/2014/main" xmlns="" id="{159AD074-6A31-88F2-C13A-D826EA290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468f01b72f_0_219:notes">
            <a:extLst>
              <a:ext uri="{FF2B5EF4-FFF2-40B4-BE49-F238E27FC236}">
                <a16:creationId xmlns:a16="http://schemas.microsoft.com/office/drawing/2014/main" xmlns="" id="{7FEE9361-9624-EB89-3868-9C0DB4A9D0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CM"/>
          </a:p>
        </p:txBody>
      </p:sp>
      <p:sp>
        <p:nvSpPr>
          <p:cNvPr id="269" name="Google Shape;269;g2468f01b72f_0_219:notes">
            <a:extLst>
              <a:ext uri="{FF2B5EF4-FFF2-40B4-BE49-F238E27FC236}">
                <a16:creationId xmlns:a16="http://schemas.microsoft.com/office/drawing/2014/main" xmlns="" id="{0B55DB47-90E8-5906-7EFE-C7BA2F2C33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01971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>
          <a:extLst>
            <a:ext uri="{FF2B5EF4-FFF2-40B4-BE49-F238E27FC236}">
              <a16:creationId xmlns:a16="http://schemas.microsoft.com/office/drawing/2014/main" xmlns="" id="{159AD074-6A31-88F2-C13A-D826EA290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468f01b72f_0_219:notes">
            <a:extLst>
              <a:ext uri="{FF2B5EF4-FFF2-40B4-BE49-F238E27FC236}">
                <a16:creationId xmlns:a16="http://schemas.microsoft.com/office/drawing/2014/main" xmlns="" id="{7FEE9361-9624-EB89-3868-9C0DB4A9D0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CM"/>
          </a:p>
        </p:txBody>
      </p:sp>
      <p:sp>
        <p:nvSpPr>
          <p:cNvPr id="269" name="Google Shape;269;g2468f01b72f_0_219:notes">
            <a:extLst>
              <a:ext uri="{FF2B5EF4-FFF2-40B4-BE49-F238E27FC236}">
                <a16:creationId xmlns:a16="http://schemas.microsoft.com/office/drawing/2014/main" xmlns="" id="{0B55DB47-90E8-5906-7EFE-C7BA2F2C33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13367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>
          <a:extLst>
            <a:ext uri="{FF2B5EF4-FFF2-40B4-BE49-F238E27FC236}">
              <a16:creationId xmlns:a16="http://schemas.microsoft.com/office/drawing/2014/main" xmlns="" id="{20D9C6CE-69F2-2EE5-0FE7-9353C6000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55edab1364_0_1:notes">
            <a:extLst>
              <a:ext uri="{FF2B5EF4-FFF2-40B4-BE49-F238E27FC236}">
                <a16:creationId xmlns:a16="http://schemas.microsoft.com/office/drawing/2014/main" xmlns="" id="{0E3616D1-D9D1-4B2B-8EE9-FDEFEC80C7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CM"/>
          </a:p>
        </p:txBody>
      </p:sp>
      <p:sp>
        <p:nvSpPr>
          <p:cNvPr id="225" name="Google Shape;225;g255edab1364_0_1:notes">
            <a:extLst>
              <a:ext uri="{FF2B5EF4-FFF2-40B4-BE49-F238E27FC236}">
                <a16:creationId xmlns:a16="http://schemas.microsoft.com/office/drawing/2014/main" xmlns="" id="{931E241B-8487-6142-35FD-0BE93438AC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57597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8480a69043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g28480a69043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595545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haut">
  <p:cSld name="Texte seul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 descr="logo-ICAM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06025" y="214991"/>
            <a:ext cx="540327" cy="292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13" descr="supports - decli piste-03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2600" y="889451"/>
            <a:ext cx="4613135" cy="103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13" descr="petites-bandes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4530" y="4654558"/>
            <a:ext cx="349388" cy="9030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482600" y="214988"/>
            <a:ext cx="75087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SemiBold"/>
              <a:buNone/>
              <a:defRPr sz="36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body" idx="1"/>
          </p:nvPr>
        </p:nvSpPr>
        <p:spPr>
          <a:xfrm>
            <a:off x="482600" y="1111988"/>
            <a:ext cx="8193000" cy="34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4064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810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marR="0" lvl="6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marR="0" lvl="7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marR="0" lvl="8" indent="-35560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2"/>
          </p:nvPr>
        </p:nvSpPr>
        <p:spPr>
          <a:xfrm>
            <a:off x="467544" y="4801791"/>
            <a:ext cx="1800300" cy="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810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marR="0" lvl="6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marR="0" lvl="7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marR="0" lvl="8" indent="-35560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pitre">
  <p:cSld name="Chapitre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 descr="logo-ICAM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63312" y="204291"/>
            <a:ext cx="540327" cy="292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 descr="petites-bande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49283" y="4801663"/>
            <a:ext cx="349388" cy="90308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>
            <a:spLocks noGrp="1"/>
          </p:cNvSpPr>
          <p:nvPr>
            <p:ph type="pic" idx="2"/>
          </p:nvPr>
        </p:nvSpPr>
        <p:spPr>
          <a:xfrm>
            <a:off x="0" y="0"/>
            <a:ext cx="4284600" cy="51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4427984" y="843558"/>
            <a:ext cx="4464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9A45F"/>
              </a:buClr>
              <a:buSzPts val="2800"/>
              <a:buFont typeface="Montserrat SemiBold"/>
              <a:buNone/>
              <a:defRPr sz="2800" b="0" i="0" u="none" strike="noStrike" cap="none">
                <a:solidFill>
                  <a:srgbClr val="F9A45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body" idx="1"/>
          </p:nvPr>
        </p:nvSpPr>
        <p:spPr>
          <a:xfrm>
            <a:off x="4427984" y="1873638"/>
            <a:ext cx="4464600" cy="26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302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302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marR="0" lvl="6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marR="0" lvl="7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marR="0" lvl="8" indent="-35560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body" idx="3"/>
          </p:nvPr>
        </p:nvSpPr>
        <p:spPr>
          <a:xfrm>
            <a:off x="7163199" y="4731990"/>
            <a:ext cx="1800300" cy="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810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marR="0" lvl="6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marR="0" lvl="7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marR="0" lvl="8" indent="-35560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7298" y="16328"/>
            <a:ext cx="3766704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525" y="316000"/>
            <a:ext cx="1442700" cy="983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4"/>
          <p:cNvSpPr txBox="1"/>
          <p:nvPr/>
        </p:nvSpPr>
        <p:spPr>
          <a:xfrm>
            <a:off x="385852" y="2571749"/>
            <a:ext cx="4886100" cy="1990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3800" dirty="0">
                <a:solidFill>
                  <a:srgbClr val="F3920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Présentation d’avancement </a:t>
            </a:r>
            <a:r>
              <a:rPr lang="fr" sz="3800" dirty="0" smtClean="0">
                <a:solidFill>
                  <a:srgbClr val="F3920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12</a:t>
            </a:r>
            <a:r>
              <a:rPr lang="fr" sz="3800" dirty="0" smtClean="0">
                <a:solidFill>
                  <a:srgbClr val="F3920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/03/2026</a:t>
            </a:r>
            <a:endParaRPr sz="3800" b="1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" name="Google Shape;150;p34"/>
          <p:cNvSpPr txBox="1"/>
          <p:nvPr/>
        </p:nvSpPr>
        <p:spPr>
          <a:xfrm>
            <a:off x="438525" y="4376800"/>
            <a:ext cx="4886100" cy="450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 dirty="0" smtClean="0">
                <a:solidFill>
                  <a:srgbClr val="646363"/>
                </a:solidFill>
                <a:latin typeface="Montserrat"/>
                <a:ea typeface="Montserrat"/>
                <a:cs typeface="Montserrat"/>
                <a:sym typeface="Montserrat"/>
              </a:rPr>
              <a:t>YOUSSAOU ISMAILA BOBOY</a:t>
            </a:r>
            <a:endParaRPr sz="1500" dirty="0">
              <a:solidFill>
                <a:srgbClr val="64636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" y="0"/>
            <a:ext cx="3456553" cy="458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36"/>
          <p:cNvSpPr/>
          <p:nvPr/>
        </p:nvSpPr>
        <p:spPr>
          <a:xfrm>
            <a:off x="3473110" y="0"/>
            <a:ext cx="5715000" cy="4583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5" name="Google Shape;175;p36"/>
          <p:cNvSpPr txBox="1"/>
          <p:nvPr/>
        </p:nvSpPr>
        <p:spPr>
          <a:xfrm>
            <a:off x="605654" y="2203235"/>
            <a:ext cx="2850900" cy="697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30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SOMMAIRE</a:t>
            </a:r>
            <a:endParaRPr sz="30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8" name="Google Shape;17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35050" y="4614500"/>
            <a:ext cx="696375" cy="4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6"/>
          <p:cNvSpPr txBox="1"/>
          <p:nvPr/>
        </p:nvSpPr>
        <p:spPr>
          <a:xfrm>
            <a:off x="3909188" y="344259"/>
            <a:ext cx="594900" cy="866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4100" b="1" dirty="0">
                <a:solidFill>
                  <a:srgbClr val="F39200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4100" b="1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5" name="Google Shape;185;p36"/>
          <p:cNvSpPr txBox="1"/>
          <p:nvPr/>
        </p:nvSpPr>
        <p:spPr>
          <a:xfrm>
            <a:off x="4457300" y="428515"/>
            <a:ext cx="4274125" cy="625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2200" b="1" dirty="0" smtClean="0">
                <a:solidFill>
                  <a:srgbClr val="F39200"/>
                </a:solidFill>
                <a:latin typeface="Montserrat"/>
                <a:ea typeface="Montserrat"/>
                <a:cs typeface="Montserrat"/>
                <a:sym typeface="Montserrat"/>
              </a:rPr>
              <a:t>OBJECTIF PRINCIPAL</a:t>
            </a:r>
            <a:endParaRPr sz="2200" b="1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1" name="Google Shape;191;p36"/>
          <p:cNvSpPr txBox="1"/>
          <p:nvPr/>
        </p:nvSpPr>
        <p:spPr>
          <a:xfrm>
            <a:off x="4424048" y="1219391"/>
            <a:ext cx="4327983" cy="625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  <a:spcAft>
                <a:spcPts val="400"/>
              </a:spcAft>
            </a:pPr>
            <a:r>
              <a:rPr lang="fr-FR" sz="2200" b="1" dirty="0" smtClean="0">
                <a:solidFill>
                  <a:srgbClr val="F39200"/>
                </a:solidFill>
                <a:latin typeface="Montserrat"/>
                <a:ea typeface="Montserrat"/>
                <a:cs typeface="Montserrat"/>
                <a:sym typeface="Montserrat"/>
              </a:rPr>
              <a:t>OBJECTIFS DE LA SEMAINE</a:t>
            </a:r>
            <a:endParaRPr lang="fr-FR" sz="2200" b="1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xmlns="" id="{22878BCD-ACF6-15AB-128E-A6E4087A70EA}"/>
              </a:ext>
            </a:extLst>
          </p:cNvPr>
          <p:cNvSpPr txBox="1"/>
          <p:nvPr/>
        </p:nvSpPr>
        <p:spPr>
          <a:xfrm>
            <a:off x="612322" y="4597622"/>
            <a:ext cx="26125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M" sz="2000" b="1" dirty="0">
                <a:latin typeface="Aharoni" panose="020F0502020204030204" pitchFamily="2" charset="-79"/>
                <a:cs typeface="Aharoni" panose="020F0502020204030204" pitchFamily="2" charset="-79"/>
              </a:rPr>
              <a:t>1</a:t>
            </a:r>
          </a:p>
          <a:p>
            <a:endParaRPr lang="fr-CM" sz="2000" b="1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  <p:sp>
        <p:nvSpPr>
          <p:cNvPr id="3" name="Google Shape;184;p36">
            <a:extLst>
              <a:ext uri="{FF2B5EF4-FFF2-40B4-BE49-F238E27FC236}">
                <a16:creationId xmlns:a16="http://schemas.microsoft.com/office/drawing/2014/main" xmlns="" id="{1437728D-67ED-AAFD-26FE-BFFC6782C770}"/>
              </a:ext>
            </a:extLst>
          </p:cNvPr>
          <p:cNvSpPr txBox="1"/>
          <p:nvPr/>
        </p:nvSpPr>
        <p:spPr>
          <a:xfrm>
            <a:off x="3894065" y="1190781"/>
            <a:ext cx="594900" cy="866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4100" b="1" dirty="0">
                <a:solidFill>
                  <a:srgbClr val="F39200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4100" b="1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Google Shape;184;p36">
            <a:extLst>
              <a:ext uri="{FF2B5EF4-FFF2-40B4-BE49-F238E27FC236}">
                <a16:creationId xmlns:a16="http://schemas.microsoft.com/office/drawing/2014/main" xmlns="" id="{7AE75580-E5DF-6EA0-EB63-11A267F60795}"/>
              </a:ext>
            </a:extLst>
          </p:cNvPr>
          <p:cNvSpPr txBox="1"/>
          <p:nvPr/>
        </p:nvSpPr>
        <p:spPr>
          <a:xfrm>
            <a:off x="3909188" y="2090297"/>
            <a:ext cx="594900" cy="866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4100" b="1" dirty="0">
                <a:solidFill>
                  <a:srgbClr val="F39200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4100" b="1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Google Shape;191;p36">
            <a:extLst>
              <a:ext uri="{FF2B5EF4-FFF2-40B4-BE49-F238E27FC236}">
                <a16:creationId xmlns:a16="http://schemas.microsoft.com/office/drawing/2014/main" xmlns="" id="{E247FEF7-CEA8-9364-F22A-FBD55FA44957}"/>
              </a:ext>
            </a:extLst>
          </p:cNvPr>
          <p:cNvSpPr txBox="1"/>
          <p:nvPr/>
        </p:nvSpPr>
        <p:spPr>
          <a:xfrm>
            <a:off x="4424049" y="2113562"/>
            <a:ext cx="3813121" cy="625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  <a:spcAft>
                <a:spcPts val="400"/>
              </a:spcAft>
            </a:pPr>
            <a:r>
              <a:rPr lang="fr-FR" sz="2200" b="1" dirty="0">
                <a:solidFill>
                  <a:srgbClr val="F39200"/>
                </a:solidFill>
                <a:latin typeface="Montserrat"/>
                <a:ea typeface="Montserrat"/>
                <a:cs typeface="Montserrat"/>
                <a:sym typeface="Montserrat"/>
              </a:rPr>
              <a:t>TRAVAUX REALISES</a:t>
            </a:r>
            <a:endParaRPr lang="fr-FR" sz="2200" b="1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" name="Google Shape;184;p36">
            <a:extLst>
              <a:ext uri="{FF2B5EF4-FFF2-40B4-BE49-F238E27FC236}">
                <a16:creationId xmlns:a16="http://schemas.microsoft.com/office/drawing/2014/main" xmlns="" id="{7AE75580-E5DF-6EA0-EB63-11A267F60795}"/>
              </a:ext>
            </a:extLst>
          </p:cNvPr>
          <p:cNvSpPr txBox="1"/>
          <p:nvPr/>
        </p:nvSpPr>
        <p:spPr>
          <a:xfrm>
            <a:off x="3892632" y="2899282"/>
            <a:ext cx="594900" cy="866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4100" b="1" dirty="0">
                <a:solidFill>
                  <a:srgbClr val="F39200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sz="4100" b="1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" name="Google Shape;191;p36">
            <a:extLst>
              <a:ext uri="{FF2B5EF4-FFF2-40B4-BE49-F238E27FC236}">
                <a16:creationId xmlns:a16="http://schemas.microsoft.com/office/drawing/2014/main" xmlns="" id="{E247FEF7-CEA8-9364-F22A-FBD55FA44957}"/>
              </a:ext>
            </a:extLst>
          </p:cNvPr>
          <p:cNvSpPr txBox="1"/>
          <p:nvPr/>
        </p:nvSpPr>
        <p:spPr>
          <a:xfrm>
            <a:off x="4457300" y="3059383"/>
            <a:ext cx="3813121" cy="625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  <a:spcAft>
                <a:spcPts val="400"/>
              </a:spcAft>
            </a:pPr>
            <a:r>
              <a:rPr lang="fr-CA" sz="2200" b="1" dirty="0" smtClean="0">
                <a:solidFill>
                  <a:srgbClr val="F39200"/>
                </a:solidFill>
                <a:latin typeface="Montserrat"/>
                <a:ea typeface="Montserrat"/>
                <a:cs typeface="Montserrat"/>
                <a:sym typeface="Montserrat"/>
              </a:rPr>
              <a:t>CE QUI RESTE A FAIRE</a:t>
            </a:r>
            <a:endParaRPr lang="fr-FR" sz="2200" b="1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7298" y="0"/>
            <a:ext cx="3766704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40"/>
          <p:cNvSpPr txBox="1"/>
          <p:nvPr/>
        </p:nvSpPr>
        <p:spPr>
          <a:xfrm>
            <a:off x="438525" y="3946300"/>
            <a:ext cx="4886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 b="1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www.icam.fr</a:t>
            </a:r>
            <a:endParaRPr sz="3000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3" name="Google Shape;273;p40"/>
          <p:cNvSpPr txBox="1"/>
          <p:nvPr/>
        </p:nvSpPr>
        <p:spPr>
          <a:xfrm>
            <a:off x="438525" y="3414400"/>
            <a:ext cx="488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F29403"/>
                </a:solidFill>
                <a:latin typeface="Montserrat"/>
                <a:ea typeface="Montserrat"/>
                <a:cs typeface="Montserrat"/>
                <a:sym typeface="Montserrat"/>
              </a:rPr>
              <a:t>icam.fr/reseaux-sociaux</a:t>
            </a:r>
            <a:endParaRPr sz="1600">
              <a:solidFill>
                <a:srgbClr val="64636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74" name="Google Shape;274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8525" y="3017909"/>
            <a:ext cx="478471" cy="474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6998" y="2990350"/>
            <a:ext cx="478471" cy="474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67929" y="2990344"/>
            <a:ext cx="478471" cy="474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4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26304" y="3017911"/>
            <a:ext cx="478471" cy="47413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72;p40">
            <a:extLst>
              <a:ext uri="{FF2B5EF4-FFF2-40B4-BE49-F238E27FC236}">
                <a16:creationId xmlns:a16="http://schemas.microsoft.com/office/drawing/2014/main" xmlns="" id="{4D003C2F-3386-71E6-B25D-2F94677C17C7}"/>
              </a:ext>
            </a:extLst>
          </p:cNvPr>
          <p:cNvSpPr txBox="1"/>
          <p:nvPr/>
        </p:nvSpPr>
        <p:spPr>
          <a:xfrm>
            <a:off x="438525" y="1480883"/>
            <a:ext cx="6613114" cy="160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fr-FR" sz="4000" b="1" dirty="0">
                <a:solidFill>
                  <a:schemeClr val="bg1">
                    <a:lumMod val="5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OBJECTIF PRINCIPAL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xmlns="" id="{09D139B3-B71C-2712-1480-1C4ED361F9F1}"/>
              </a:ext>
            </a:extLst>
          </p:cNvPr>
          <p:cNvSpPr txBox="1"/>
          <p:nvPr/>
        </p:nvSpPr>
        <p:spPr>
          <a:xfrm>
            <a:off x="590424" y="4592800"/>
            <a:ext cx="6531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M" sz="2000" b="1" dirty="0">
                <a:latin typeface="Aharoni" panose="020F0502020204030204" pitchFamily="2" charset="-79"/>
                <a:cs typeface="Aharoni" panose="020F0502020204030204" pitchFamily="2" charset="-79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xmlns="" id="{DE431819-5224-6127-7474-2B7032D9565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44897" y="4516088"/>
            <a:ext cx="1100182" cy="627412"/>
          </a:xfrm>
        </p:spPr>
        <p:txBody>
          <a:bodyPr>
            <a:noAutofit/>
          </a:bodyPr>
          <a:lstStyle/>
          <a:p>
            <a:r>
              <a:rPr lang="fr-CM" sz="2000" b="1" dirty="0">
                <a:latin typeface="Aharoni" panose="020F0502020204030204" pitchFamily="2" charset="-79"/>
                <a:cs typeface="Aharoni" panose="020F0502020204030204" pitchFamily="2" charset="-79"/>
              </a:rPr>
              <a:t>3</a:t>
            </a:r>
          </a:p>
          <a:p>
            <a:endParaRPr lang="fr-CM" sz="2000" b="1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xmlns="" id="{4D2E3858-F9EE-B384-CD95-75748071B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214988"/>
            <a:ext cx="7508700" cy="458400"/>
          </a:xfrm>
        </p:spPr>
        <p:txBody>
          <a:bodyPr>
            <a:normAutofit fontScale="90000"/>
          </a:bodyPr>
          <a:lstStyle/>
          <a:p>
            <a:pPr algn="ctr">
              <a:lnSpc>
                <a:spcPct val="115000"/>
              </a:lnSpc>
            </a:pPr>
            <a:r>
              <a:rPr lang="fr-FR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OBJECTIF PRINCIPAL</a:t>
            </a:r>
            <a:endParaRPr lang="fr-FR" b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" name="Text 2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10" name="Shape 3"/>
          <p:cNvSpPr/>
          <p:nvPr/>
        </p:nvSpPr>
        <p:spPr>
          <a:xfrm>
            <a:off x="320040" y="128016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11" name="Shape 4"/>
          <p:cNvSpPr/>
          <p:nvPr/>
        </p:nvSpPr>
        <p:spPr>
          <a:xfrm>
            <a:off x="320040" y="1280160"/>
            <a:ext cx="2651760" cy="109728"/>
          </a:xfrm>
          <a:prstGeom prst="rect">
            <a:avLst/>
          </a:prstGeom>
          <a:solidFill>
            <a:schemeClr val="accent4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2" name="Text 5"/>
          <p:cNvSpPr/>
          <p:nvPr/>
        </p:nvSpPr>
        <p:spPr>
          <a:xfrm>
            <a:off x="411480" y="14173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13" name="Text 6"/>
          <p:cNvSpPr/>
          <p:nvPr/>
        </p:nvSpPr>
        <p:spPr>
          <a:xfrm>
            <a:off x="411480" y="20116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Reproduire l'Interface</a:t>
            </a:r>
            <a:endParaRPr lang="en-US" sz="1400" dirty="0"/>
          </a:p>
        </p:txBody>
      </p:sp>
      <p:sp>
        <p:nvSpPr>
          <p:cNvPr id="14" name="Text 7"/>
          <p:cNvSpPr/>
          <p:nvPr/>
        </p:nvSpPr>
        <p:spPr>
          <a:xfrm>
            <a:off x="457200" y="260604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Recréer avec App Designer l'interface développée avec GUI Layout Toolbox en conservant exactement les mêmes fonctionnalités</a:t>
            </a:r>
            <a:endParaRPr lang="en-US" sz="1100" dirty="0"/>
          </a:p>
        </p:txBody>
      </p:sp>
      <p:sp>
        <p:nvSpPr>
          <p:cNvPr id="15" name="Shape 8"/>
          <p:cNvSpPr/>
          <p:nvPr/>
        </p:nvSpPr>
        <p:spPr>
          <a:xfrm>
            <a:off x="3200400" y="128016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9"/>
          <p:cNvSpPr/>
          <p:nvPr/>
        </p:nvSpPr>
        <p:spPr>
          <a:xfrm>
            <a:off x="3200400" y="1280160"/>
            <a:ext cx="2651760" cy="109728"/>
          </a:xfrm>
          <a:prstGeom prst="rect">
            <a:avLst/>
          </a:prstGeom>
          <a:solidFill>
            <a:schemeClr val="accent4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3291840" y="14173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🔢</a:t>
            </a:r>
            <a:endParaRPr lang="en-US" sz="2800" dirty="0"/>
          </a:p>
        </p:txBody>
      </p:sp>
      <p:sp>
        <p:nvSpPr>
          <p:cNvPr id="18" name="Text 11"/>
          <p:cNvSpPr/>
          <p:nvPr/>
        </p:nvSpPr>
        <p:spPr>
          <a:xfrm>
            <a:off x="3291840" y="20116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Intégrer les Calculs</a:t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3337560" y="260604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Intégrer tous les calculs NRCS et de génération de surface de mer dans la nouvelle interface App Designer</a:t>
            </a:r>
            <a:endParaRPr lang="en-US" sz="1100" dirty="0"/>
          </a:p>
        </p:txBody>
      </p:sp>
      <p:sp>
        <p:nvSpPr>
          <p:cNvPr id="20" name="Shape 13"/>
          <p:cNvSpPr/>
          <p:nvPr/>
        </p:nvSpPr>
        <p:spPr>
          <a:xfrm>
            <a:off x="6080760" y="128016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6080760" y="1280160"/>
            <a:ext cx="2651760" cy="109728"/>
          </a:xfrm>
          <a:prstGeom prst="rect">
            <a:avLst/>
          </a:prstGeom>
          <a:solidFill>
            <a:schemeClr val="accent4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6172200" y="14173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🖼️</a:t>
            </a:r>
            <a:endParaRPr lang="en-US" sz="2800" dirty="0"/>
          </a:p>
        </p:txBody>
      </p:sp>
      <p:sp>
        <p:nvSpPr>
          <p:cNvPr id="23" name="Text 16"/>
          <p:cNvSpPr/>
          <p:nvPr/>
        </p:nvSpPr>
        <p:spPr>
          <a:xfrm>
            <a:off x="6172200" y="20116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Améliorée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6217920" y="260604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Agrandir les 2 logos pour qu'ils soient visibles et rendre l'interface adaptative selon la taille de la fenêtre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703003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>
          <a:extLst>
            <a:ext uri="{FF2B5EF4-FFF2-40B4-BE49-F238E27FC236}">
              <a16:creationId xmlns:a16="http://schemas.microsoft.com/office/drawing/2014/main" xmlns="" id="{857A21E4-36FB-45A4-B653-0885D4916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40">
            <a:extLst>
              <a:ext uri="{FF2B5EF4-FFF2-40B4-BE49-F238E27FC236}">
                <a16:creationId xmlns:a16="http://schemas.microsoft.com/office/drawing/2014/main" xmlns="" id="{48129860-581C-B2D7-2E17-129CA8B245B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7298" y="0"/>
            <a:ext cx="3766704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40">
            <a:extLst>
              <a:ext uri="{FF2B5EF4-FFF2-40B4-BE49-F238E27FC236}">
                <a16:creationId xmlns:a16="http://schemas.microsoft.com/office/drawing/2014/main" xmlns="" id="{F7948FE7-1B59-CF82-E3A3-164F1DEBAF7C}"/>
              </a:ext>
            </a:extLst>
          </p:cNvPr>
          <p:cNvSpPr txBox="1"/>
          <p:nvPr/>
        </p:nvSpPr>
        <p:spPr>
          <a:xfrm>
            <a:off x="867383" y="4561810"/>
            <a:ext cx="488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 dirty="0">
                <a:solidFill>
                  <a:srgbClr val="F29403"/>
                </a:solidFill>
                <a:latin typeface="Montserrat"/>
                <a:ea typeface="Montserrat"/>
                <a:cs typeface="Montserrat"/>
                <a:sym typeface="Montserrat"/>
              </a:rPr>
              <a:t>icam.fr/reseaux-sociaux</a:t>
            </a:r>
            <a:endParaRPr sz="1600" dirty="0">
              <a:solidFill>
                <a:srgbClr val="64636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272;p40">
            <a:extLst>
              <a:ext uri="{FF2B5EF4-FFF2-40B4-BE49-F238E27FC236}">
                <a16:creationId xmlns:a16="http://schemas.microsoft.com/office/drawing/2014/main" xmlns="" id="{D78742D0-C620-9378-FBDD-AB3126D1351B}"/>
              </a:ext>
            </a:extLst>
          </p:cNvPr>
          <p:cNvSpPr txBox="1"/>
          <p:nvPr/>
        </p:nvSpPr>
        <p:spPr>
          <a:xfrm>
            <a:off x="460146" y="1855163"/>
            <a:ext cx="7598766" cy="943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  <a:spcAft>
                <a:spcPts val="400"/>
              </a:spcAft>
            </a:pPr>
            <a:r>
              <a:rPr lang="fr-FR" sz="40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OBJECTIFS DE LA SEMAINE</a:t>
            </a:r>
            <a:endParaRPr lang="fr-FR" sz="4000" b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xmlns="" id="{F09FD26D-2DE7-631D-8069-47A7455C2F30}"/>
              </a:ext>
            </a:extLst>
          </p:cNvPr>
          <p:cNvSpPr txBox="1"/>
          <p:nvPr/>
        </p:nvSpPr>
        <p:spPr>
          <a:xfrm>
            <a:off x="590424" y="4592800"/>
            <a:ext cx="6531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M" sz="2000" b="1" dirty="0">
                <a:latin typeface="Aharoni" panose="020F0502020204030204" pitchFamily="2" charset="-79"/>
                <a:cs typeface="Aharoni" panose="020F0502020204030204" pitchFamily="2" charset="-79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91052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814C4F5F-A49B-7C82-20E5-295A56B97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>
              <a:lnSpc>
                <a:spcPct val="115000"/>
              </a:lnSpc>
              <a:spcAft>
                <a:spcPts val="400"/>
              </a:spcAft>
            </a:pPr>
            <a:r>
              <a:rPr lang="fr-FR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OBJECTIFS DE LA SEMAINE</a:t>
            </a:r>
            <a:endParaRPr lang="fr-FR" b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xmlns="" id="{79CA2FA3-BD2C-C620-BF6B-3B73FC658A15}"/>
              </a:ext>
            </a:extLst>
          </p:cNvPr>
          <p:cNvSpPr txBox="1"/>
          <p:nvPr/>
        </p:nvSpPr>
        <p:spPr>
          <a:xfrm>
            <a:off x="612322" y="4597622"/>
            <a:ext cx="26125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M" sz="2000" b="1" dirty="0">
                <a:latin typeface="Aharoni" panose="020F0502020204030204" pitchFamily="2" charset="-79"/>
                <a:cs typeface="Aharoni" panose="020F0502020204030204" pitchFamily="2" charset="-79"/>
              </a:rPr>
              <a:t>5</a:t>
            </a:r>
          </a:p>
          <a:p>
            <a:endParaRPr lang="fr-CM" sz="2000" b="1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  <p:sp>
        <p:nvSpPr>
          <p:cNvPr id="9" name="Shape 3"/>
          <p:cNvSpPr/>
          <p:nvPr/>
        </p:nvSpPr>
        <p:spPr>
          <a:xfrm>
            <a:off x="274320" y="1234440"/>
            <a:ext cx="8595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4"/>
          <p:cNvSpPr/>
          <p:nvPr/>
        </p:nvSpPr>
        <p:spPr>
          <a:xfrm>
            <a:off x="274320" y="1234440"/>
            <a:ext cx="548640" cy="5303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" name="Text 5"/>
          <p:cNvSpPr/>
          <p:nvPr/>
        </p:nvSpPr>
        <p:spPr>
          <a:xfrm>
            <a:off x="274320" y="1234440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12" name="Text 6"/>
          <p:cNvSpPr/>
          <p:nvPr/>
        </p:nvSpPr>
        <p:spPr>
          <a:xfrm>
            <a:off x="960120" y="128016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 le temps, la RAM MATLAB et la RAM interface pendant le calcul (début → fin)</a:t>
            </a:r>
            <a:endParaRPr lang="en-US" sz="1200" dirty="0"/>
          </a:p>
        </p:txBody>
      </p:sp>
      <p:sp>
        <p:nvSpPr>
          <p:cNvPr id="13" name="Shape 7"/>
          <p:cNvSpPr/>
          <p:nvPr/>
        </p:nvSpPr>
        <p:spPr>
          <a:xfrm>
            <a:off x="274320" y="1856232"/>
            <a:ext cx="8595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8"/>
          <p:cNvSpPr/>
          <p:nvPr/>
        </p:nvSpPr>
        <p:spPr>
          <a:xfrm>
            <a:off x="274320" y="1856232"/>
            <a:ext cx="548640" cy="53035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274320" y="1856232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960120" y="190195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Corriger le code pour obtenir un intervalle de mesure précis de 0.5s (pause adaptatif)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274320" y="2478024"/>
            <a:ext cx="8595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274320" y="2478024"/>
            <a:ext cx="548640" cy="5303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74320" y="2478024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960120" y="2523744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Calculer les statistiques : Max, Min, Mean et Std pour RAM MATLAB et RAM Interface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274320" y="3099816"/>
            <a:ext cx="8595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274320" y="3099816"/>
            <a:ext cx="548640" cy="53035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274320" y="3099816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960120" y="3145536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la même chose pour GUI Layout Toolbox avec mesure de la RAM interface JVM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274320" y="3721608"/>
            <a:ext cx="8595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274320" y="3721608"/>
            <a:ext cx="548640" cy="5303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274320" y="3721608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960120" y="376732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adaptative avec GridLayout (proportions au lieu de pixels fixes)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274320" y="4343400"/>
            <a:ext cx="8595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274320" y="4343400"/>
            <a:ext cx="548640" cy="53035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274320" y="4343400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960120" y="438912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Générer un graphique comparatif RAM : App Designer vs GUI Layout Toolbox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507844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>
          <a:extLst>
            <a:ext uri="{FF2B5EF4-FFF2-40B4-BE49-F238E27FC236}">
              <a16:creationId xmlns:a16="http://schemas.microsoft.com/office/drawing/2014/main" xmlns="" id="{857A21E4-36FB-45A4-B653-0885D4916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40">
            <a:extLst>
              <a:ext uri="{FF2B5EF4-FFF2-40B4-BE49-F238E27FC236}">
                <a16:creationId xmlns:a16="http://schemas.microsoft.com/office/drawing/2014/main" xmlns="" id="{48129860-581C-B2D7-2E17-129CA8B245B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7298" y="0"/>
            <a:ext cx="3766704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40">
            <a:extLst>
              <a:ext uri="{FF2B5EF4-FFF2-40B4-BE49-F238E27FC236}">
                <a16:creationId xmlns:a16="http://schemas.microsoft.com/office/drawing/2014/main" xmlns="" id="{F7948FE7-1B59-CF82-E3A3-164F1DEBAF7C}"/>
              </a:ext>
            </a:extLst>
          </p:cNvPr>
          <p:cNvSpPr txBox="1"/>
          <p:nvPr/>
        </p:nvSpPr>
        <p:spPr>
          <a:xfrm>
            <a:off x="867383" y="4561810"/>
            <a:ext cx="488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 dirty="0">
                <a:solidFill>
                  <a:srgbClr val="F29403"/>
                </a:solidFill>
                <a:latin typeface="Montserrat"/>
                <a:ea typeface="Montserrat"/>
                <a:cs typeface="Montserrat"/>
                <a:sym typeface="Montserrat"/>
              </a:rPr>
              <a:t>icam.fr/reseaux-sociaux</a:t>
            </a:r>
            <a:endParaRPr sz="1600" dirty="0">
              <a:solidFill>
                <a:srgbClr val="64636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272;p40">
            <a:extLst>
              <a:ext uri="{FF2B5EF4-FFF2-40B4-BE49-F238E27FC236}">
                <a16:creationId xmlns:a16="http://schemas.microsoft.com/office/drawing/2014/main" xmlns="" id="{D78742D0-C620-9378-FBDD-AB3126D1351B}"/>
              </a:ext>
            </a:extLst>
          </p:cNvPr>
          <p:cNvSpPr txBox="1"/>
          <p:nvPr/>
        </p:nvSpPr>
        <p:spPr>
          <a:xfrm>
            <a:off x="460146" y="1855163"/>
            <a:ext cx="5769966" cy="943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  <a:spcAft>
                <a:spcPts val="400"/>
              </a:spcAft>
            </a:pPr>
            <a:r>
              <a:rPr lang="fr-FR" sz="40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TRAVAUX REALISES</a:t>
            </a:r>
            <a:endParaRPr lang="fr-FR" sz="4000" b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xmlns="" id="{F09FD26D-2DE7-631D-8069-47A7455C2F30}"/>
              </a:ext>
            </a:extLst>
          </p:cNvPr>
          <p:cNvSpPr txBox="1"/>
          <p:nvPr/>
        </p:nvSpPr>
        <p:spPr>
          <a:xfrm>
            <a:off x="590424" y="4592800"/>
            <a:ext cx="6531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M" sz="2000" b="1" dirty="0">
                <a:latin typeface="Aharoni" panose="020F0502020204030204" pitchFamily="2" charset="-79"/>
                <a:cs typeface="Aharoni" panose="020F0502020204030204" pitchFamily="2" charset="-79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76808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6A4803D-94C6-5835-3E6A-260EC075E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7DF45A83-F143-28EC-85AE-26FF50959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M" b="1" dirty="0">
                <a:latin typeface="Montserrat" panose="00000500000000000000" pitchFamily="2" charset="0"/>
              </a:rPr>
              <a:t>TRAVAUX REALISES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xmlns="" id="{81D05D8C-24FE-19DC-4AA0-1D1A15AFCEF9}"/>
              </a:ext>
            </a:extLst>
          </p:cNvPr>
          <p:cNvSpPr txBox="1"/>
          <p:nvPr/>
        </p:nvSpPr>
        <p:spPr>
          <a:xfrm>
            <a:off x="612322" y="4597622"/>
            <a:ext cx="26125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M" sz="2000" b="1" dirty="0">
                <a:latin typeface="Aharoni" panose="020F0502020204030204" pitchFamily="2" charset="-79"/>
                <a:cs typeface="Aharoni" panose="020F0502020204030204" pitchFamily="2" charset="-79"/>
              </a:rPr>
              <a:t>6</a:t>
            </a:r>
          </a:p>
          <a:p>
            <a:endParaRPr lang="fr-CM" sz="2000" b="1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7519212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B919FF9-C07C-1ABB-8A8E-1F36DCD42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01E29A79-6D5C-894D-187B-01A78B5D0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M" b="1" dirty="0">
                <a:latin typeface="Montserrat" panose="00000500000000000000" pitchFamily="2" charset="0"/>
              </a:rPr>
              <a:t>TRAVAUX REALISES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xmlns="" id="{1FBF0F0F-5799-E599-2FD2-6A47B45698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b="1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Optimisation mémoire : </a:t>
            </a:r>
            <a:r>
              <a:rPr lang="fr-FR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hypothèses envisagées</a:t>
            </a:r>
          </a:p>
          <a:p>
            <a:pPr>
              <a:buFontTx/>
              <a:buChar char="-"/>
            </a:pPr>
            <a:r>
              <a:rPr lang="fr-FR" dirty="0">
                <a:solidFill>
                  <a:srgbClr val="636366"/>
                </a:solidFill>
                <a:latin typeface="Montserrat"/>
                <a:sym typeface="Montserrat"/>
              </a:rPr>
              <a:t>Ajout d’une libération explicite de la mémoire dans la fonction de nettoyage de la surface de mer générée</a:t>
            </a:r>
          </a:p>
          <a:p>
            <a:pPr>
              <a:buFontTx/>
              <a:buChar char="-"/>
            </a:pPr>
            <a:r>
              <a:rPr lang="fr-FR" dirty="0">
                <a:solidFill>
                  <a:srgbClr val="636366"/>
                </a:solidFill>
                <a:latin typeface="Montserrat"/>
                <a:sym typeface="Montserrat"/>
              </a:rPr>
              <a:t>Passage aux variables single </a:t>
            </a:r>
          </a:p>
          <a:p>
            <a:pPr marL="114300" indent="0">
              <a:buNone/>
            </a:pPr>
            <a:r>
              <a:rPr lang="fr-FR" dirty="0">
                <a:solidFill>
                  <a:srgbClr val="636366"/>
                </a:solidFill>
                <a:latin typeface="Montserrat"/>
                <a:sym typeface="Montserrat"/>
              </a:rPr>
              <a:t>MATLAB utilise par défaut des variables doubles qui occupent 8 octets , ça pourrait être intéressant de réfléchir à l’éventualité d’utiliser des variables singles qui n’occupent que 4 octets en mémoires</a:t>
            </a:r>
          </a:p>
          <a:p>
            <a:pPr>
              <a:buFontTx/>
              <a:buChar char="-"/>
            </a:pPr>
            <a:endParaRPr lang="fr-CM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xmlns="" id="{98B64346-D02D-CB73-0D71-0588C616C543}"/>
              </a:ext>
            </a:extLst>
          </p:cNvPr>
          <p:cNvSpPr txBox="1"/>
          <p:nvPr/>
        </p:nvSpPr>
        <p:spPr>
          <a:xfrm>
            <a:off x="612322" y="4597622"/>
            <a:ext cx="26125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M" sz="2000" b="1" dirty="0">
                <a:latin typeface="Aharoni" panose="020F0502020204030204" pitchFamily="2" charset="-79"/>
                <a:cs typeface="Aharoni" panose="020F0502020204030204" pitchFamily="2" charset="-79"/>
              </a:rPr>
              <a:t>7</a:t>
            </a:r>
          </a:p>
          <a:p>
            <a:endParaRPr lang="fr-CM" sz="2000" b="1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518231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>
          <a:extLst>
            <a:ext uri="{FF2B5EF4-FFF2-40B4-BE49-F238E27FC236}">
              <a16:creationId xmlns:a16="http://schemas.microsoft.com/office/drawing/2014/main" xmlns="" id="{7386E986-1ADE-CB08-82E5-9334B2A9E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8">
            <a:extLst>
              <a:ext uri="{FF2B5EF4-FFF2-40B4-BE49-F238E27FC236}">
                <a16:creationId xmlns:a16="http://schemas.microsoft.com/office/drawing/2014/main" xmlns="" id="{29385FAF-BA05-27AC-1E08-0CB2247C2B6B}"/>
              </a:ext>
            </a:extLst>
          </p:cNvPr>
          <p:cNvSpPr/>
          <p:nvPr/>
        </p:nvSpPr>
        <p:spPr>
          <a:xfrm>
            <a:off x="1350" y="2145300"/>
            <a:ext cx="9141300" cy="2466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8" name="Google Shape;228;p38">
            <a:extLst>
              <a:ext uri="{FF2B5EF4-FFF2-40B4-BE49-F238E27FC236}">
                <a16:creationId xmlns:a16="http://schemas.microsoft.com/office/drawing/2014/main" xmlns="" id="{F0F2850D-416C-9038-8B91-3BD6239A6DD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4075" y="2150"/>
            <a:ext cx="5659925" cy="21145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8">
            <a:extLst>
              <a:ext uri="{FF2B5EF4-FFF2-40B4-BE49-F238E27FC236}">
                <a16:creationId xmlns:a16="http://schemas.microsoft.com/office/drawing/2014/main" xmlns="" id="{32925A70-4A56-9FC5-7F84-BD587D9FF427}"/>
              </a:ext>
            </a:extLst>
          </p:cNvPr>
          <p:cNvSpPr/>
          <p:nvPr/>
        </p:nvSpPr>
        <p:spPr>
          <a:xfrm>
            <a:off x="1350" y="0"/>
            <a:ext cx="3482700" cy="2114400"/>
          </a:xfrm>
          <a:prstGeom prst="rect">
            <a:avLst/>
          </a:prstGeom>
          <a:solidFill>
            <a:srgbClr val="09B0B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38">
            <a:extLst>
              <a:ext uri="{FF2B5EF4-FFF2-40B4-BE49-F238E27FC236}">
                <a16:creationId xmlns:a16="http://schemas.microsoft.com/office/drawing/2014/main" xmlns="" id="{3D9D39D2-FF67-7009-03A2-B675022B58A2}"/>
              </a:ext>
            </a:extLst>
          </p:cNvPr>
          <p:cNvSpPr txBox="1"/>
          <p:nvPr/>
        </p:nvSpPr>
        <p:spPr>
          <a:xfrm>
            <a:off x="1040500" y="4715250"/>
            <a:ext cx="4886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64636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32" name="Google Shape;232;p38">
            <a:extLst>
              <a:ext uri="{FF2B5EF4-FFF2-40B4-BE49-F238E27FC236}">
                <a16:creationId xmlns:a16="http://schemas.microsoft.com/office/drawing/2014/main" xmlns="" id="{6835C172-CF37-24B8-9C3B-314FE892F07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35050" y="4614500"/>
            <a:ext cx="696375" cy="4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38">
            <a:extLst>
              <a:ext uri="{FF2B5EF4-FFF2-40B4-BE49-F238E27FC236}">
                <a16:creationId xmlns:a16="http://schemas.microsoft.com/office/drawing/2014/main" xmlns="" id="{F16F5A86-D019-C53A-FC37-3A7EA3BC0521}"/>
              </a:ext>
            </a:extLst>
          </p:cNvPr>
          <p:cNvSpPr txBox="1"/>
          <p:nvPr/>
        </p:nvSpPr>
        <p:spPr>
          <a:xfrm>
            <a:off x="824528" y="858560"/>
            <a:ext cx="3119007" cy="666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28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 VENIR </a:t>
            </a:r>
            <a:endParaRPr sz="28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xmlns="" id="{C43E3EB4-E970-6683-4E57-CE91E6270272}"/>
              </a:ext>
            </a:extLst>
          </p:cNvPr>
          <p:cNvSpPr txBox="1"/>
          <p:nvPr/>
        </p:nvSpPr>
        <p:spPr>
          <a:xfrm>
            <a:off x="612322" y="4597622"/>
            <a:ext cx="26125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M" sz="2000" b="1" dirty="0">
                <a:latin typeface="Aharoni" panose="020F0502020204030204" pitchFamily="2" charset="-79"/>
                <a:cs typeface="Aharoni" panose="020F0502020204030204" pitchFamily="2" charset="-79"/>
              </a:rPr>
              <a:t>8</a:t>
            </a:r>
          </a:p>
          <a:p>
            <a:endParaRPr lang="fr-CM" sz="2000" b="1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  <p:sp>
        <p:nvSpPr>
          <p:cNvPr id="6" name="Google Shape;233;p38">
            <a:extLst>
              <a:ext uri="{FF2B5EF4-FFF2-40B4-BE49-F238E27FC236}">
                <a16:creationId xmlns:a16="http://schemas.microsoft.com/office/drawing/2014/main" xmlns="" id="{E43149D2-1B55-53DF-1C68-44D9170DB9B3}"/>
              </a:ext>
            </a:extLst>
          </p:cNvPr>
          <p:cNvSpPr txBox="1"/>
          <p:nvPr/>
        </p:nvSpPr>
        <p:spPr>
          <a:xfrm>
            <a:off x="2633437" y="2734321"/>
            <a:ext cx="4056857" cy="974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1600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Ajout des modèles isotropes et angulaires pour la génération de surface</a:t>
            </a:r>
            <a:endParaRPr sz="1600" dirty="0">
              <a:solidFill>
                <a:srgbClr val="6363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784953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p43" descr="Une image contenant bâtiment, plein air, ciel, architecture&#10;&#10;Le contenu généré par l’IA peut être incorrect.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20" y="10"/>
            <a:ext cx="9143980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7412</TotalTime>
  <Words>286</Words>
  <Application>Microsoft Office PowerPoint</Application>
  <PresentationFormat>Affichage à l'écran (16:9)</PresentationFormat>
  <Paragraphs>58</Paragraphs>
  <Slides>11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8" baseType="lpstr">
      <vt:lpstr>Aharoni</vt:lpstr>
      <vt:lpstr>Arial</vt:lpstr>
      <vt:lpstr>Montserrat Light</vt:lpstr>
      <vt:lpstr>Montserrat SemiBold</vt:lpstr>
      <vt:lpstr>Calibri</vt:lpstr>
      <vt:lpstr>Montserrat</vt:lpstr>
      <vt:lpstr>Simple Light</vt:lpstr>
      <vt:lpstr>Présentation PowerPoint</vt:lpstr>
      <vt:lpstr>Présentation PowerPoint</vt:lpstr>
      <vt:lpstr>Présentation PowerPoint</vt:lpstr>
      <vt:lpstr>OBJECTIF PRINCIPAL</vt:lpstr>
      <vt:lpstr>Présentation PowerPoint</vt:lpstr>
      <vt:lpstr>OBJECTIFS DE LA SEMAINE</vt:lpstr>
      <vt:lpstr>Présentation PowerPoint</vt:lpstr>
      <vt:lpstr>TRAVAUX REALISES</vt:lpstr>
      <vt:lpstr>TRAVAUX REALISES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cp:lastModifiedBy>ASUS</cp:lastModifiedBy>
  <cp:revision>17</cp:revision>
  <dcterms:modified xsi:type="dcterms:W3CDTF">2026-03-12T01:28:10Z</dcterms:modified>
</cp:coreProperties>
</file>