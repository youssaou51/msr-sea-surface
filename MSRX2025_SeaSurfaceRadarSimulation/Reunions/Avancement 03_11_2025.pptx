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1"/>
  </p:notesMasterIdLst>
  <p:sldIdLst>
    <p:sldId id="256" r:id="rId2"/>
    <p:sldId id="258" r:id="rId3"/>
    <p:sldId id="262" r:id="rId4"/>
    <p:sldId id="266" r:id="rId5"/>
    <p:sldId id="260" r:id="rId6"/>
    <p:sldId id="267" r:id="rId7"/>
    <p:sldId id="268" r:id="rId8"/>
    <p:sldId id="269" r:id="rId9"/>
    <p:sldId id="265" r:id="rId10"/>
  </p:sldIdLst>
  <p:sldSz cx="9144000" cy="5143500" type="screen16x9"/>
  <p:notesSz cx="6858000" cy="9144000"/>
  <p:embeddedFontLst>
    <p:embeddedFont>
      <p:font typeface="Aharoni" panose="02010803020104030203" pitchFamily="2" charset="-79"/>
      <p:bold r:id="rId12"/>
    </p:embeddedFont>
    <p:embeddedFont>
      <p:font typeface="Montserrat" panose="00000500000000000000" pitchFamily="2" charset="0"/>
      <p:regular r:id="rId13"/>
      <p:bold r:id="rId14"/>
      <p:italic r:id="rId15"/>
      <p:boldItalic r:id="rId16"/>
    </p:embeddedFont>
    <p:embeddedFont>
      <p:font typeface="Montserrat Light" panose="00000400000000000000" pitchFamily="2" charset="0"/>
      <p:regular r:id="rId17"/>
      <p:bold r:id="rId18"/>
      <p:italic r:id="rId19"/>
      <p:boldItalic r:id="rId20"/>
    </p:embeddedFont>
    <p:embeddedFont>
      <p:font typeface="Montserrat SemiBold" panose="000007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03">
          <p15:clr>
            <a:srgbClr val="747775"/>
          </p15:clr>
        </p15:guide>
        <p15:guide id="2" pos="2854">
          <p15:clr>
            <a:srgbClr val="747775"/>
          </p15:clr>
        </p15:guide>
        <p15:guide id="3" pos="340">
          <p15:clr>
            <a:srgbClr val="747775"/>
          </p15:clr>
        </p15:guide>
        <p15:guide id="4" orient="horz" pos="213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8" d="100"/>
          <a:sy n="78" d="100"/>
        </p:scale>
        <p:origin x="940" y="36"/>
      </p:cViewPr>
      <p:guideLst>
        <p:guide orient="horz" pos="1603"/>
        <p:guide pos="2854"/>
        <p:guide pos="340"/>
        <p:guide orient="horz" pos="213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468f01b72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468f01b72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9f5bf7ef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9f5bf7ef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468f01b72f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468f01b72f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55edab136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55edab136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20D9C6CE-69F2-2EE5-0FE7-9353C6000201}"/>
            </a:ext>
          </a:extLst>
        </p:cNvPr>
        <p:cNvGrpSpPr/>
        <p:nvPr/>
      </p:nvGrpSpPr>
      <p:grpSpPr>
        <a:xfrm>
          <a:off x="0" y="0"/>
          <a:ext cx="0" cy="0"/>
          <a:chOff x="0" y="0"/>
          <a:chExt cx="0" cy="0"/>
        </a:xfrm>
      </p:grpSpPr>
      <p:sp>
        <p:nvSpPr>
          <p:cNvPr id="224" name="Google Shape;224;g255edab1364_0_1:notes">
            <a:extLst>
              <a:ext uri="{FF2B5EF4-FFF2-40B4-BE49-F238E27FC236}">
                <a16:creationId xmlns:a16="http://schemas.microsoft.com/office/drawing/2014/main" id="{0E3616D1-D9D1-4B2B-8EE9-FDEFEC80C7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55edab1364_0_1:notes">
            <a:extLst>
              <a:ext uri="{FF2B5EF4-FFF2-40B4-BE49-F238E27FC236}">
                <a16:creationId xmlns:a16="http://schemas.microsoft.com/office/drawing/2014/main" id="{931E241B-8487-6142-35FD-0BE93438AC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5759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8480a69043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g28480a6904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haut">
  <p:cSld name="Texte seul_1">
    <p:spTree>
      <p:nvGrpSpPr>
        <p:cNvPr id="1" name="Shape 50"/>
        <p:cNvGrpSpPr/>
        <p:nvPr/>
      </p:nvGrpSpPr>
      <p:grpSpPr>
        <a:xfrm>
          <a:off x="0" y="0"/>
          <a:ext cx="0" cy="0"/>
          <a:chOff x="0" y="0"/>
          <a:chExt cx="0" cy="0"/>
        </a:xfrm>
      </p:grpSpPr>
      <p:pic>
        <p:nvPicPr>
          <p:cNvPr id="51" name="Google Shape;51;p13" descr="logo-ICAM.jpg"/>
          <p:cNvPicPr preferRelativeResize="0"/>
          <p:nvPr/>
        </p:nvPicPr>
        <p:blipFill rotWithShape="1">
          <a:blip r:embed="rId2">
            <a:alphaModFix/>
          </a:blip>
          <a:srcRect/>
          <a:stretch/>
        </p:blipFill>
        <p:spPr>
          <a:xfrm>
            <a:off x="8106025" y="214991"/>
            <a:ext cx="540327" cy="292563"/>
          </a:xfrm>
          <a:prstGeom prst="rect">
            <a:avLst/>
          </a:prstGeom>
          <a:noFill/>
          <a:ln>
            <a:noFill/>
          </a:ln>
        </p:spPr>
      </p:pic>
      <p:pic>
        <p:nvPicPr>
          <p:cNvPr id="52" name="Google Shape;52;p13" descr="supports - decli piste-03.jpg"/>
          <p:cNvPicPr preferRelativeResize="0"/>
          <p:nvPr/>
        </p:nvPicPr>
        <p:blipFill rotWithShape="1">
          <a:blip r:embed="rId3">
            <a:alphaModFix/>
          </a:blip>
          <a:srcRect/>
          <a:stretch/>
        </p:blipFill>
        <p:spPr>
          <a:xfrm>
            <a:off x="482600" y="889451"/>
            <a:ext cx="4613135" cy="103238"/>
          </a:xfrm>
          <a:prstGeom prst="rect">
            <a:avLst/>
          </a:prstGeom>
          <a:noFill/>
          <a:ln>
            <a:noFill/>
          </a:ln>
        </p:spPr>
      </p:pic>
      <p:pic>
        <p:nvPicPr>
          <p:cNvPr id="53" name="Google Shape;53;p13" descr="petites-bandes.jpg"/>
          <p:cNvPicPr preferRelativeResize="0"/>
          <p:nvPr/>
        </p:nvPicPr>
        <p:blipFill rotWithShape="1">
          <a:blip r:embed="rId4">
            <a:alphaModFix/>
          </a:blip>
          <a:srcRect/>
          <a:stretch/>
        </p:blipFill>
        <p:spPr>
          <a:xfrm>
            <a:off x="584530" y="4654558"/>
            <a:ext cx="349388" cy="90308"/>
          </a:xfrm>
          <a:prstGeom prst="rect">
            <a:avLst/>
          </a:prstGeom>
          <a:noFill/>
          <a:ln>
            <a:noFill/>
          </a:ln>
        </p:spPr>
      </p:pic>
      <p:sp>
        <p:nvSpPr>
          <p:cNvPr id="54" name="Google Shape;54;p13"/>
          <p:cNvSpPr txBox="1">
            <a:spLocks noGrp="1"/>
          </p:cNvSpPr>
          <p:nvPr>
            <p:ph type="title"/>
          </p:nvPr>
        </p:nvSpPr>
        <p:spPr>
          <a:xfrm>
            <a:off x="482600" y="214988"/>
            <a:ext cx="7508700" cy="458400"/>
          </a:xfrm>
          <a:prstGeom prst="rect">
            <a:avLst/>
          </a:prstGeom>
          <a:noFill/>
          <a:ln>
            <a:noFill/>
          </a:ln>
        </p:spPr>
        <p:txBody>
          <a:bodyPr spcFirstLastPara="1" wrap="square" lIns="91425" tIns="91425" rIns="91425" bIns="91425" anchor="ctr" anchorCtr="0">
            <a:normAutofit/>
          </a:bodyPr>
          <a:lstStyle>
            <a:lvl1pPr marR="0" lvl="0" algn="l" rtl="0">
              <a:spcBef>
                <a:spcPts val="0"/>
              </a:spcBef>
              <a:spcAft>
                <a:spcPts val="0"/>
              </a:spcAft>
              <a:buClr>
                <a:schemeClr val="dk1"/>
              </a:buClr>
              <a:buSzPts val="3600"/>
              <a:buFont typeface="Montserrat SemiBold"/>
              <a:buNone/>
              <a:defRPr sz="3600" b="0" i="0" u="none" strike="noStrike" cap="none">
                <a:solidFill>
                  <a:schemeClr val="dk1"/>
                </a:solidFill>
                <a:latin typeface="Montserrat SemiBold"/>
                <a:ea typeface="Montserrat SemiBold"/>
                <a:cs typeface="Montserrat SemiBold"/>
                <a:sym typeface="Montserrat SemiBold"/>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a:endParaRPr/>
          </a:p>
        </p:txBody>
      </p:sp>
      <p:sp>
        <p:nvSpPr>
          <p:cNvPr id="55" name="Google Shape;55;p13"/>
          <p:cNvSpPr txBox="1">
            <a:spLocks noGrp="1"/>
          </p:cNvSpPr>
          <p:nvPr>
            <p:ph type="body" idx="1"/>
          </p:nvPr>
        </p:nvSpPr>
        <p:spPr>
          <a:xfrm>
            <a:off x="482600" y="1111988"/>
            <a:ext cx="8193000" cy="3404100"/>
          </a:xfrm>
          <a:prstGeom prst="rect">
            <a:avLst/>
          </a:prstGeom>
          <a:noFill/>
          <a:ln>
            <a:noFill/>
          </a:ln>
        </p:spPr>
        <p:txBody>
          <a:bodyPr spcFirstLastPara="1" wrap="square" lIns="91425" tIns="91425" rIns="91425" bIns="91425" anchor="t" anchorCtr="0">
            <a:norm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Montserrat Light"/>
                <a:ea typeface="Montserrat Light"/>
                <a:cs typeface="Montserrat Light"/>
                <a:sym typeface="Montserrat Light"/>
              </a:defRPr>
            </a:lvl1pPr>
            <a:lvl2pPr marL="914400" marR="0" lvl="1" indent="-406400" algn="l" rtl="0">
              <a:spcBef>
                <a:spcPts val="120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L="1371600" marR="0" lvl="2" indent="-381000" algn="l" rtl="0">
              <a:spcBef>
                <a:spcPts val="120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L="1828800" marR="0" lvl="3"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L="2286000" marR="0" lvl="4"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
        <p:nvSpPr>
          <p:cNvPr id="56" name="Google Shape;56;p13"/>
          <p:cNvSpPr txBox="1">
            <a:spLocks noGrp="1"/>
          </p:cNvSpPr>
          <p:nvPr>
            <p:ph type="body" idx="2"/>
          </p:nvPr>
        </p:nvSpPr>
        <p:spPr>
          <a:xfrm>
            <a:off x="467544" y="4801791"/>
            <a:ext cx="1800300" cy="2004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Montserrat Light"/>
                <a:ea typeface="Montserrat Light"/>
                <a:cs typeface="Montserrat Light"/>
                <a:sym typeface="Montserrat Light"/>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L="1371600" marR="0" lvl="2" indent="-381000" algn="l" rtl="0">
              <a:spcBef>
                <a:spcPts val="120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L="1828800" marR="0" lvl="3"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L="2286000" marR="0" lvl="4"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hapitre">
  <p:cSld name="Chapitre">
    <p:spTree>
      <p:nvGrpSpPr>
        <p:cNvPr id="1" name="Shape 66"/>
        <p:cNvGrpSpPr/>
        <p:nvPr/>
      </p:nvGrpSpPr>
      <p:grpSpPr>
        <a:xfrm>
          <a:off x="0" y="0"/>
          <a:ext cx="0" cy="0"/>
          <a:chOff x="0" y="0"/>
          <a:chExt cx="0" cy="0"/>
        </a:xfrm>
      </p:grpSpPr>
      <p:pic>
        <p:nvPicPr>
          <p:cNvPr id="67" name="Google Shape;67;p15" descr="logo-ICAM.jpg"/>
          <p:cNvPicPr preferRelativeResize="0"/>
          <p:nvPr/>
        </p:nvPicPr>
        <p:blipFill rotWithShape="1">
          <a:blip r:embed="rId2">
            <a:alphaModFix/>
          </a:blip>
          <a:srcRect/>
          <a:stretch/>
        </p:blipFill>
        <p:spPr>
          <a:xfrm>
            <a:off x="8063312" y="204291"/>
            <a:ext cx="540327" cy="292563"/>
          </a:xfrm>
          <a:prstGeom prst="rect">
            <a:avLst/>
          </a:prstGeom>
          <a:noFill/>
          <a:ln>
            <a:noFill/>
          </a:ln>
        </p:spPr>
      </p:pic>
      <p:pic>
        <p:nvPicPr>
          <p:cNvPr id="68" name="Google Shape;68;p15" descr="petites-bandes.jpg"/>
          <p:cNvPicPr preferRelativeResize="0"/>
          <p:nvPr/>
        </p:nvPicPr>
        <p:blipFill rotWithShape="1">
          <a:blip r:embed="rId3">
            <a:alphaModFix/>
          </a:blip>
          <a:srcRect/>
          <a:stretch/>
        </p:blipFill>
        <p:spPr>
          <a:xfrm>
            <a:off x="6549283" y="4801663"/>
            <a:ext cx="349388" cy="90308"/>
          </a:xfrm>
          <a:prstGeom prst="rect">
            <a:avLst/>
          </a:prstGeom>
          <a:noFill/>
          <a:ln>
            <a:noFill/>
          </a:ln>
        </p:spPr>
      </p:pic>
      <p:sp>
        <p:nvSpPr>
          <p:cNvPr id="69" name="Google Shape;69;p15"/>
          <p:cNvSpPr>
            <a:spLocks noGrp="1"/>
          </p:cNvSpPr>
          <p:nvPr>
            <p:ph type="pic" idx="2"/>
          </p:nvPr>
        </p:nvSpPr>
        <p:spPr>
          <a:xfrm>
            <a:off x="0" y="0"/>
            <a:ext cx="4284600" cy="5132700"/>
          </a:xfrm>
          <a:prstGeom prst="rect">
            <a:avLst/>
          </a:prstGeom>
          <a:noFill/>
          <a:ln>
            <a:noFill/>
          </a:ln>
        </p:spPr>
        <p:txBody>
          <a:bodyPr spcFirstLastPara="1" wrap="square" lIns="91425" tIns="91425" rIns="91425" bIns="91425"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Montserrat Light"/>
                <a:ea typeface="Montserrat Light"/>
                <a:cs typeface="Montserrat Light"/>
                <a:sym typeface="Montserrat Light"/>
              </a:defRPr>
            </a:lvl1pPr>
            <a:lvl2pPr marR="0" lvl="1" algn="l" rtl="0">
              <a:spcBef>
                <a:spcPts val="56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R="0" lvl="2" algn="l" rtl="0">
              <a:spcBef>
                <a:spcPts val="48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R="0" lvl="3"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R="0" lvl="4"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
        <p:nvSpPr>
          <p:cNvPr id="70" name="Google Shape;70;p15"/>
          <p:cNvSpPr txBox="1">
            <a:spLocks noGrp="1"/>
          </p:cNvSpPr>
          <p:nvPr>
            <p:ph type="title"/>
          </p:nvPr>
        </p:nvSpPr>
        <p:spPr>
          <a:xfrm>
            <a:off x="4427984" y="843558"/>
            <a:ext cx="4464600" cy="857400"/>
          </a:xfrm>
          <a:prstGeom prst="rect">
            <a:avLst/>
          </a:prstGeom>
          <a:noFill/>
          <a:ln>
            <a:noFill/>
          </a:ln>
        </p:spPr>
        <p:txBody>
          <a:bodyPr spcFirstLastPara="1" wrap="square" lIns="91425" tIns="91425" rIns="91425" bIns="91425" anchor="ctr" anchorCtr="0">
            <a:normAutofit/>
          </a:bodyPr>
          <a:lstStyle>
            <a:lvl1pPr marR="0" lvl="0" algn="l" rtl="0">
              <a:spcBef>
                <a:spcPts val="0"/>
              </a:spcBef>
              <a:spcAft>
                <a:spcPts val="0"/>
              </a:spcAft>
              <a:buClr>
                <a:srgbClr val="F9A45F"/>
              </a:buClr>
              <a:buSzPts val="2800"/>
              <a:buFont typeface="Montserrat SemiBold"/>
              <a:buNone/>
              <a:defRPr sz="2800" b="0" i="0" u="none" strike="noStrike" cap="none">
                <a:solidFill>
                  <a:srgbClr val="F9A45F"/>
                </a:solidFill>
                <a:latin typeface="Montserrat SemiBold"/>
                <a:ea typeface="Montserrat SemiBold"/>
                <a:cs typeface="Montserrat SemiBold"/>
                <a:sym typeface="Montserrat SemiBold"/>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a:endParaRPr/>
          </a:p>
        </p:txBody>
      </p:sp>
      <p:sp>
        <p:nvSpPr>
          <p:cNvPr id="71" name="Google Shape;71;p15"/>
          <p:cNvSpPr txBox="1">
            <a:spLocks noGrp="1"/>
          </p:cNvSpPr>
          <p:nvPr>
            <p:ph type="body" idx="1"/>
          </p:nvPr>
        </p:nvSpPr>
        <p:spPr>
          <a:xfrm>
            <a:off x="4427984" y="1873638"/>
            <a:ext cx="4464600" cy="2677500"/>
          </a:xfrm>
          <a:prstGeom prst="rect">
            <a:avLst/>
          </a:prstGeom>
          <a:noFill/>
          <a:ln>
            <a:noFill/>
          </a:ln>
        </p:spPr>
        <p:txBody>
          <a:bodyPr spcFirstLastPara="1" wrap="square" lIns="91425" tIns="91425" rIns="91425" bIns="91425" anchor="t" anchorCtr="0">
            <a:norm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Montserrat Light"/>
                <a:ea typeface="Montserrat Light"/>
                <a:cs typeface="Montserrat Light"/>
                <a:sym typeface="Montserrat Light"/>
              </a:defRPr>
            </a:lvl1pPr>
            <a:lvl2pPr marL="914400" marR="0" lvl="1"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2pPr>
            <a:lvl3pPr marL="1371600" marR="0" lvl="2" indent="-342900" algn="l" rtl="0">
              <a:spcBef>
                <a:spcPts val="1200"/>
              </a:spcBef>
              <a:spcAft>
                <a:spcPts val="0"/>
              </a:spcAft>
              <a:buClr>
                <a:schemeClr val="dk1"/>
              </a:buClr>
              <a:buSzPts val="1800"/>
              <a:buFont typeface="Arial"/>
              <a:buChar char="•"/>
              <a:defRPr sz="1800" b="0" i="0" u="none" strike="noStrike" cap="none">
                <a:solidFill>
                  <a:schemeClr val="dk1"/>
                </a:solidFill>
                <a:latin typeface="Montserrat Light"/>
                <a:ea typeface="Montserrat Light"/>
                <a:cs typeface="Montserrat Light"/>
                <a:sym typeface="Montserrat Light"/>
              </a:defRPr>
            </a:lvl3pPr>
            <a:lvl4pPr marL="1828800" marR="0" lvl="3" indent="-330200" algn="l" rtl="0">
              <a:spcBef>
                <a:spcPts val="1200"/>
              </a:spcBef>
              <a:spcAft>
                <a:spcPts val="0"/>
              </a:spcAft>
              <a:buClr>
                <a:schemeClr val="dk1"/>
              </a:buClr>
              <a:buSzPts val="1600"/>
              <a:buFont typeface="Arial"/>
              <a:buChar char="–"/>
              <a:defRPr sz="1600" b="0" i="0" u="none" strike="noStrike" cap="none">
                <a:solidFill>
                  <a:schemeClr val="dk1"/>
                </a:solidFill>
                <a:latin typeface="Montserrat Light"/>
                <a:ea typeface="Montserrat Light"/>
                <a:cs typeface="Montserrat Light"/>
                <a:sym typeface="Montserrat Light"/>
              </a:defRPr>
            </a:lvl4pPr>
            <a:lvl5pPr marL="2286000" marR="0" lvl="4" indent="-330200" algn="l" rtl="0">
              <a:spcBef>
                <a:spcPts val="1200"/>
              </a:spcBef>
              <a:spcAft>
                <a:spcPts val="0"/>
              </a:spcAft>
              <a:buClr>
                <a:schemeClr val="dk1"/>
              </a:buClr>
              <a:buSzPts val="1600"/>
              <a:buFont typeface="Arial"/>
              <a:buChar char="»"/>
              <a:defRPr sz="16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
        <p:nvSpPr>
          <p:cNvPr id="72" name="Google Shape;72;p15"/>
          <p:cNvSpPr txBox="1">
            <a:spLocks noGrp="1"/>
          </p:cNvSpPr>
          <p:nvPr>
            <p:ph type="body" idx="3"/>
          </p:nvPr>
        </p:nvSpPr>
        <p:spPr>
          <a:xfrm>
            <a:off x="7163199" y="4731990"/>
            <a:ext cx="1800300" cy="2004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Montserrat Light"/>
                <a:ea typeface="Montserrat Light"/>
                <a:cs typeface="Montserrat Light"/>
                <a:sym typeface="Montserrat Light"/>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L="1371600" marR="0" lvl="2" indent="-381000" algn="l" rtl="0">
              <a:spcBef>
                <a:spcPts val="120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L="1828800" marR="0" lvl="3"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L="2286000" marR="0" lvl="4"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34"/>
          <p:cNvPicPr preferRelativeResize="0"/>
          <p:nvPr/>
        </p:nvPicPr>
        <p:blipFill>
          <a:blip r:embed="rId3">
            <a:alphaModFix/>
          </a:blip>
          <a:stretch>
            <a:fillRect/>
          </a:stretch>
        </p:blipFill>
        <p:spPr>
          <a:xfrm>
            <a:off x="5377298" y="16328"/>
            <a:ext cx="3766704" cy="5143499"/>
          </a:xfrm>
          <a:prstGeom prst="rect">
            <a:avLst/>
          </a:prstGeom>
          <a:noFill/>
          <a:ln>
            <a:noFill/>
          </a:ln>
        </p:spPr>
      </p:pic>
      <p:pic>
        <p:nvPicPr>
          <p:cNvPr id="148" name="Google Shape;148;p34"/>
          <p:cNvPicPr preferRelativeResize="0"/>
          <p:nvPr/>
        </p:nvPicPr>
        <p:blipFill>
          <a:blip r:embed="rId4">
            <a:alphaModFix/>
          </a:blip>
          <a:stretch>
            <a:fillRect/>
          </a:stretch>
        </p:blipFill>
        <p:spPr>
          <a:xfrm>
            <a:off x="331525" y="316000"/>
            <a:ext cx="1442700" cy="983075"/>
          </a:xfrm>
          <a:prstGeom prst="rect">
            <a:avLst/>
          </a:prstGeom>
          <a:noFill/>
          <a:ln>
            <a:noFill/>
          </a:ln>
        </p:spPr>
      </p:pic>
      <p:sp>
        <p:nvSpPr>
          <p:cNvPr id="149" name="Google Shape;149;p34"/>
          <p:cNvSpPr txBox="1"/>
          <p:nvPr/>
        </p:nvSpPr>
        <p:spPr>
          <a:xfrm>
            <a:off x="385852" y="2571749"/>
            <a:ext cx="4886100" cy="1990258"/>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3800" dirty="0">
                <a:solidFill>
                  <a:srgbClr val="F39200"/>
                </a:solidFill>
                <a:highlight>
                  <a:srgbClr val="FFFFFF"/>
                </a:highlight>
                <a:latin typeface="Montserrat"/>
                <a:ea typeface="Montserrat"/>
                <a:cs typeface="Montserrat"/>
                <a:sym typeface="Montserrat"/>
              </a:rPr>
              <a:t>Présentation d’avancement 03/11/2025</a:t>
            </a:r>
            <a:endParaRPr sz="3800" b="1" dirty="0">
              <a:solidFill>
                <a:srgbClr val="F39200"/>
              </a:solidFill>
              <a:latin typeface="Montserrat"/>
              <a:ea typeface="Montserrat"/>
              <a:cs typeface="Montserrat"/>
              <a:sym typeface="Montserrat"/>
            </a:endParaRPr>
          </a:p>
        </p:txBody>
      </p:sp>
      <p:sp>
        <p:nvSpPr>
          <p:cNvPr id="150" name="Google Shape;150;p34"/>
          <p:cNvSpPr txBox="1"/>
          <p:nvPr/>
        </p:nvSpPr>
        <p:spPr>
          <a:xfrm>
            <a:off x="438525" y="4376800"/>
            <a:ext cx="4886100" cy="45009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500" dirty="0">
                <a:solidFill>
                  <a:srgbClr val="646363"/>
                </a:solidFill>
                <a:latin typeface="Montserrat"/>
                <a:ea typeface="Montserrat"/>
                <a:cs typeface="Montserrat"/>
                <a:sym typeface="Montserrat"/>
              </a:rPr>
              <a:t>Rosilia MODJO</a:t>
            </a:r>
            <a:endParaRPr sz="1500" dirty="0">
              <a:solidFill>
                <a:srgbClr val="646363"/>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36"/>
          <p:cNvPicPr preferRelativeResize="0"/>
          <p:nvPr/>
        </p:nvPicPr>
        <p:blipFill>
          <a:blip r:embed="rId3">
            <a:alphaModFix/>
          </a:blip>
          <a:stretch>
            <a:fillRect/>
          </a:stretch>
        </p:blipFill>
        <p:spPr>
          <a:xfrm>
            <a:off x="1" y="0"/>
            <a:ext cx="3456553" cy="4583400"/>
          </a:xfrm>
          <a:prstGeom prst="rect">
            <a:avLst/>
          </a:prstGeom>
          <a:noFill/>
          <a:ln>
            <a:noFill/>
          </a:ln>
        </p:spPr>
      </p:pic>
      <p:sp>
        <p:nvSpPr>
          <p:cNvPr id="174" name="Google Shape;174;p36"/>
          <p:cNvSpPr/>
          <p:nvPr/>
        </p:nvSpPr>
        <p:spPr>
          <a:xfrm>
            <a:off x="3473110" y="0"/>
            <a:ext cx="5715000" cy="458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 name="Google Shape;175;p36"/>
          <p:cNvSpPr txBox="1"/>
          <p:nvPr/>
        </p:nvSpPr>
        <p:spPr>
          <a:xfrm>
            <a:off x="605654" y="2203235"/>
            <a:ext cx="2850900" cy="697597"/>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3000" b="1" dirty="0">
                <a:solidFill>
                  <a:schemeClr val="lt1"/>
                </a:solidFill>
                <a:latin typeface="Montserrat"/>
                <a:ea typeface="Montserrat"/>
                <a:cs typeface="Montserrat"/>
                <a:sym typeface="Montserrat"/>
              </a:rPr>
              <a:t>SOMMAIRE</a:t>
            </a:r>
            <a:endParaRPr sz="3000" b="1" dirty="0">
              <a:solidFill>
                <a:schemeClr val="lt1"/>
              </a:solidFill>
              <a:latin typeface="Montserrat"/>
              <a:ea typeface="Montserrat"/>
              <a:cs typeface="Montserrat"/>
              <a:sym typeface="Montserrat"/>
            </a:endParaRPr>
          </a:p>
        </p:txBody>
      </p:sp>
      <p:pic>
        <p:nvPicPr>
          <p:cNvPr id="178" name="Google Shape;178;p36"/>
          <p:cNvPicPr preferRelativeResize="0"/>
          <p:nvPr/>
        </p:nvPicPr>
        <p:blipFill>
          <a:blip r:embed="rId4">
            <a:alphaModFix/>
          </a:blip>
          <a:stretch>
            <a:fillRect/>
          </a:stretch>
        </p:blipFill>
        <p:spPr>
          <a:xfrm>
            <a:off x="8035050" y="4614500"/>
            <a:ext cx="696375" cy="447700"/>
          </a:xfrm>
          <a:prstGeom prst="rect">
            <a:avLst/>
          </a:prstGeom>
          <a:noFill/>
          <a:ln>
            <a:noFill/>
          </a:ln>
        </p:spPr>
      </p:pic>
      <p:sp>
        <p:nvSpPr>
          <p:cNvPr id="184" name="Google Shape;184;p36"/>
          <p:cNvSpPr txBox="1"/>
          <p:nvPr/>
        </p:nvSpPr>
        <p:spPr>
          <a:xfrm>
            <a:off x="3909188" y="661251"/>
            <a:ext cx="594900" cy="866874"/>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4100" b="1" dirty="0">
                <a:solidFill>
                  <a:srgbClr val="F39200"/>
                </a:solidFill>
                <a:latin typeface="Montserrat"/>
                <a:ea typeface="Montserrat"/>
                <a:cs typeface="Montserrat"/>
                <a:sym typeface="Montserrat"/>
              </a:rPr>
              <a:t>1</a:t>
            </a:r>
            <a:endParaRPr sz="4100" b="1" dirty="0">
              <a:solidFill>
                <a:srgbClr val="F39200"/>
              </a:solidFill>
              <a:latin typeface="Montserrat"/>
              <a:ea typeface="Montserrat"/>
              <a:cs typeface="Montserrat"/>
              <a:sym typeface="Montserrat"/>
            </a:endParaRPr>
          </a:p>
        </p:txBody>
      </p:sp>
      <p:sp>
        <p:nvSpPr>
          <p:cNvPr id="185" name="Google Shape;185;p36"/>
          <p:cNvSpPr txBox="1"/>
          <p:nvPr/>
        </p:nvSpPr>
        <p:spPr>
          <a:xfrm>
            <a:off x="4457300" y="794275"/>
            <a:ext cx="3180547" cy="62526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400"/>
              </a:spcAft>
              <a:buNone/>
            </a:pPr>
            <a:r>
              <a:rPr lang="fr" sz="2200" b="1" dirty="0">
                <a:solidFill>
                  <a:srgbClr val="F39200"/>
                </a:solidFill>
                <a:latin typeface="Montserrat"/>
                <a:ea typeface="Montserrat"/>
                <a:cs typeface="Montserrat"/>
                <a:sym typeface="Montserrat"/>
              </a:rPr>
              <a:t>Bilan d’avancement</a:t>
            </a:r>
            <a:endParaRPr sz="2200" b="1" dirty="0">
              <a:solidFill>
                <a:srgbClr val="F39200"/>
              </a:solidFill>
              <a:latin typeface="Montserrat"/>
              <a:ea typeface="Montserrat"/>
              <a:cs typeface="Montserrat"/>
              <a:sym typeface="Montserrat"/>
            </a:endParaRPr>
          </a:p>
        </p:txBody>
      </p:sp>
      <p:sp>
        <p:nvSpPr>
          <p:cNvPr id="191" name="Google Shape;191;p36"/>
          <p:cNvSpPr txBox="1"/>
          <p:nvPr/>
        </p:nvSpPr>
        <p:spPr>
          <a:xfrm>
            <a:off x="4424051" y="1849149"/>
            <a:ext cx="3813121" cy="101460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400"/>
              </a:spcAft>
              <a:buNone/>
            </a:pPr>
            <a:r>
              <a:rPr lang="fr" sz="2200" b="1" dirty="0">
                <a:solidFill>
                  <a:srgbClr val="F39200"/>
                </a:solidFill>
                <a:latin typeface="Montserrat"/>
                <a:ea typeface="Montserrat"/>
                <a:cs typeface="Montserrat"/>
                <a:sym typeface="Montserrat"/>
              </a:rPr>
              <a:t>Travaux effectués au cours de la semaine  </a:t>
            </a:r>
            <a:endParaRPr sz="2200" b="1" dirty="0">
              <a:solidFill>
                <a:srgbClr val="F39200"/>
              </a:solidFill>
              <a:latin typeface="Montserrat"/>
              <a:ea typeface="Montserrat"/>
              <a:cs typeface="Montserrat"/>
              <a:sym typeface="Montserrat"/>
            </a:endParaRPr>
          </a:p>
        </p:txBody>
      </p:sp>
      <p:sp>
        <p:nvSpPr>
          <p:cNvPr id="2" name="ZoneTexte 1">
            <a:extLst>
              <a:ext uri="{FF2B5EF4-FFF2-40B4-BE49-F238E27FC236}">
                <a16:creationId xmlns:a16="http://schemas.microsoft.com/office/drawing/2014/main" id="{22878BCD-ACF6-15AB-128E-A6E4087A70EA}"/>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1</a:t>
            </a:r>
          </a:p>
          <a:p>
            <a:endParaRPr lang="fr-CM" sz="2000" b="1" dirty="0">
              <a:latin typeface="Aharoni" panose="020F0502020204030204" pitchFamily="2" charset="-79"/>
              <a:cs typeface="Aharoni" panose="020F0502020204030204" pitchFamily="2" charset="-79"/>
            </a:endParaRPr>
          </a:p>
        </p:txBody>
      </p:sp>
      <p:sp>
        <p:nvSpPr>
          <p:cNvPr id="3" name="Google Shape;184;p36">
            <a:extLst>
              <a:ext uri="{FF2B5EF4-FFF2-40B4-BE49-F238E27FC236}">
                <a16:creationId xmlns:a16="http://schemas.microsoft.com/office/drawing/2014/main" id="{1437728D-67ED-AAFD-26FE-BFFC6782C770}"/>
              </a:ext>
            </a:extLst>
          </p:cNvPr>
          <p:cNvSpPr txBox="1"/>
          <p:nvPr/>
        </p:nvSpPr>
        <p:spPr>
          <a:xfrm>
            <a:off x="3894065" y="1849149"/>
            <a:ext cx="594900" cy="866874"/>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4100" b="1" dirty="0">
                <a:solidFill>
                  <a:srgbClr val="F39200"/>
                </a:solidFill>
                <a:latin typeface="Montserrat"/>
                <a:ea typeface="Montserrat"/>
                <a:cs typeface="Montserrat"/>
                <a:sym typeface="Montserrat"/>
              </a:rPr>
              <a:t>2</a:t>
            </a:r>
            <a:endParaRPr sz="4100" b="1" dirty="0">
              <a:solidFill>
                <a:srgbClr val="F39200"/>
              </a:solidFill>
              <a:latin typeface="Montserrat"/>
              <a:ea typeface="Montserrat"/>
              <a:cs typeface="Montserrat"/>
              <a:sym typeface="Montserrat"/>
            </a:endParaRPr>
          </a:p>
        </p:txBody>
      </p:sp>
      <p:sp>
        <p:nvSpPr>
          <p:cNvPr id="4" name="Google Shape;184;p36">
            <a:extLst>
              <a:ext uri="{FF2B5EF4-FFF2-40B4-BE49-F238E27FC236}">
                <a16:creationId xmlns:a16="http://schemas.microsoft.com/office/drawing/2014/main" id="{7AE75580-E5DF-6EA0-EB63-11A267F60795}"/>
              </a:ext>
            </a:extLst>
          </p:cNvPr>
          <p:cNvSpPr txBox="1"/>
          <p:nvPr/>
        </p:nvSpPr>
        <p:spPr>
          <a:xfrm>
            <a:off x="3909188" y="3199769"/>
            <a:ext cx="594900" cy="866874"/>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4100" b="1" dirty="0">
                <a:solidFill>
                  <a:srgbClr val="F39200"/>
                </a:solidFill>
                <a:latin typeface="Montserrat"/>
                <a:ea typeface="Montserrat"/>
                <a:cs typeface="Montserrat"/>
                <a:sym typeface="Montserrat"/>
              </a:rPr>
              <a:t>3</a:t>
            </a:r>
            <a:endParaRPr sz="4100" b="1" dirty="0">
              <a:solidFill>
                <a:srgbClr val="F39200"/>
              </a:solidFill>
              <a:latin typeface="Montserrat"/>
              <a:ea typeface="Montserrat"/>
              <a:cs typeface="Montserrat"/>
              <a:sym typeface="Montserrat"/>
            </a:endParaRPr>
          </a:p>
        </p:txBody>
      </p:sp>
      <p:sp>
        <p:nvSpPr>
          <p:cNvPr id="6" name="Google Shape;191;p36">
            <a:extLst>
              <a:ext uri="{FF2B5EF4-FFF2-40B4-BE49-F238E27FC236}">
                <a16:creationId xmlns:a16="http://schemas.microsoft.com/office/drawing/2014/main" id="{E247FEF7-CEA8-9364-F22A-FBD55FA44957}"/>
              </a:ext>
            </a:extLst>
          </p:cNvPr>
          <p:cNvSpPr txBox="1"/>
          <p:nvPr/>
        </p:nvSpPr>
        <p:spPr>
          <a:xfrm>
            <a:off x="4424049" y="3320571"/>
            <a:ext cx="3813121" cy="62526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400"/>
              </a:spcAft>
              <a:buNone/>
            </a:pPr>
            <a:r>
              <a:rPr lang="fr" sz="2200" b="1" dirty="0">
                <a:solidFill>
                  <a:srgbClr val="F39200"/>
                </a:solidFill>
                <a:latin typeface="Montserrat"/>
                <a:ea typeface="Montserrat"/>
                <a:cs typeface="Montserrat"/>
                <a:sym typeface="Montserrat"/>
              </a:rPr>
              <a:t>Travaux à faire</a:t>
            </a:r>
            <a:endParaRPr sz="2200" b="1" dirty="0">
              <a:solidFill>
                <a:srgbClr val="F392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40"/>
          <p:cNvPicPr preferRelativeResize="0"/>
          <p:nvPr/>
        </p:nvPicPr>
        <p:blipFill>
          <a:blip r:embed="rId3">
            <a:alphaModFix/>
          </a:blip>
          <a:stretch>
            <a:fillRect/>
          </a:stretch>
        </p:blipFill>
        <p:spPr>
          <a:xfrm>
            <a:off x="5377298" y="0"/>
            <a:ext cx="3766704" cy="5143499"/>
          </a:xfrm>
          <a:prstGeom prst="rect">
            <a:avLst/>
          </a:prstGeom>
          <a:noFill/>
          <a:ln>
            <a:noFill/>
          </a:ln>
        </p:spPr>
      </p:pic>
      <p:sp>
        <p:nvSpPr>
          <p:cNvPr id="272" name="Google Shape;272;p40"/>
          <p:cNvSpPr txBox="1"/>
          <p:nvPr/>
        </p:nvSpPr>
        <p:spPr>
          <a:xfrm>
            <a:off x="438525" y="3946300"/>
            <a:ext cx="4886100" cy="64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3000" b="1" dirty="0">
                <a:solidFill>
                  <a:srgbClr val="636366"/>
                </a:solidFill>
                <a:latin typeface="Montserrat"/>
                <a:ea typeface="Montserrat"/>
                <a:cs typeface="Montserrat"/>
                <a:sym typeface="Montserrat"/>
              </a:rPr>
              <a:t>www.icam.fr</a:t>
            </a:r>
            <a:endParaRPr sz="3000" dirty="0">
              <a:solidFill>
                <a:srgbClr val="F39200"/>
              </a:solidFill>
              <a:latin typeface="Montserrat"/>
              <a:ea typeface="Montserrat"/>
              <a:cs typeface="Montserrat"/>
              <a:sym typeface="Montserrat"/>
            </a:endParaRPr>
          </a:p>
        </p:txBody>
      </p:sp>
      <p:sp>
        <p:nvSpPr>
          <p:cNvPr id="273" name="Google Shape;273;p40"/>
          <p:cNvSpPr txBox="1"/>
          <p:nvPr/>
        </p:nvSpPr>
        <p:spPr>
          <a:xfrm>
            <a:off x="438525" y="3414400"/>
            <a:ext cx="48861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600">
                <a:solidFill>
                  <a:srgbClr val="F29403"/>
                </a:solidFill>
                <a:latin typeface="Montserrat"/>
                <a:ea typeface="Montserrat"/>
                <a:cs typeface="Montserrat"/>
                <a:sym typeface="Montserrat"/>
              </a:rPr>
              <a:t>icam.fr/reseaux-sociaux</a:t>
            </a:r>
            <a:endParaRPr sz="1600">
              <a:solidFill>
                <a:srgbClr val="646363"/>
              </a:solidFill>
              <a:latin typeface="Montserrat"/>
              <a:ea typeface="Montserrat"/>
              <a:cs typeface="Montserrat"/>
              <a:sym typeface="Montserrat"/>
            </a:endParaRPr>
          </a:p>
        </p:txBody>
      </p:sp>
      <p:pic>
        <p:nvPicPr>
          <p:cNvPr id="274" name="Google Shape;274;p40"/>
          <p:cNvPicPr preferRelativeResize="0"/>
          <p:nvPr/>
        </p:nvPicPr>
        <p:blipFill>
          <a:blip r:embed="rId4">
            <a:alphaModFix/>
          </a:blip>
          <a:stretch>
            <a:fillRect/>
          </a:stretch>
        </p:blipFill>
        <p:spPr>
          <a:xfrm>
            <a:off x="438525" y="3017909"/>
            <a:ext cx="478471" cy="474131"/>
          </a:xfrm>
          <a:prstGeom prst="rect">
            <a:avLst/>
          </a:prstGeom>
          <a:noFill/>
          <a:ln>
            <a:noFill/>
          </a:ln>
        </p:spPr>
      </p:pic>
      <p:pic>
        <p:nvPicPr>
          <p:cNvPr id="275" name="Google Shape;275;p40"/>
          <p:cNvPicPr preferRelativeResize="0"/>
          <p:nvPr/>
        </p:nvPicPr>
        <p:blipFill>
          <a:blip r:embed="rId5">
            <a:alphaModFix/>
          </a:blip>
          <a:stretch>
            <a:fillRect/>
          </a:stretch>
        </p:blipFill>
        <p:spPr>
          <a:xfrm>
            <a:off x="916998" y="2990350"/>
            <a:ext cx="478471" cy="474131"/>
          </a:xfrm>
          <a:prstGeom prst="rect">
            <a:avLst/>
          </a:prstGeom>
          <a:noFill/>
          <a:ln>
            <a:noFill/>
          </a:ln>
        </p:spPr>
      </p:pic>
      <p:pic>
        <p:nvPicPr>
          <p:cNvPr id="276" name="Google Shape;276;p40"/>
          <p:cNvPicPr preferRelativeResize="0"/>
          <p:nvPr/>
        </p:nvPicPr>
        <p:blipFill>
          <a:blip r:embed="rId6">
            <a:alphaModFix/>
          </a:blip>
          <a:stretch>
            <a:fillRect/>
          </a:stretch>
        </p:blipFill>
        <p:spPr>
          <a:xfrm>
            <a:off x="1367929" y="2990344"/>
            <a:ext cx="478471" cy="474131"/>
          </a:xfrm>
          <a:prstGeom prst="rect">
            <a:avLst/>
          </a:prstGeom>
          <a:noFill/>
          <a:ln>
            <a:noFill/>
          </a:ln>
        </p:spPr>
      </p:pic>
      <p:pic>
        <p:nvPicPr>
          <p:cNvPr id="277" name="Google Shape;277;p40"/>
          <p:cNvPicPr preferRelativeResize="0"/>
          <p:nvPr/>
        </p:nvPicPr>
        <p:blipFill>
          <a:blip r:embed="rId7">
            <a:alphaModFix/>
          </a:blip>
          <a:stretch>
            <a:fillRect/>
          </a:stretch>
        </p:blipFill>
        <p:spPr>
          <a:xfrm>
            <a:off x="1926304" y="3017911"/>
            <a:ext cx="478471" cy="474131"/>
          </a:xfrm>
          <a:prstGeom prst="rect">
            <a:avLst/>
          </a:prstGeom>
          <a:noFill/>
          <a:ln>
            <a:noFill/>
          </a:ln>
        </p:spPr>
      </p:pic>
      <p:sp>
        <p:nvSpPr>
          <p:cNvPr id="2" name="Google Shape;272;p40">
            <a:extLst>
              <a:ext uri="{FF2B5EF4-FFF2-40B4-BE49-F238E27FC236}">
                <a16:creationId xmlns:a16="http://schemas.microsoft.com/office/drawing/2014/main" id="{4D003C2F-3386-71E6-B25D-2F94677C17C7}"/>
              </a:ext>
            </a:extLst>
          </p:cNvPr>
          <p:cNvSpPr txBox="1"/>
          <p:nvPr/>
        </p:nvSpPr>
        <p:spPr>
          <a:xfrm>
            <a:off x="2165539" y="1480883"/>
            <a:ext cx="4886100" cy="892522"/>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fr" sz="4000" b="1" dirty="0">
                <a:solidFill>
                  <a:srgbClr val="636366"/>
                </a:solidFill>
                <a:latin typeface="Montserrat"/>
                <a:ea typeface="Montserrat"/>
                <a:cs typeface="Montserrat"/>
                <a:sym typeface="Montserrat"/>
              </a:rPr>
              <a:t>BILAN</a:t>
            </a:r>
            <a:endParaRPr sz="4000" dirty="0">
              <a:solidFill>
                <a:srgbClr val="F39200"/>
              </a:solidFill>
              <a:latin typeface="Montserrat"/>
              <a:ea typeface="Montserrat"/>
              <a:cs typeface="Montserrat"/>
              <a:sym typeface="Montserrat"/>
            </a:endParaRPr>
          </a:p>
        </p:txBody>
      </p:sp>
      <p:sp>
        <p:nvSpPr>
          <p:cNvPr id="8" name="ZoneTexte 7">
            <a:extLst>
              <a:ext uri="{FF2B5EF4-FFF2-40B4-BE49-F238E27FC236}">
                <a16:creationId xmlns:a16="http://schemas.microsoft.com/office/drawing/2014/main" id="{09D139B3-B71C-2712-1480-1C4ED361F9F1}"/>
              </a:ext>
            </a:extLst>
          </p:cNvPr>
          <p:cNvSpPr txBox="1"/>
          <p:nvPr/>
        </p:nvSpPr>
        <p:spPr>
          <a:xfrm>
            <a:off x="590424" y="4592800"/>
            <a:ext cx="653143" cy="400110"/>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E97FE33F-EE0E-6595-3566-84E2E71EE685}"/>
              </a:ext>
            </a:extLst>
          </p:cNvPr>
          <p:cNvSpPr>
            <a:spLocks noGrp="1"/>
          </p:cNvSpPr>
          <p:nvPr>
            <p:ph type="body" idx="1"/>
          </p:nvPr>
        </p:nvSpPr>
        <p:spPr/>
        <p:txBody>
          <a:bodyPr>
            <a:normAutofit/>
          </a:bodyPr>
          <a:lstStyle/>
          <a:p>
            <a:pPr marL="514350" indent="-285750">
              <a:buFont typeface="Arial" panose="020B0604020202020204" pitchFamily="34" charset="0"/>
              <a:buChar char="•"/>
            </a:pPr>
            <a:r>
              <a:rPr lang="fr-CM" b="1" dirty="0"/>
              <a:t>Validation des modèles (semi-empiriques)</a:t>
            </a:r>
          </a:p>
          <a:p>
            <a:pPr marL="514350" indent="-285750">
              <a:buFont typeface="Arial" panose="020B0604020202020204" pitchFamily="34" charset="0"/>
              <a:buChar char="•"/>
            </a:pPr>
            <a:r>
              <a:rPr lang="fr-CM" b="1" dirty="0"/>
              <a:t>Choix de la technologie de développement de l’interface (GUI Toolbox de MATLAB)</a:t>
            </a:r>
          </a:p>
          <a:p>
            <a:pPr marL="514350" indent="-285750">
              <a:buFont typeface="Arial" panose="020B0604020202020204" pitchFamily="34" charset="0"/>
              <a:buChar char="•"/>
            </a:pPr>
            <a:r>
              <a:rPr lang="fr-CM" b="1" dirty="0"/>
              <a:t>Développement du squelette de l’interface </a:t>
            </a:r>
          </a:p>
          <a:p>
            <a:pPr marL="514350" indent="-285750">
              <a:buFont typeface="Arial" panose="020B0604020202020204" pitchFamily="34" charset="0"/>
              <a:buChar char="•"/>
            </a:pPr>
            <a:r>
              <a:rPr lang="fr-CM" b="1" dirty="0"/>
              <a:t>Ajout progressif des modèles semi-empiriques et expérimentaux </a:t>
            </a:r>
          </a:p>
          <a:p>
            <a:pPr marL="514350" indent="-285750">
              <a:buFont typeface="Arial" panose="020B0604020202020204" pitchFamily="34" charset="0"/>
              <a:buChar char="•"/>
            </a:pPr>
            <a:r>
              <a:rPr lang="fr-CM" b="1" dirty="0"/>
              <a:t>Ajustement  progressif de l’interface…</a:t>
            </a:r>
            <a:endParaRPr lang="fr" b="1" dirty="0">
              <a:solidFill>
                <a:srgbClr val="636366"/>
              </a:solidFill>
              <a:latin typeface="Montserrat"/>
              <a:sym typeface="Wingdings" panose="05000000000000000000" pitchFamily="2" charset="2"/>
            </a:endParaRPr>
          </a:p>
        </p:txBody>
      </p:sp>
      <p:sp>
        <p:nvSpPr>
          <p:cNvPr id="4" name="Espace réservé du texte 3">
            <a:extLst>
              <a:ext uri="{FF2B5EF4-FFF2-40B4-BE49-F238E27FC236}">
                <a16:creationId xmlns:a16="http://schemas.microsoft.com/office/drawing/2014/main" id="{DE431819-5224-6127-7474-2B7032D95658}"/>
              </a:ext>
            </a:extLst>
          </p:cNvPr>
          <p:cNvSpPr>
            <a:spLocks noGrp="1"/>
          </p:cNvSpPr>
          <p:nvPr>
            <p:ph type="body" idx="2"/>
          </p:nvPr>
        </p:nvSpPr>
        <p:spPr>
          <a:xfrm>
            <a:off x="344897" y="4516088"/>
            <a:ext cx="1100182" cy="627412"/>
          </a:xfrm>
        </p:spPr>
        <p:txBody>
          <a:bodyPr>
            <a:noAutofit/>
          </a:bodyPr>
          <a:lstStyle/>
          <a:p>
            <a:r>
              <a:rPr lang="fr-CM" sz="2000" b="1" dirty="0">
                <a:latin typeface="Aharoni" panose="020F0502020204030204" pitchFamily="2" charset="-79"/>
                <a:cs typeface="Aharoni" panose="020F0502020204030204" pitchFamily="2" charset="-79"/>
              </a:rPr>
              <a:t>3</a:t>
            </a:r>
          </a:p>
          <a:p>
            <a:endParaRPr lang="fr-CM" sz="2000" b="1" dirty="0">
              <a:latin typeface="Aharoni" panose="020F0502020204030204" pitchFamily="2" charset="-79"/>
              <a:cs typeface="Aharoni" panose="020F0502020204030204" pitchFamily="2" charset="-79"/>
            </a:endParaRPr>
          </a:p>
        </p:txBody>
      </p:sp>
      <p:sp>
        <p:nvSpPr>
          <p:cNvPr id="2" name="Titre 1">
            <a:extLst>
              <a:ext uri="{FF2B5EF4-FFF2-40B4-BE49-F238E27FC236}">
                <a16:creationId xmlns:a16="http://schemas.microsoft.com/office/drawing/2014/main" id="{4D2E3858-F9EE-B384-CD95-75748071BC7B}"/>
              </a:ext>
            </a:extLst>
          </p:cNvPr>
          <p:cNvSpPr>
            <a:spLocks noGrp="1"/>
          </p:cNvSpPr>
          <p:nvPr>
            <p:ph type="title"/>
          </p:nvPr>
        </p:nvSpPr>
        <p:spPr>
          <a:xfrm>
            <a:off x="482600" y="214988"/>
            <a:ext cx="7508700" cy="458400"/>
          </a:xfrm>
        </p:spPr>
        <p:txBody>
          <a:bodyPr>
            <a:normAutofit fontScale="90000"/>
          </a:bodyPr>
          <a:lstStyle/>
          <a:p>
            <a:r>
              <a:rPr lang="fr-CM" dirty="0"/>
              <a:t>BILAN</a:t>
            </a:r>
          </a:p>
        </p:txBody>
      </p:sp>
    </p:spTree>
    <p:extLst>
      <p:ext uri="{BB962C8B-B14F-4D97-AF65-F5344CB8AC3E}">
        <p14:creationId xmlns:p14="http://schemas.microsoft.com/office/powerpoint/2010/main" val="2703003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8"/>
          <p:cNvSpPr/>
          <p:nvPr/>
        </p:nvSpPr>
        <p:spPr>
          <a:xfrm>
            <a:off x="1350" y="2145300"/>
            <a:ext cx="9141300" cy="2466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8" name="Google Shape;228;p38"/>
          <p:cNvPicPr preferRelativeResize="0"/>
          <p:nvPr/>
        </p:nvPicPr>
        <p:blipFill>
          <a:blip r:embed="rId3">
            <a:alphaModFix/>
          </a:blip>
          <a:stretch>
            <a:fillRect/>
          </a:stretch>
        </p:blipFill>
        <p:spPr>
          <a:xfrm>
            <a:off x="3484075" y="2150"/>
            <a:ext cx="5659925" cy="2114550"/>
          </a:xfrm>
          <a:prstGeom prst="rect">
            <a:avLst/>
          </a:prstGeom>
          <a:noFill/>
          <a:ln>
            <a:noFill/>
          </a:ln>
        </p:spPr>
      </p:pic>
      <p:sp>
        <p:nvSpPr>
          <p:cNvPr id="229" name="Google Shape;229;p38"/>
          <p:cNvSpPr/>
          <p:nvPr/>
        </p:nvSpPr>
        <p:spPr>
          <a:xfrm>
            <a:off x="1350" y="0"/>
            <a:ext cx="3482700" cy="2114400"/>
          </a:xfrm>
          <a:prstGeom prst="rect">
            <a:avLst/>
          </a:prstGeom>
          <a:solidFill>
            <a:srgbClr val="09B0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8"/>
          <p:cNvSpPr txBox="1"/>
          <p:nvPr/>
        </p:nvSpPr>
        <p:spPr>
          <a:xfrm>
            <a:off x="1040500" y="4715250"/>
            <a:ext cx="4886100" cy="32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900">
              <a:solidFill>
                <a:srgbClr val="646363"/>
              </a:solidFill>
              <a:latin typeface="Montserrat"/>
              <a:ea typeface="Montserrat"/>
              <a:cs typeface="Montserrat"/>
              <a:sym typeface="Montserrat"/>
            </a:endParaRPr>
          </a:p>
        </p:txBody>
      </p:sp>
      <p:pic>
        <p:nvPicPr>
          <p:cNvPr id="232" name="Google Shape;232;p38"/>
          <p:cNvPicPr preferRelativeResize="0"/>
          <p:nvPr/>
        </p:nvPicPr>
        <p:blipFill>
          <a:blip r:embed="rId4">
            <a:alphaModFix/>
          </a:blip>
          <a:stretch>
            <a:fillRect/>
          </a:stretch>
        </p:blipFill>
        <p:spPr>
          <a:xfrm>
            <a:off x="8035050" y="4614500"/>
            <a:ext cx="696375" cy="447700"/>
          </a:xfrm>
          <a:prstGeom prst="rect">
            <a:avLst/>
          </a:prstGeom>
          <a:noFill/>
          <a:ln>
            <a:noFill/>
          </a:ln>
        </p:spPr>
      </p:pic>
      <p:sp>
        <p:nvSpPr>
          <p:cNvPr id="234" name="Google Shape;234;p38"/>
          <p:cNvSpPr txBox="1"/>
          <p:nvPr/>
        </p:nvSpPr>
        <p:spPr>
          <a:xfrm>
            <a:off x="365055" y="48836"/>
            <a:ext cx="3119007" cy="195948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2800" b="1" dirty="0">
                <a:solidFill>
                  <a:schemeClr val="lt1"/>
                </a:solidFill>
                <a:latin typeface="Montserrat"/>
                <a:ea typeface="Montserrat"/>
                <a:cs typeface="Montserrat"/>
                <a:sym typeface="Montserrat"/>
              </a:rPr>
              <a:t>Travaux réalisés au cours de la semaine </a:t>
            </a:r>
            <a:endParaRPr sz="2800" b="1" dirty="0">
              <a:solidFill>
                <a:schemeClr val="lt1"/>
              </a:solidFill>
              <a:latin typeface="Montserrat"/>
              <a:ea typeface="Montserrat"/>
              <a:cs typeface="Montserrat"/>
              <a:sym typeface="Montserrat"/>
            </a:endParaRPr>
          </a:p>
        </p:txBody>
      </p:sp>
      <p:sp>
        <p:nvSpPr>
          <p:cNvPr id="2" name="ZoneTexte 1">
            <a:extLst>
              <a:ext uri="{FF2B5EF4-FFF2-40B4-BE49-F238E27FC236}">
                <a16:creationId xmlns:a16="http://schemas.microsoft.com/office/drawing/2014/main" id="{5B13659D-5350-9410-562D-6D044E2D0911}"/>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4</a:t>
            </a:r>
          </a:p>
          <a:p>
            <a:endParaRPr lang="fr-CM" sz="2000" b="1" dirty="0">
              <a:latin typeface="Aharoni" panose="020F0502020204030204" pitchFamily="2" charset="-79"/>
              <a:cs typeface="Aharoni" panose="020F0502020204030204" pitchFamily="2" charset="-79"/>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4C4F5F-A49B-7C82-20E5-295A56B97DC1}"/>
              </a:ext>
            </a:extLst>
          </p:cNvPr>
          <p:cNvSpPr>
            <a:spLocks noGrp="1"/>
          </p:cNvSpPr>
          <p:nvPr>
            <p:ph type="title"/>
          </p:nvPr>
        </p:nvSpPr>
        <p:spPr/>
        <p:txBody>
          <a:bodyPr>
            <a:normAutofit fontScale="90000"/>
          </a:bodyPr>
          <a:lstStyle/>
          <a:p>
            <a:r>
              <a:rPr lang="fr-CM" b="1" dirty="0">
                <a:latin typeface="Montserrat" panose="00000500000000000000" pitchFamily="2" charset="0"/>
              </a:rPr>
              <a:t>Travaux réalisés durant la semaine</a:t>
            </a:r>
          </a:p>
        </p:txBody>
      </p:sp>
      <p:sp>
        <p:nvSpPr>
          <p:cNvPr id="3" name="Espace réservé du texte 2">
            <a:extLst>
              <a:ext uri="{FF2B5EF4-FFF2-40B4-BE49-F238E27FC236}">
                <a16:creationId xmlns:a16="http://schemas.microsoft.com/office/drawing/2014/main" id="{A8A89553-F360-B5AE-6A0D-1F5A858C2E1F}"/>
              </a:ext>
            </a:extLst>
          </p:cNvPr>
          <p:cNvSpPr>
            <a:spLocks noGrp="1"/>
          </p:cNvSpPr>
          <p:nvPr>
            <p:ph type="body" idx="1"/>
          </p:nvPr>
        </p:nvSpPr>
        <p:spPr/>
        <p:txBody>
          <a:bodyPr>
            <a:normAutofit lnSpcReduction="10000"/>
          </a:bodyPr>
          <a:lstStyle/>
          <a:p>
            <a:r>
              <a:rPr lang="fr-FR" b="1" dirty="0">
                <a:solidFill>
                  <a:srgbClr val="636366"/>
                </a:solidFill>
                <a:latin typeface="Montserrat"/>
                <a:ea typeface="Montserrat"/>
                <a:cs typeface="Montserrat"/>
                <a:sym typeface="Montserrat"/>
              </a:rPr>
              <a:t>Modifications sur l’interface </a:t>
            </a:r>
          </a:p>
          <a:p>
            <a:pPr>
              <a:buFontTx/>
              <a:buChar char="-"/>
            </a:pPr>
            <a:r>
              <a:rPr lang="fr-CM" dirty="0">
                <a:latin typeface="Montserrat" panose="00000500000000000000" pitchFamily="2" charset="0"/>
              </a:rPr>
              <a:t>Gestion de l’affichage des modèles lors du lancement de l’interface : les modèles affichés correspondent à la bande de fréquence par défaut</a:t>
            </a:r>
          </a:p>
          <a:p>
            <a:pPr>
              <a:buFontTx/>
              <a:buChar char="-"/>
            </a:pPr>
            <a:r>
              <a:rPr lang="fr-CM" dirty="0">
                <a:latin typeface="Montserrat" panose="00000500000000000000" pitchFamily="2" charset="0"/>
              </a:rPr>
              <a:t>Nettoyage des variables en début d’exécution du code </a:t>
            </a:r>
          </a:p>
          <a:p>
            <a:pPr>
              <a:buFontTx/>
              <a:buChar char="-"/>
            </a:pPr>
            <a:r>
              <a:rPr lang="fr-CM" dirty="0">
                <a:latin typeface="Montserrat" panose="00000500000000000000" pitchFamily="2" charset="0"/>
              </a:rPr>
              <a:t>Ajout d’un bouton pour effacer les courbes </a:t>
            </a:r>
          </a:p>
          <a:p>
            <a:pPr>
              <a:buFontTx/>
              <a:buChar char="-"/>
            </a:pPr>
            <a:r>
              <a:rPr lang="fr-CM" dirty="0">
                <a:latin typeface="Montserrat" panose="00000500000000000000" pitchFamily="2" charset="0"/>
              </a:rPr>
              <a:t>Gestion des modèles qui ne supportent pas la polarisation HH ( </a:t>
            </a:r>
            <a:r>
              <a:rPr lang="fr-CM" dirty="0" err="1">
                <a:latin typeface="Montserrat" panose="00000500000000000000" pitchFamily="2" charset="0"/>
              </a:rPr>
              <a:t>Quilfen</a:t>
            </a:r>
            <a:r>
              <a:rPr lang="fr-CM" dirty="0">
                <a:latin typeface="Montserrat" panose="00000500000000000000" pitchFamily="2" charset="0"/>
              </a:rPr>
              <a:t>, CMOD5, CMOD2-I3, XMOD1R, XMOD2N)</a:t>
            </a:r>
          </a:p>
          <a:p>
            <a:pPr>
              <a:buFontTx/>
              <a:buChar char="-"/>
            </a:pPr>
            <a:r>
              <a:rPr lang="fr-CM" dirty="0">
                <a:latin typeface="Montserrat" panose="00000500000000000000" pitchFamily="2" charset="0"/>
              </a:rPr>
              <a:t>Rapprochement des boutons ‘</a:t>
            </a:r>
            <a:r>
              <a:rPr lang="fr-CM" dirty="0" err="1">
                <a:latin typeface="Montserrat" panose="00000500000000000000" pitchFamily="2" charset="0"/>
              </a:rPr>
              <a:t>calculate</a:t>
            </a:r>
            <a:r>
              <a:rPr lang="fr-CM" dirty="0">
                <a:latin typeface="Montserrat" panose="00000500000000000000" pitchFamily="2" charset="0"/>
              </a:rPr>
              <a:t>’ et ‘overlay’</a:t>
            </a:r>
          </a:p>
          <a:p>
            <a:pPr>
              <a:buFontTx/>
              <a:buChar char="-"/>
            </a:pPr>
            <a:r>
              <a:rPr lang="fr-CM" dirty="0">
                <a:latin typeface="Montserrat" panose="00000500000000000000" pitchFamily="2" charset="0"/>
              </a:rPr>
              <a:t>Ajustement de la logique de superposition et d’exportation : stockage des courbes plafonné à 4, choix lors de l’exportation</a:t>
            </a:r>
          </a:p>
          <a:p>
            <a:pPr>
              <a:buFontTx/>
              <a:buChar char="-"/>
            </a:pPr>
            <a:endParaRPr lang="fr-CM" dirty="0">
              <a:latin typeface="Montserrat" panose="00000500000000000000" pitchFamily="2" charset="0"/>
            </a:endParaRPr>
          </a:p>
          <a:p>
            <a:endParaRPr lang="fr-CM" dirty="0"/>
          </a:p>
        </p:txBody>
      </p:sp>
      <p:sp>
        <p:nvSpPr>
          <p:cNvPr id="4" name="ZoneTexte 3">
            <a:extLst>
              <a:ext uri="{FF2B5EF4-FFF2-40B4-BE49-F238E27FC236}">
                <a16:creationId xmlns:a16="http://schemas.microsoft.com/office/drawing/2014/main" id="{79CA2FA3-BD2C-C620-BF6B-3B73FC658A15}"/>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5</a:t>
            </a:r>
          </a:p>
          <a:p>
            <a:endParaRPr lang="fr-CM" sz="2000" b="1" dirty="0">
              <a:latin typeface="Aharoni" panose="020F0502020204030204" pitchFamily="2" charset="-79"/>
              <a:cs typeface="Aharoni" panose="020F0502020204030204" pitchFamily="2" charset="-79"/>
            </a:endParaRPr>
          </a:p>
        </p:txBody>
      </p:sp>
    </p:spTree>
    <p:extLst>
      <p:ext uri="{BB962C8B-B14F-4D97-AF65-F5344CB8AC3E}">
        <p14:creationId xmlns:p14="http://schemas.microsoft.com/office/powerpoint/2010/main" val="3507844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3740D0-739B-157E-D5B7-A9048BBE5DCD}"/>
              </a:ext>
            </a:extLst>
          </p:cNvPr>
          <p:cNvSpPr>
            <a:spLocks noGrp="1"/>
          </p:cNvSpPr>
          <p:nvPr>
            <p:ph type="title"/>
          </p:nvPr>
        </p:nvSpPr>
        <p:spPr/>
        <p:txBody>
          <a:bodyPr>
            <a:normAutofit fontScale="90000"/>
          </a:bodyPr>
          <a:lstStyle/>
          <a:p>
            <a:r>
              <a:rPr lang="fr-CM" b="1" dirty="0">
                <a:latin typeface="Montserrat" panose="00000500000000000000" pitchFamily="2" charset="0"/>
              </a:rPr>
              <a:t>Travaux réalisés durant la semaine</a:t>
            </a:r>
            <a:endParaRPr lang="fr-CM" dirty="0">
              <a:latin typeface="Montserrat" panose="00000500000000000000" pitchFamily="2" charset="0"/>
            </a:endParaRPr>
          </a:p>
        </p:txBody>
      </p:sp>
      <p:sp>
        <p:nvSpPr>
          <p:cNvPr id="3" name="Espace réservé du texte 2">
            <a:extLst>
              <a:ext uri="{FF2B5EF4-FFF2-40B4-BE49-F238E27FC236}">
                <a16:creationId xmlns:a16="http://schemas.microsoft.com/office/drawing/2014/main" id="{3F22D9F5-F8EF-37F7-80DE-9ECBF25F9F70}"/>
              </a:ext>
            </a:extLst>
          </p:cNvPr>
          <p:cNvSpPr>
            <a:spLocks noGrp="1"/>
          </p:cNvSpPr>
          <p:nvPr>
            <p:ph type="body" idx="1"/>
          </p:nvPr>
        </p:nvSpPr>
        <p:spPr>
          <a:xfrm>
            <a:off x="311700" y="1017725"/>
            <a:ext cx="8520600" cy="3416400"/>
          </a:xfrm>
        </p:spPr>
        <p:txBody>
          <a:bodyPr>
            <a:normAutofit/>
          </a:bodyPr>
          <a:lstStyle/>
          <a:p>
            <a:pPr marL="114300" indent="0">
              <a:buNone/>
            </a:pPr>
            <a:r>
              <a:rPr lang="fr-FR" dirty="0">
                <a:solidFill>
                  <a:srgbClr val="636366"/>
                </a:solidFill>
                <a:latin typeface="Montserrat"/>
                <a:ea typeface="Montserrat"/>
                <a:cs typeface="Montserrat"/>
                <a:sym typeface="Montserrat"/>
              </a:rPr>
              <a:t>- Ajout d’un bouton pour supprimer la surface de mer générée et les variables lourdes de la mémoire</a:t>
            </a:r>
          </a:p>
          <a:p>
            <a:r>
              <a:rPr lang="fr-FR" b="1" dirty="0">
                <a:solidFill>
                  <a:srgbClr val="636366"/>
                </a:solidFill>
                <a:latin typeface="Montserrat"/>
                <a:ea typeface="Montserrat"/>
                <a:cs typeface="Montserrat"/>
                <a:sym typeface="Montserrat"/>
              </a:rPr>
              <a:t>Ajout des modèles</a:t>
            </a:r>
          </a:p>
          <a:p>
            <a:pPr marL="114300" indent="0">
              <a:buNone/>
            </a:pPr>
            <a:r>
              <a:rPr lang="fr-FR" dirty="0">
                <a:solidFill>
                  <a:srgbClr val="636366"/>
                </a:solidFill>
                <a:latin typeface="Montserrat"/>
                <a:ea typeface="Montserrat"/>
                <a:cs typeface="Montserrat"/>
                <a:sym typeface="Montserrat"/>
              </a:rPr>
              <a:t>Modèle NSCAT1 ajouté, par contre concernant le modèle IEMX ( possible confusion entre les deux ) les variables d’entrées ne sont pas assez claires pour intégration à l’interface</a:t>
            </a:r>
          </a:p>
          <a:p>
            <a:r>
              <a:rPr lang="fr-FR" b="1" dirty="0">
                <a:solidFill>
                  <a:srgbClr val="636366"/>
                </a:solidFill>
                <a:latin typeface="Montserrat"/>
                <a:ea typeface="Montserrat"/>
                <a:cs typeface="Montserrat"/>
                <a:sym typeface="Montserrat"/>
              </a:rPr>
              <a:t>Transcription des modèles de python vers MATLAB</a:t>
            </a:r>
          </a:p>
          <a:p>
            <a:pPr marL="114300" indent="0">
              <a:buNone/>
            </a:pPr>
            <a:r>
              <a:rPr lang="fr-CM" dirty="0">
                <a:solidFill>
                  <a:srgbClr val="636366"/>
                </a:solidFill>
                <a:latin typeface="Montserrat"/>
                <a:ea typeface="Montserrat"/>
                <a:cs typeface="Montserrat"/>
                <a:sym typeface="Montserrat"/>
              </a:rPr>
              <a:t>Les fichiers pythons semblent représenter des graphiques de sigma en fonction de l’angle relatif du vent et de la vitesse du vent. La nature des fichiers n’aide pas pour la conversion en MATLAB. </a:t>
            </a:r>
          </a:p>
          <a:p>
            <a:pPr marL="114300" indent="0">
              <a:buNone/>
            </a:pPr>
            <a:endParaRPr lang="fr-CM" dirty="0">
              <a:solidFill>
                <a:srgbClr val="636366"/>
              </a:solidFill>
              <a:latin typeface="Montserrat"/>
              <a:ea typeface="Montserrat"/>
              <a:cs typeface="Montserrat"/>
              <a:sym typeface="Montserrat"/>
            </a:endParaRPr>
          </a:p>
          <a:p>
            <a:pPr marL="114300" indent="0">
              <a:buNone/>
            </a:pPr>
            <a:endParaRPr lang="fr-FR" dirty="0">
              <a:solidFill>
                <a:srgbClr val="636366"/>
              </a:solidFill>
              <a:latin typeface="Montserrat"/>
              <a:ea typeface="Montserrat"/>
              <a:cs typeface="Montserrat"/>
              <a:sym typeface="Montserrat"/>
            </a:endParaRPr>
          </a:p>
        </p:txBody>
      </p:sp>
      <p:sp>
        <p:nvSpPr>
          <p:cNvPr id="4" name="ZoneTexte 3">
            <a:extLst>
              <a:ext uri="{FF2B5EF4-FFF2-40B4-BE49-F238E27FC236}">
                <a16:creationId xmlns:a16="http://schemas.microsoft.com/office/drawing/2014/main" id="{8694B2CD-E00A-BE8C-213A-27B1254F14A7}"/>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6</a:t>
            </a:r>
          </a:p>
          <a:p>
            <a:endParaRPr lang="fr-CM" sz="2000" b="1" dirty="0">
              <a:latin typeface="Aharoni" panose="020F0502020204030204" pitchFamily="2" charset="-79"/>
              <a:cs typeface="Aharoni" panose="020F0502020204030204" pitchFamily="2" charset="-79"/>
            </a:endParaRPr>
          </a:p>
        </p:txBody>
      </p:sp>
    </p:spTree>
    <p:extLst>
      <p:ext uri="{BB962C8B-B14F-4D97-AF65-F5344CB8AC3E}">
        <p14:creationId xmlns:p14="http://schemas.microsoft.com/office/powerpoint/2010/main" val="188749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7386E986-1ADE-CB08-82E5-9334B2A9E103}"/>
            </a:ext>
          </a:extLst>
        </p:cNvPr>
        <p:cNvGrpSpPr/>
        <p:nvPr/>
      </p:nvGrpSpPr>
      <p:grpSpPr>
        <a:xfrm>
          <a:off x="0" y="0"/>
          <a:ext cx="0" cy="0"/>
          <a:chOff x="0" y="0"/>
          <a:chExt cx="0" cy="0"/>
        </a:xfrm>
      </p:grpSpPr>
      <p:sp>
        <p:nvSpPr>
          <p:cNvPr id="227" name="Google Shape;227;p38">
            <a:extLst>
              <a:ext uri="{FF2B5EF4-FFF2-40B4-BE49-F238E27FC236}">
                <a16:creationId xmlns:a16="http://schemas.microsoft.com/office/drawing/2014/main" id="{29385FAF-BA05-27AC-1E08-0CB2247C2B6B}"/>
              </a:ext>
            </a:extLst>
          </p:cNvPr>
          <p:cNvSpPr/>
          <p:nvPr/>
        </p:nvSpPr>
        <p:spPr>
          <a:xfrm>
            <a:off x="1350" y="2145300"/>
            <a:ext cx="9141300" cy="2466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8" name="Google Shape;228;p38">
            <a:extLst>
              <a:ext uri="{FF2B5EF4-FFF2-40B4-BE49-F238E27FC236}">
                <a16:creationId xmlns:a16="http://schemas.microsoft.com/office/drawing/2014/main" id="{F0F2850D-416C-9038-8B91-3BD6239A6DDD}"/>
              </a:ext>
            </a:extLst>
          </p:cNvPr>
          <p:cNvPicPr preferRelativeResize="0"/>
          <p:nvPr/>
        </p:nvPicPr>
        <p:blipFill>
          <a:blip r:embed="rId3">
            <a:alphaModFix/>
          </a:blip>
          <a:stretch>
            <a:fillRect/>
          </a:stretch>
        </p:blipFill>
        <p:spPr>
          <a:xfrm>
            <a:off x="3484075" y="2150"/>
            <a:ext cx="5659925" cy="2114550"/>
          </a:xfrm>
          <a:prstGeom prst="rect">
            <a:avLst/>
          </a:prstGeom>
          <a:noFill/>
          <a:ln>
            <a:noFill/>
          </a:ln>
        </p:spPr>
      </p:pic>
      <p:sp>
        <p:nvSpPr>
          <p:cNvPr id="229" name="Google Shape;229;p38">
            <a:extLst>
              <a:ext uri="{FF2B5EF4-FFF2-40B4-BE49-F238E27FC236}">
                <a16:creationId xmlns:a16="http://schemas.microsoft.com/office/drawing/2014/main" id="{32925A70-4A56-9FC5-7F84-BD587D9FF427}"/>
              </a:ext>
            </a:extLst>
          </p:cNvPr>
          <p:cNvSpPr/>
          <p:nvPr/>
        </p:nvSpPr>
        <p:spPr>
          <a:xfrm>
            <a:off x="1350" y="0"/>
            <a:ext cx="3482700" cy="2114400"/>
          </a:xfrm>
          <a:prstGeom prst="rect">
            <a:avLst/>
          </a:prstGeom>
          <a:solidFill>
            <a:srgbClr val="09B0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8">
            <a:extLst>
              <a:ext uri="{FF2B5EF4-FFF2-40B4-BE49-F238E27FC236}">
                <a16:creationId xmlns:a16="http://schemas.microsoft.com/office/drawing/2014/main" id="{3D9D39D2-FF67-7009-03A2-B675022B58A2}"/>
              </a:ext>
            </a:extLst>
          </p:cNvPr>
          <p:cNvSpPr txBox="1"/>
          <p:nvPr/>
        </p:nvSpPr>
        <p:spPr>
          <a:xfrm>
            <a:off x="1040500" y="4715250"/>
            <a:ext cx="4886100" cy="32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900">
              <a:solidFill>
                <a:srgbClr val="646363"/>
              </a:solidFill>
              <a:latin typeface="Montserrat"/>
              <a:ea typeface="Montserrat"/>
              <a:cs typeface="Montserrat"/>
              <a:sym typeface="Montserrat"/>
            </a:endParaRPr>
          </a:p>
        </p:txBody>
      </p:sp>
      <p:pic>
        <p:nvPicPr>
          <p:cNvPr id="232" name="Google Shape;232;p38">
            <a:extLst>
              <a:ext uri="{FF2B5EF4-FFF2-40B4-BE49-F238E27FC236}">
                <a16:creationId xmlns:a16="http://schemas.microsoft.com/office/drawing/2014/main" id="{6835C172-CF37-24B8-9C3B-314FE892F071}"/>
              </a:ext>
            </a:extLst>
          </p:cNvPr>
          <p:cNvPicPr preferRelativeResize="0"/>
          <p:nvPr/>
        </p:nvPicPr>
        <p:blipFill>
          <a:blip r:embed="rId4">
            <a:alphaModFix/>
          </a:blip>
          <a:stretch>
            <a:fillRect/>
          </a:stretch>
        </p:blipFill>
        <p:spPr>
          <a:xfrm>
            <a:off x="8035050" y="4614500"/>
            <a:ext cx="696375" cy="447700"/>
          </a:xfrm>
          <a:prstGeom prst="rect">
            <a:avLst/>
          </a:prstGeom>
          <a:noFill/>
          <a:ln>
            <a:noFill/>
          </a:ln>
        </p:spPr>
      </p:pic>
      <p:sp>
        <p:nvSpPr>
          <p:cNvPr id="234" name="Google Shape;234;p38">
            <a:extLst>
              <a:ext uri="{FF2B5EF4-FFF2-40B4-BE49-F238E27FC236}">
                <a16:creationId xmlns:a16="http://schemas.microsoft.com/office/drawing/2014/main" id="{F16F5A86-D019-C53A-FC37-3A7EA3BC0521}"/>
              </a:ext>
            </a:extLst>
          </p:cNvPr>
          <p:cNvSpPr txBox="1"/>
          <p:nvPr/>
        </p:nvSpPr>
        <p:spPr>
          <a:xfrm>
            <a:off x="824528" y="858560"/>
            <a:ext cx="3119007" cy="666819"/>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2800" b="1" dirty="0">
                <a:solidFill>
                  <a:schemeClr val="lt1"/>
                </a:solidFill>
                <a:latin typeface="Montserrat"/>
                <a:ea typeface="Montserrat"/>
                <a:cs typeface="Montserrat"/>
                <a:sym typeface="Montserrat"/>
              </a:rPr>
              <a:t>A venir </a:t>
            </a:r>
            <a:endParaRPr sz="2800" b="1" dirty="0">
              <a:solidFill>
                <a:schemeClr val="lt1"/>
              </a:solidFill>
              <a:latin typeface="Montserrat"/>
              <a:ea typeface="Montserrat"/>
              <a:cs typeface="Montserrat"/>
              <a:sym typeface="Montserrat"/>
            </a:endParaRPr>
          </a:p>
        </p:txBody>
      </p:sp>
      <p:sp>
        <p:nvSpPr>
          <p:cNvPr id="2" name="ZoneTexte 1">
            <a:extLst>
              <a:ext uri="{FF2B5EF4-FFF2-40B4-BE49-F238E27FC236}">
                <a16:creationId xmlns:a16="http://schemas.microsoft.com/office/drawing/2014/main" id="{C43E3EB4-E970-6683-4E57-CE91E6270272}"/>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7</a:t>
            </a:r>
          </a:p>
          <a:p>
            <a:endParaRPr lang="fr-CM" sz="2000" b="1" dirty="0">
              <a:latin typeface="Aharoni" panose="020F0502020204030204" pitchFamily="2" charset="-79"/>
              <a:cs typeface="Aharoni" panose="020F0502020204030204" pitchFamily="2" charset="-79"/>
            </a:endParaRPr>
          </a:p>
        </p:txBody>
      </p:sp>
      <p:sp>
        <p:nvSpPr>
          <p:cNvPr id="6" name="Google Shape;233;p38">
            <a:extLst>
              <a:ext uri="{FF2B5EF4-FFF2-40B4-BE49-F238E27FC236}">
                <a16:creationId xmlns:a16="http://schemas.microsoft.com/office/drawing/2014/main" id="{E43149D2-1B55-53DF-1C68-44D9170DB9B3}"/>
              </a:ext>
            </a:extLst>
          </p:cNvPr>
          <p:cNvSpPr txBox="1"/>
          <p:nvPr/>
        </p:nvSpPr>
        <p:spPr>
          <a:xfrm>
            <a:off x="355602" y="2863481"/>
            <a:ext cx="4056857" cy="974595"/>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1600" dirty="0">
                <a:solidFill>
                  <a:srgbClr val="636366"/>
                </a:solidFill>
                <a:latin typeface="Montserrat"/>
                <a:ea typeface="Montserrat"/>
                <a:cs typeface="Montserrat"/>
                <a:sym typeface="Montserrat"/>
              </a:rPr>
              <a:t>Ajout des modèles isotropes et angulaires pour la génération de surface</a:t>
            </a:r>
            <a:endParaRPr sz="1600" dirty="0">
              <a:solidFill>
                <a:srgbClr val="636366"/>
              </a:solidFill>
              <a:latin typeface="Montserrat"/>
              <a:ea typeface="Montserrat"/>
              <a:cs typeface="Montserrat"/>
              <a:sym typeface="Montserrat"/>
            </a:endParaRPr>
          </a:p>
        </p:txBody>
      </p:sp>
      <p:sp>
        <p:nvSpPr>
          <p:cNvPr id="4" name="Google Shape;233;p38">
            <a:extLst>
              <a:ext uri="{FF2B5EF4-FFF2-40B4-BE49-F238E27FC236}">
                <a16:creationId xmlns:a16="http://schemas.microsoft.com/office/drawing/2014/main" id="{96875452-34AF-CD2B-200A-54A0130B075E}"/>
              </a:ext>
            </a:extLst>
          </p:cNvPr>
          <p:cNvSpPr txBox="1"/>
          <p:nvPr/>
        </p:nvSpPr>
        <p:spPr>
          <a:xfrm>
            <a:off x="5085793" y="3026801"/>
            <a:ext cx="4056857" cy="728374"/>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1600" dirty="0">
                <a:solidFill>
                  <a:srgbClr val="636366"/>
                </a:solidFill>
                <a:latin typeface="Montserrat"/>
                <a:ea typeface="Montserrat"/>
                <a:cs typeface="Montserrat"/>
                <a:sym typeface="Montserrat"/>
              </a:rPr>
              <a:t>Optimisation de l’utilisation mémoire…</a:t>
            </a:r>
            <a:endParaRPr sz="1600" dirty="0">
              <a:solidFill>
                <a:srgbClr val="636366"/>
              </a:solidFill>
              <a:latin typeface="Montserrat"/>
              <a:ea typeface="Montserrat"/>
              <a:cs typeface="Montserrat"/>
              <a:sym typeface="Montserrat"/>
            </a:endParaRPr>
          </a:p>
        </p:txBody>
      </p:sp>
    </p:spTree>
    <p:extLst>
      <p:ext uri="{BB962C8B-B14F-4D97-AF65-F5344CB8AC3E}">
        <p14:creationId xmlns:p14="http://schemas.microsoft.com/office/powerpoint/2010/main" val="784953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43" descr="Une image contenant bâtiment, plein air, ciel, architecture&#10;&#10;Le contenu généré par l’IA peut être incorrect."/>
          <p:cNvPicPr preferRelativeResize="0">
            <a:picLocks noGrp="1"/>
          </p:cNvPicPr>
          <p:nvPr>
            <p:ph type="pic" idx="2"/>
          </p:nvPr>
        </p:nvPicPr>
        <p:blipFill rotWithShape="1">
          <a:blip r:embed="rId3"/>
          <a:srcRect/>
          <a:stretch>
            <a:fillRect/>
          </a:stretch>
        </p:blipFill>
        <p:spPr>
          <a:xfrm>
            <a:off x="20" y="10"/>
            <a:ext cx="9143980" cy="514349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5881</TotalTime>
  <Words>295</Words>
  <Application>Microsoft Office PowerPoint</Application>
  <PresentationFormat>Affichage à l'écran (16:9)</PresentationFormat>
  <Paragraphs>43</Paragraphs>
  <Slides>9</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9</vt:i4>
      </vt:variant>
    </vt:vector>
  </HeadingPairs>
  <TitlesOfParts>
    <vt:vector size="15" baseType="lpstr">
      <vt:lpstr>Arial</vt:lpstr>
      <vt:lpstr>Montserrat SemiBold</vt:lpstr>
      <vt:lpstr>Montserrat</vt:lpstr>
      <vt:lpstr>Montserrat Light</vt:lpstr>
      <vt:lpstr>Aharoni</vt:lpstr>
      <vt:lpstr>Simple Light</vt:lpstr>
      <vt:lpstr>Présentation PowerPoint</vt:lpstr>
      <vt:lpstr>Présentation PowerPoint</vt:lpstr>
      <vt:lpstr>Présentation PowerPoint</vt:lpstr>
      <vt:lpstr>BILAN</vt:lpstr>
      <vt:lpstr>Présentation PowerPoint</vt:lpstr>
      <vt:lpstr>Travaux réalisés durant la semaine</vt:lpstr>
      <vt:lpstr>Travaux réalisés durant la semaine</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Rosilia Cabrelle</cp:lastModifiedBy>
  <cp:revision>12</cp:revision>
  <dcterms:modified xsi:type="dcterms:W3CDTF">2025-11-03T14:29:31Z</dcterms:modified>
</cp:coreProperties>
</file>