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 SemiBold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Montserrat 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03">
          <p15:clr>
            <a:srgbClr val="747775"/>
          </p15:clr>
        </p15:guide>
        <p15:guide id="2" pos="2854">
          <p15:clr>
            <a:srgbClr val="747775"/>
          </p15:clr>
        </p15:guide>
        <p15:guide id="3" pos="340">
          <p15:clr>
            <a:srgbClr val="747775"/>
          </p15:clr>
        </p15:guide>
        <p15:guide id="4" orient="horz" pos="2130">
          <p15:clr>
            <a:srgbClr val="747775"/>
          </p15:clr>
        </p15:guide>
      </p15:sldGuideLst>
    </p:ext>
    <p:ext uri="GoogleSlidesCustomDataVersion2">
      <go:slidesCustomData xmlns:go="http://customooxmlschemas.google.com/" r:id="rId24" roundtripDataSignature="AMtx7mhLqm3lmcCN2InfkcEAyMiL5ukr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03" orient="horz"/>
        <p:guide pos="2854"/>
        <p:guide pos="340"/>
        <p:guide pos="213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Light-regular.fntdata"/><Relationship Id="rId11" Type="http://schemas.openxmlformats.org/officeDocument/2006/relationships/slide" Target="slides/slide6.xml"/><Relationship Id="rId22" Type="http://schemas.openxmlformats.org/officeDocument/2006/relationships/font" Target="fonts/MontserratLight-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Light-bold.fntdata"/><Relationship Id="rId13" Type="http://schemas.openxmlformats.org/officeDocument/2006/relationships/font" Target="fonts/MontserratSemiBold-bold.fntdata"/><Relationship Id="rId24" Type="http://customschemas.google.com/relationships/presentationmetadata" Target="metadata"/><Relationship Id="rId12" Type="http://schemas.openxmlformats.org/officeDocument/2006/relationships/font" Target="fonts/MontserratSemiBold-regular.fntdata"/><Relationship Id="rId23" Type="http://schemas.openxmlformats.org/officeDocument/2006/relationships/font" Target="fonts/Montserrat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SemiBold-boldItalic.fntdata"/><Relationship Id="rId14" Type="http://schemas.openxmlformats.org/officeDocument/2006/relationships/font" Target="fonts/MontserratSemiBold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haut">
  <p:cSld name="Texte seul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ICAM.jpg" id="14" name="Google Shape;14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06025" y="2149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pports - decli piste-03.jpg" id="15" name="Google Shape;1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600" y="889451"/>
            <a:ext cx="4613135" cy="103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tites-bandes.jpg" id="16" name="Google Shape;1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530" y="4654558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9"/>
          <p:cNvSpPr txBox="1"/>
          <p:nvPr>
            <p:ph type="title"/>
          </p:nvPr>
        </p:nvSpPr>
        <p:spPr>
          <a:xfrm>
            <a:off x="482600" y="214988"/>
            <a:ext cx="7508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b="0" i="0" sz="36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18" name="Google Shape;18;p9"/>
          <p:cNvSpPr txBox="1"/>
          <p:nvPr>
            <p:ph idx="1" type="body"/>
          </p:nvPr>
        </p:nvSpPr>
        <p:spPr>
          <a:xfrm>
            <a:off x="482600" y="1111988"/>
            <a:ext cx="8193000" cy="3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406400" lvl="1" marL="9144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81000" lvl="2" marL="1371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55600" lvl="3" marL="18288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55600" lvl="4" marL="22860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55600" lvl="5" marL="27432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55600" lvl="6" marL="32004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55600" lvl="7" marL="3657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55600" lvl="8" marL="4114800" marR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9" name="Google Shape;19;p9"/>
          <p:cNvSpPr txBox="1"/>
          <p:nvPr>
            <p:ph idx="2" type="body"/>
          </p:nvPr>
        </p:nvSpPr>
        <p:spPr>
          <a:xfrm>
            <a:off x="467544" y="4801791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406400" lvl="1" marL="914400" marR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81000" lvl="2" marL="1371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55600" lvl="3" marL="18288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55600" lvl="4" marL="22860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55600" lvl="5" marL="27432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55600" lvl="6" marL="32004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55600" lvl="7" marL="3657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55600" lvl="8" marL="4114800" marR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">
  <p:cSld name="Chapitr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ICAM.jpg" id="21" name="Google Shape;2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63312" y="2042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tites-bandes.jpg" id="22" name="Google Shape;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9283" y="4801663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0"/>
          <p:cNvSpPr/>
          <p:nvPr>
            <p:ph idx="2" type="pic"/>
          </p:nvPr>
        </p:nvSpPr>
        <p:spPr>
          <a:xfrm>
            <a:off x="0" y="0"/>
            <a:ext cx="4284600" cy="51327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10"/>
          <p:cNvSpPr txBox="1"/>
          <p:nvPr>
            <p:ph type="title"/>
          </p:nvPr>
        </p:nvSpPr>
        <p:spPr>
          <a:xfrm>
            <a:off x="4427984" y="843558"/>
            <a:ext cx="4464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A45F"/>
              </a:buClr>
              <a:buSzPts val="2800"/>
              <a:buFont typeface="Montserrat SemiBold"/>
              <a:buNone/>
              <a:defRPr b="0" i="0" sz="2800" u="none" cap="none" strike="noStrike">
                <a:solidFill>
                  <a:srgbClr val="F9A45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4427984" y="1873638"/>
            <a:ext cx="4464600" cy="26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55600" lvl="1" marL="9144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42900" lvl="2" marL="1371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30200" lvl="3" marL="18288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30200" lvl="4" marL="22860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55600" lvl="5" marL="27432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55600" lvl="6" marL="32004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55600" lvl="7" marL="3657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55600" lvl="8" marL="4114800" marR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3" type="body"/>
          </p:nvPr>
        </p:nvSpPr>
        <p:spPr>
          <a:xfrm>
            <a:off x="7163199" y="4731990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406400" lvl="1" marL="914400" marR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81000" lvl="2" marL="1371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55600" lvl="3" marL="18288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55600" lvl="4" marL="22860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55600" lvl="5" marL="27432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55600" lvl="6" marL="32004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55600" lvl="7" marL="3657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55600" lvl="8" marL="4114800" marR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1" name="Google Shape;5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7298" y="16328"/>
            <a:ext cx="376670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525" y="316000"/>
            <a:ext cx="1442700" cy="9830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"/>
          <p:cNvSpPr txBox="1"/>
          <p:nvPr/>
        </p:nvSpPr>
        <p:spPr>
          <a:xfrm>
            <a:off x="385852" y="2571749"/>
            <a:ext cx="4886100" cy="19902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fr" sz="3800" u="none" cap="none" strike="noStrike">
                <a:solidFill>
                  <a:srgbClr val="F392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Présentation d’avancement 03/10/2025</a:t>
            </a:r>
            <a:endParaRPr b="1" i="0" sz="3800" u="none" cap="none" strike="noStrike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438525" y="4376800"/>
            <a:ext cx="4886100" cy="4500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fr" sz="1500" u="none" cap="none" strike="noStrike">
                <a:solidFill>
                  <a:srgbClr val="646363"/>
                </a:solidFill>
                <a:latin typeface="Montserrat"/>
                <a:ea typeface="Montserrat"/>
                <a:cs typeface="Montserrat"/>
                <a:sym typeface="Montserrat"/>
              </a:rPr>
              <a:t>Rosilia MODJO</a:t>
            </a:r>
            <a:endParaRPr b="0" i="0" sz="1500" u="none" cap="none" strike="noStrike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3456553" cy="45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3456554" y="0"/>
            <a:ext cx="5715000" cy="458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605654" y="2203235"/>
            <a:ext cx="2850900" cy="6975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fr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3" name="Google Shape;7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 txBox="1"/>
          <p:nvPr/>
        </p:nvSpPr>
        <p:spPr>
          <a:xfrm>
            <a:off x="3909188" y="661251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fr" sz="4100" u="none" cap="none" strike="noStrike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i="0" sz="4100" u="none" cap="none" strike="noStrike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4457300" y="794275"/>
            <a:ext cx="3180547" cy="62526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fr" sz="2200" u="none" cap="none" strike="noStrike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Bilan d’avancement</a:t>
            </a:r>
            <a:endParaRPr b="1" i="0" sz="2200" u="none" cap="none" strike="noStrike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245650" y="2900832"/>
            <a:ext cx="423300" cy="423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4457300" y="2696973"/>
            <a:ext cx="3813121" cy="10146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fr" sz="2200" u="none" cap="none" strike="noStrike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Travaux effectués au cours de la semaine  </a:t>
            </a:r>
            <a:endParaRPr b="1" i="0" sz="2200" u="none" cap="none" strike="noStrike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000" u="none" cap="none" strike="noStrik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rPr>
              <a:t>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3909188" y="2455368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fr" sz="4100" u="none" cap="none" strike="noStrike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i="0" sz="4100" u="none" cap="none" strike="noStrike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212401" y="1130360"/>
            <a:ext cx="423300" cy="423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7298" y="0"/>
            <a:ext cx="376670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 txBox="1"/>
          <p:nvPr/>
        </p:nvSpPr>
        <p:spPr>
          <a:xfrm>
            <a:off x="438525" y="3946300"/>
            <a:ext cx="488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fr" sz="3000" u="none" cap="none" strike="noStrike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www.icam.fr</a:t>
            </a:r>
            <a:endParaRPr b="0" i="0" sz="3000" u="none" cap="none" strike="noStrike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438525" y="3414400"/>
            <a:ext cx="488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" sz="1600" u="none" cap="none" strike="noStrike">
                <a:solidFill>
                  <a:srgbClr val="F29403"/>
                </a:solidFill>
                <a:latin typeface="Montserrat"/>
                <a:ea typeface="Montserrat"/>
                <a:cs typeface="Montserrat"/>
                <a:sym typeface="Montserrat"/>
              </a:rPr>
              <a:t>icam.fr/reseaux-sociaux</a:t>
            </a:r>
            <a:endParaRPr b="0" i="0" sz="1600" u="none" cap="none" strike="noStrike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" name="Google Shape;8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525" y="3017909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6998" y="2990350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7929" y="2990344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26304" y="3017911"/>
            <a:ext cx="478471" cy="47413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 txBox="1"/>
          <p:nvPr/>
        </p:nvSpPr>
        <p:spPr>
          <a:xfrm>
            <a:off x="2165539" y="1480883"/>
            <a:ext cx="4886100" cy="8925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" sz="4000" u="none" cap="none" strike="noStrike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BILAN</a:t>
            </a:r>
            <a:endParaRPr b="0" i="0" sz="4000" u="none" cap="none" strike="noStrike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590424" y="4592800"/>
            <a:ext cx="6531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000" u="none" cap="none" strike="noStrik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>
            <p:ph idx="1" type="body"/>
          </p:nvPr>
        </p:nvSpPr>
        <p:spPr>
          <a:xfrm>
            <a:off x="482600" y="1111988"/>
            <a:ext cx="8193000" cy="3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5750" lvl="0" marL="51435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fr"/>
              <a:t>Validation des modèles (semi-empiriques)</a:t>
            </a:r>
            <a:endParaRPr/>
          </a:p>
          <a:p>
            <a:pPr indent="-285750" lvl="0" marL="51435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fr"/>
              <a:t>Choix de la technologie de développement de l’interface (GUI Toolbox de MATLAB)</a:t>
            </a:r>
            <a:endParaRPr/>
          </a:p>
          <a:p>
            <a:pPr indent="-285750" lvl="0" marL="51435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fr"/>
              <a:t>Développement du squelette de l’interface </a:t>
            </a:r>
            <a:endParaRPr/>
          </a:p>
          <a:p>
            <a:pPr indent="-285750" lvl="0" marL="51435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fr"/>
              <a:t>Ajout progressif des modèles semi-empiriques et expérimentaux </a:t>
            </a:r>
            <a:endParaRPr/>
          </a:p>
          <a:p>
            <a:pPr indent="-285750" lvl="0" marL="51435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fr"/>
              <a:t>Ajustement de l’interface selon les besoins </a:t>
            </a:r>
            <a:endParaRPr/>
          </a:p>
        </p:txBody>
      </p:sp>
      <p:sp>
        <p:nvSpPr>
          <p:cNvPr id="99" name="Google Shape;99;p4"/>
          <p:cNvSpPr txBox="1"/>
          <p:nvPr>
            <p:ph idx="2" type="body"/>
          </p:nvPr>
        </p:nvSpPr>
        <p:spPr>
          <a:xfrm>
            <a:off x="344897" y="4516088"/>
            <a:ext cx="1100182" cy="627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fr" sz="2000">
                <a:latin typeface="Aharoni"/>
                <a:ea typeface="Aharoni"/>
                <a:cs typeface="Aharoni"/>
                <a:sym typeface="Aharoni"/>
              </a:rPr>
              <a:t>3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sz="2000"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1350" y="2145300"/>
            <a:ext cx="9141300" cy="246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4075" y="2150"/>
            <a:ext cx="5659925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/>
          <p:nvPr/>
        </p:nvSpPr>
        <p:spPr>
          <a:xfrm>
            <a:off x="1350" y="0"/>
            <a:ext cx="3482700" cy="2114400"/>
          </a:xfrm>
          <a:prstGeom prst="rect">
            <a:avLst/>
          </a:prstGeom>
          <a:solidFill>
            <a:srgbClr val="09B0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1040500" y="4715250"/>
            <a:ext cx="4886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8" name="Google Shape;10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 txBox="1"/>
          <p:nvPr/>
        </p:nvSpPr>
        <p:spPr>
          <a:xfrm>
            <a:off x="309211" y="2207563"/>
            <a:ext cx="4056857" cy="7283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" sz="1600" u="none" cap="none" strike="noStrike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Changement de la langue de l’interface (français 🡪 anglais)</a:t>
            </a:r>
            <a:endParaRPr b="0" i="0" sz="1600" u="none" cap="none" strike="noStrike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456949" y="82770"/>
            <a:ext cx="3119007" cy="1959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fr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Travaux réalisés au cours de la semaine </a:t>
            </a:r>
            <a:endParaRPr b="1" i="0" sz="2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000" u="none" cap="none" strike="noStrik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rPr>
              <a:t>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322947" y="2935937"/>
            <a:ext cx="4056857" cy="7283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" sz="1600" u="none" cap="none" strike="noStrike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Remplacement angle de rasance 🡪 angle d’incidence</a:t>
            </a:r>
            <a:endParaRPr b="0" i="0" sz="1600" u="none" cap="none" strike="noStrike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336683" y="3646778"/>
            <a:ext cx="405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" sz="1600" u="none" cap="none" strike="noStrike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Changement </a:t>
            </a:r>
            <a:r>
              <a:rPr lang="fr" sz="160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état</a:t>
            </a:r>
            <a:r>
              <a:rPr b="0" i="0" lang="fr" sz="1600" u="none" cap="none" strike="noStrike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 de mer 🡪 vitesse du vent u10 </a:t>
            </a:r>
            <a:endParaRPr b="0" i="0" sz="1600" u="none" cap="none" strike="noStrike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4572000" y="2282735"/>
            <a:ext cx="4056857" cy="7283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" sz="1600" u="none" cap="none" strike="noStrike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Affichage de la NRCS calculée dans la section résultats </a:t>
            </a:r>
            <a:endParaRPr b="0" i="0" sz="1600" u="none" cap="none" strike="noStrike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4632981" y="3114159"/>
            <a:ext cx="4056857" cy="9745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" sz="1600" u="none" cap="none" strike="noStrike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Ajout des modèles HYBRID, RRE, Quilfen, CMOD2I3, CMOD5, XMOD1R, XMOD2N, Isoguchi</a:t>
            </a:r>
            <a:endParaRPr b="0" i="0" sz="1600" u="none" cap="none" strike="noStrike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e image contenant bâtiment, plein air, ciel, architecture&#10;&#10;Le contenu généré par l’IA peut être incorrect." id="120" name="Google Shape;120;p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" y="10"/>
            <a:ext cx="9143980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