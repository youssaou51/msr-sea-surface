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10"/>
  </p:notesMasterIdLst>
  <p:sldIdLst>
    <p:sldId id="256" r:id="rId2"/>
    <p:sldId id="258" r:id="rId3"/>
    <p:sldId id="262" r:id="rId4"/>
    <p:sldId id="266" r:id="rId5"/>
    <p:sldId id="260" r:id="rId6"/>
    <p:sldId id="269" r:id="rId7"/>
    <p:sldId id="270" r:id="rId8"/>
    <p:sldId id="265" r:id="rId9"/>
  </p:sldIdLst>
  <p:sldSz cx="9144000" cy="5143500" type="screen16x9"/>
  <p:notesSz cx="6858000" cy="9144000"/>
  <p:embeddedFontLst>
    <p:embeddedFont>
      <p:font typeface="Aharoni" panose="02010803020104030203" pitchFamily="2" charset="-79"/>
      <p:bold r:id="rId11"/>
    </p:embeddedFont>
    <p:embeddedFont>
      <p:font typeface="Montserrat" panose="00000500000000000000" pitchFamily="2" charset="0"/>
      <p:regular r:id="rId12"/>
      <p:bold r:id="rId13"/>
      <p:italic r:id="rId14"/>
      <p:boldItalic r:id="rId15"/>
    </p:embeddedFont>
    <p:embeddedFont>
      <p:font typeface="Montserrat Light" panose="00000400000000000000" pitchFamily="2" charset="0"/>
      <p:regular r:id="rId16"/>
      <p:bold r:id="rId17"/>
      <p:italic r:id="rId18"/>
      <p:boldItalic r:id="rId19"/>
    </p:embeddedFont>
    <p:embeddedFont>
      <p:font typeface="Montserrat SemiBold" panose="000007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03">
          <p15:clr>
            <a:srgbClr val="747775"/>
          </p15:clr>
        </p15:guide>
        <p15:guide id="2" pos="2854">
          <p15:clr>
            <a:srgbClr val="747775"/>
          </p15:clr>
        </p15:guide>
        <p15:guide id="3" pos="340">
          <p15:clr>
            <a:srgbClr val="747775"/>
          </p15:clr>
        </p15:guide>
        <p15:guide id="4" orient="horz" pos="213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Style léger 3 - Accentuation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940" y="36"/>
      </p:cViewPr>
      <p:guideLst>
        <p:guide orient="horz" pos="1603"/>
        <p:guide pos="2854"/>
        <p:guide pos="340"/>
        <p:guide orient="horz" pos="21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font" Target="fonts/font13.fntdata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68f01b72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468f01b72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9f5bf7ef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9f5bf7ef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468f01b72f_0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468f01b72f_0_2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55edab136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55edab136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8480a69043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g28480a6904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haut">
  <p:cSld name="Texte seul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106025" y="2149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 descr="supports - decli piste-0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600" y="889451"/>
            <a:ext cx="4613135" cy="103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13" descr="petites-bandes.jp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4530" y="4654558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82600" y="214988"/>
            <a:ext cx="75087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SemiBold"/>
              <a:buNone/>
              <a:defRPr sz="36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482600" y="1111988"/>
            <a:ext cx="8193000" cy="34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467544" y="4801791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itre">
  <p:cSld name="Chapitr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descr="logo-ICAM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63312" y="204291"/>
            <a:ext cx="540327" cy="292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petites-band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49283" y="4801663"/>
            <a:ext cx="349388" cy="90308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>
            <a:spLocks noGrp="1"/>
          </p:cNvSpPr>
          <p:nvPr>
            <p:ph type="pic" idx="2"/>
          </p:nvPr>
        </p:nvSpPr>
        <p:spPr>
          <a:xfrm>
            <a:off x="0" y="0"/>
            <a:ext cx="4284600" cy="51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4427984" y="843558"/>
            <a:ext cx="4464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9A45F"/>
              </a:buClr>
              <a:buSzPts val="2800"/>
              <a:buFont typeface="Montserrat SemiBold"/>
              <a:buNone/>
              <a:defRPr sz="2800" b="0" i="0" u="none" strike="noStrike" cap="none">
                <a:solidFill>
                  <a:srgbClr val="F9A45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4427984" y="1873638"/>
            <a:ext cx="44646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30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3"/>
          </p:nvPr>
        </p:nvSpPr>
        <p:spPr>
          <a:xfrm>
            <a:off x="7163199" y="4731990"/>
            <a:ext cx="1800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marR="0" lvl="2" indent="-3810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marR="0" lvl="3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marR="0" lvl="4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marR="0" lvl="5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marR="0" lvl="6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marR="0" lvl="7" indent="-3556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marR="0" lvl="8" indent="-35560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16328"/>
            <a:ext cx="3766704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525" y="316000"/>
            <a:ext cx="1442700" cy="983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4"/>
          <p:cNvSpPr txBox="1"/>
          <p:nvPr/>
        </p:nvSpPr>
        <p:spPr>
          <a:xfrm>
            <a:off x="385852" y="2571749"/>
            <a:ext cx="4886100" cy="1990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800" dirty="0">
                <a:solidFill>
                  <a:srgbClr val="F392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Présentation d’avancement 25/09/2025</a:t>
            </a:r>
            <a:endParaRPr sz="38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34"/>
          <p:cNvSpPr txBox="1"/>
          <p:nvPr/>
        </p:nvSpPr>
        <p:spPr>
          <a:xfrm>
            <a:off x="438525" y="4376800"/>
            <a:ext cx="4886100" cy="450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dirty="0">
                <a:solidFill>
                  <a:srgbClr val="646363"/>
                </a:solidFill>
                <a:latin typeface="Montserrat"/>
                <a:ea typeface="Montserrat"/>
                <a:cs typeface="Montserrat"/>
                <a:sym typeface="Montserrat"/>
              </a:rPr>
              <a:t>Rosilia MODJO</a:t>
            </a:r>
            <a:endParaRPr sz="1500" dirty="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3456553" cy="458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6"/>
          <p:cNvSpPr/>
          <p:nvPr/>
        </p:nvSpPr>
        <p:spPr>
          <a:xfrm>
            <a:off x="3456554" y="0"/>
            <a:ext cx="5715000" cy="4583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5" name="Google Shape;175;p36"/>
          <p:cNvSpPr txBox="1"/>
          <p:nvPr/>
        </p:nvSpPr>
        <p:spPr>
          <a:xfrm>
            <a:off x="605654" y="2203235"/>
            <a:ext cx="2850900" cy="697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30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 sz="30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6"/>
          <p:cNvSpPr txBox="1"/>
          <p:nvPr/>
        </p:nvSpPr>
        <p:spPr>
          <a:xfrm>
            <a:off x="3909188" y="661251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6"/>
          <p:cNvSpPr txBox="1"/>
          <p:nvPr/>
        </p:nvSpPr>
        <p:spPr>
          <a:xfrm>
            <a:off x="4457300" y="794275"/>
            <a:ext cx="3180547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Bilan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36"/>
          <p:cNvSpPr/>
          <p:nvPr/>
        </p:nvSpPr>
        <p:spPr>
          <a:xfrm>
            <a:off x="4245650" y="2900832"/>
            <a:ext cx="423300" cy="423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36"/>
          <p:cNvSpPr txBox="1"/>
          <p:nvPr/>
        </p:nvSpPr>
        <p:spPr>
          <a:xfrm>
            <a:off x="4457300" y="2696973"/>
            <a:ext cx="2745321" cy="625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2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Travaux en cours  </a:t>
            </a:r>
            <a:endParaRPr sz="22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2878BCD-ACF6-15AB-128E-A6E4087A70EA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1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sp>
        <p:nvSpPr>
          <p:cNvPr id="3" name="Google Shape;184;p36">
            <a:extLst>
              <a:ext uri="{FF2B5EF4-FFF2-40B4-BE49-F238E27FC236}">
                <a16:creationId xmlns:a16="http://schemas.microsoft.com/office/drawing/2014/main" id="{1437728D-67ED-AAFD-26FE-BFFC6782C770}"/>
              </a:ext>
            </a:extLst>
          </p:cNvPr>
          <p:cNvSpPr txBox="1"/>
          <p:nvPr/>
        </p:nvSpPr>
        <p:spPr>
          <a:xfrm>
            <a:off x="3909188" y="2455368"/>
            <a:ext cx="5949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4100" b="1" dirty="0">
                <a:solidFill>
                  <a:srgbClr val="F39200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sz="4100" b="1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187;p36">
            <a:extLst>
              <a:ext uri="{FF2B5EF4-FFF2-40B4-BE49-F238E27FC236}">
                <a16:creationId xmlns:a16="http://schemas.microsoft.com/office/drawing/2014/main" id="{60D4ADE0-6375-9250-916C-A3F3D0578188}"/>
              </a:ext>
            </a:extLst>
          </p:cNvPr>
          <p:cNvSpPr/>
          <p:nvPr/>
        </p:nvSpPr>
        <p:spPr>
          <a:xfrm>
            <a:off x="4212401" y="1130360"/>
            <a:ext cx="423300" cy="4233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7298" y="0"/>
            <a:ext cx="3766704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0"/>
          <p:cNvSpPr txBox="1"/>
          <p:nvPr/>
        </p:nvSpPr>
        <p:spPr>
          <a:xfrm>
            <a:off x="438525" y="4149350"/>
            <a:ext cx="4886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3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www.icam.fr</a:t>
            </a:r>
            <a:endParaRPr sz="3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0"/>
          <p:cNvSpPr txBox="1"/>
          <p:nvPr/>
        </p:nvSpPr>
        <p:spPr>
          <a:xfrm>
            <a:off x="438525" y="3414400"/>
            <a:ext cx="4886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rgbClr val="F29403"/>
                </a:solidFill>
                <a:latin typeface="Montserrat"/>
                <a:ea typeface="Montserrat"/>
                <a:cs typeface="Montserrat"/>
                <a:sym typeface="Montserrat"/>
              </a:rPr>
              <a:t>icam.fr/reseaux-sociaux</a:t>
            </a:r>
            <a:endParaRPr sz="16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4" name="Google Shape;27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525" y="3017909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6998" y="2990350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67929" y="2990344"/>
            <a:ext cx="478471" cy="474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6304" y="3017911"/>
            <a:ext cx="478471" cy="47413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72;p40">
            <a:extLst>
              <a:ext uri="{FF2B5EF4-FFF2-40B4-BE49-F238E27FC236}">
                <a16:creationId xmlns:a16="http://schemas.microsoft.com/office/drawing/2014/main" id="{4D003C2F-3386-71E6-B25D-2F94677C17C7}"/>
              </a:ext>
            </a:extLst>
          </p:cNvPr>
          <p:cNvSpPr txBox="1"/>
          <p:nvPr/>
        </p:nvSpPr>
        <p:spPr>
          <a:xfrm>
            <a:off x="2881575" y="1542223"/>
            <a:ext cx="488610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4000" b="1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BILAN</a:t>
            </a:r>
            <a:endParaRPr sz="4000" dirty="0">
              <a:solidFill>
                <a:srgbClr val="F392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7FE33F-EE0E-6595-3566-84E2E71EE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Validation des modèles 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Choix de la technologie de développement de l’interface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fr-CM" b="1" dirty="0"/>
              <a:t>Début de développement de l’interface 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E431819-5224-6127-7474-2B7032D9565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897" y="4516088"/>
            <a:ext cx="275406" cy="235573"/>
          </a:xfrm>
        </p:spPr>
        <p:txBody>
          <a:bodyPr>
            <a:no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3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03003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8"/>
          <p:cNvSpPr/>
          <p:nvPr/>
        </p:nvSpPr>
        <p:spPr>
          <a:xfrm>
            <a:off x="1350" y="2145300"/>
            <a:ext cx="9141300" cy="2466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4075" y="2150"/>
            <a:ext cx="5659925" cy="2114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8"/>
          <p:cNvSpPr/>
          <p:nvPr/>
        </p:nvSpPr>
        <p:spPr>
          <a:xfrm>
            <a:off x="1350" y="0"/>
            <a:ext cx="3482700" cy="2114400"/>
          </a:xfrm>
          <a:prstGeom prst="rect">
            <a:avLst/>
          </a:prstGeom>
          <a:solidFill>
            <a:srgbClr val="09B0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38"/>
          <p:cNvSpPr txBox="1"/>
          <p:nvPr/>
        </p:nvSpPr>
        <p:spPr>
          <a:xfrm>
            <a:off x="1040500" y="4715250"/>
            <a:ext cx="48861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64636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2" name="Google Shape;232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35050" y="4614500"/>
            <a:ext cx="696375" cy="4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8"/>
          <p:cNvSpPr txBox="1"/>
          <p:nvPr/>
        </p:nvSpPr>
        <p:spPr>
          <a:xfrm>
            <a:off x="1812593" y="2390887"/>
            <a:ext cx="4056857" cy="111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9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Etude comparative entre App Designer et la GUI Layout Toolbox de MATLAB</a:t>
            </a:r>
            <a:endParaRPr sz="10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38"/>
          <p:cNvSpPr txBox="1"/>
          <p:nvPr/>
        </p:nvSpPr>
        <p:spPr>
          <a:xfrm>
            <a:off x="456950" y="354075"/>
            <a:ext cx="2579700" cy="1097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28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Travaux en cours </a:t>
            </a:r>
            <a:endParaRPr sz="28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B13659D-5350-9410-562D-6D044E2D0911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4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pic>
        <p:nvPicPr>
          <p:cNvPr id="4" name="Google Shape;237;p38">
            <a:extLst>
              <a:ext uri="{FF2B5EF4-FFF2-40B4-BE49-F238E27FC236}">
                <a16:creationId xmlns:a16="http://schemas.microsoft.com/office/drawing/2014/main" id="{0CBF5178-6345-73D1-051A-678F3CA8067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7225" y="2571750"/>
            <a:ext cx="295475" cy="2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37;p38">
            <a:extLst>
              <a:ext uri="{FF2B5EF4-FFF2-40B4-BE49-F238E27FC236}">
                <a16:creationId xmlns:a16="http://schemas.microsoft.com/office/drawing/2014/main" id="{B8108CAD-0BE0-1806-557B-71A54D184B05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7118" y="3749569"/>
            <a:ext cx="295475" cy="2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33;p38">
            <a:extLst>
              <a:ext uri="{FF2B5EF4-FFF2-40B4-BE49-F238E27FC236}">
                <a16:creationId xmlns:a16="http://schemas.microsoft.com/office/drawing/2014/main" id="{DB67586C-28B3-ED7C-45D0-1AD0FC1D2D0C}"/>
              </a:ext>
            </a:extLst>
          </p:cNvPr>
          <p:cNvSpPr txBox="1"/>
          <p:nvPr/>
        </p:nvSpPr>
        <p:spPr>
          <a:xfrm>
            <a:off x="1812593" y="3501544"/>
            <a:ext cx="4056857" cy="528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fr" sz="1900" dirty="0">
                <a:solidFill>
                  <a:srgbClr val="636366"/>
                </a:solidFill>
                <a:latin typeface="Montserrat"/>
                <a:ea typeface="Montserrat"/>
                <a:cs typeface="Montserrat"/>
                <a:sym typeface="Montserrat"/>
              </a:rPr>
              <a:t>Développement de l’interface </a:t>
            </a:r>
            <a:endParaRPr sz="1000" dirty="0">
              <a:solidFill>
                <a:srgbClr val="63636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30E736-EF3D-5B0D-FE14-F5F32DFEA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CM" sz="2600"/>
              <a:t>Etude comparative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47413D7-5B39-282D-24FD-DCFCF6C52347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5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1C6E36AA-7BF0-41AD-F1F1-D9BEBF3828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4402967"/>
              </p:ext>
            </p:extLst>
          </p:nvPr>
        </p:nvGraphicFramePr>
        <p:xfrm>
          <a:off x="311150" y="1306195"/>
          <a:ext cx="8521700" cy="2895600"/>
        </p:xfrm>
        <a:graphic>
          <a:graphicData uri="http://schemas.openxmlformats.org/drawingml/2006/table">
            <a:tbl>
              <a:tblPr/>
              <a:tblGrid>
                <a:gridCol w="2130425">
                  <a:extLst>
                    <a:ext uri="{9D8B030D-6E8A-4147-A177-3AD203B41FA5}">
                      <a16:colId xmlns:a16="http://schemas.microsoft.com/office/drawing/2014/main" val="1108530596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581153321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568702504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2584553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Critère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GUI Layout Toolbox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App Designer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dirty="0"/>
                        <a:t>Synthèse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4062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/>
                        <a:t>Facilité</a:t>
                      </a:r>
                      <a:endParaRPr lang="fr-CM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dirty="0"/>
                        <a:t>Codage manuel, lent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Drag-and-drop, rapide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App Designer (prototypage)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6892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/>
                        <a:t>Flexibilité</a:t>
                      </a:r>
                      <a:endParaRPr lang="fr-CM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Très personnalisable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Limité, mais moderne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dirty="0"/>
                        <a:t>Égalité (hybride possible)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91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/>
                        <a:t>Performances</a:t>
                      </a:r>
                      <a:endParaRPr lang="fr-CM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Moyenne pour gros projets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Meilleure pour visualisation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App Designer (graphiques NRCS)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01663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/>
                        <a:t>Déploiement</a:t>
                      </a:r>
                      <a:endParaRPr lang="fr-CM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Facile (standalone, web)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Natif (web, standalone)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App Designer (collaboration)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3358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b="1"/>
                        <a:t>Compatibilité</a:t>
                      </a:r>
                      <a:endParaRPr lang="fr-CM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Toutes versions récentes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/>
                        <a:t>R2016a+ (migration GUIDE)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CM" dirty="0" err="1"/>
                        <a:t>Layout</a:t>
                      </a:r>
                      <a:r>
                        <a:rPr lang="fr-CM" dirty="0"/>
                        <a:t> Toolbox (</a:t>
                      </a:r>
                      <a:r>
                        <a:rPr lang="fr-CM" dirty="0" err="1"/>
                        <a:t>legacy</a:t>
                      </a:r>
                      <a:r>
                        <a:rPr lang="fr-CM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31337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472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4716D2-3721-FE79-1468-B318C16F1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CM" sz="2800"/>
              <a:t>Prise en main App designer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794420C-80DF-F30F-397F-4161DB977C34}"/>
              </a:ext>
            </a:extLst>
          </p:cNvPr>
          <p:cNvSpPr txBox="1"/>
          <p:nvPr/>
        </p:nvSpPr>
        <p:spPr>
          <a:xfrm>
            <a:off x="612322" y="4597622"/>
            <a:ext cx="26125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M" sz="2000" b="1" dirty="0">
                <a:latin typeface="Aharoni" panose="020F0502020204030204" pitchFamily="2" charset="-79"/>
                <a:cs typeface="Aharoni" panose="020F0502020204030204" pitchFamily="2" charset="-79"/>
              </a:rPr>
              <a:t>7</a:t>
            </a:r>
          </a:p>
          <a:p>
            <a:endParaRPr lang="fr-CM" sz="2000" b="1" dirty="0">
              <a:latin typeface="Aharoni" panose="020F0502020204030204" pitchFamily="2" charset="-79"/>
              <a:cs typeface="Aharoni" panose="020F0502020204030204" pitchFamily="2" charset="-79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31AE3B25-6FF8-6B18-F52C-08678B0E1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893"/>
            <a:ext cx="9144000" cy="4789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91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3" descr="Une image contenant bâtiment, plein air, ciel, architecture&#10;&#10;Le contenu généré par l’IA peut être incorrect.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/>
          <a:srcRect/>
          <a:stretch>
            <a:fillRect/>
          </a:stretch>
        </p:blipFill>
        <p:spPr>
          <a:xfrm>
            <a:off x="20" y="10"/>
            <a:ext cx="9143980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3680</TotalTime>
  <Words>148</Words>
  <Application>Microsoft Office PowerPoint</Application>
  <PresentationFormat>Affichage à l'écran (16:9)</PresentationFormat>
  <Paragraphs>47</Paragraphs>
  <Slides>8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4" baseType="lpstr">
      <vt:lpstr>Montserrat</vt:lpstr>
      <vt:lpstr>Montserrat Light</vt:lpstr>
      <vt:lpstr>Arial</vt:lpstr>
      <vt:lpstr>Montserrat SemiBold</vt:lpstr>
      <vt:lpstr>Aharoni</vt:lpstr>
      <vt:lpstr>Simple Light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Etude comparative </vt:lpstr>
      <vt:lpstr>Prise en main App designer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Rosilia Cabrelle</cp:lastModifiedBy>
  <cp:revision>6</cp:revision>
  <dcterms:modified xsi:type="dcterms:W3CDTF">2025-09-25T08:47:08Z</dcterms:modified>
</cp:coreProperties>
</file>