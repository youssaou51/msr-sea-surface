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3"/>
  </p:notesMasterIdLst>
  <p:sldIdLst>
    <p:sldId id="256" r:id="rId2"/>
    <p:sldId id="258" r:id="rId3"/>
    <p:sldId id="262" r:id="rId4"/>
    <p:sldId id="266" r:id="rId5"/>
    <p:sldId id="273" r:id="rId6"/>
    <p:sldId id="270" r:id="rId7"/>
    <p:sldId id="267" r:id="rId8"/>
    <p:sldId id="271" r:id="rId9"/>
    <p:sldId id="272" r:id="rId10"/>
    <p:sldId id="269" r:id="rId11"/>
    <p:sldId id="265" r:id="rId12"/>
  </p:sldIdLst>
  <p:sldSz cx="9144000" cy="5143500" type="screen16x9"/>
  <p:notesSz cx="6858000" cy="9144000"/>
  <p:embeddedFontLst>
    <p:embeddedFont>
      <p:font typeface="Aharoni" panose="02010803020104030203" pitchFamily="2" charset="-79"/>
      <p:bold r:id="rId14"/>
    </p:embeddedFont>
    <p:embeddedFont>
      <p:font typeface="Montserrat" panose="00000500000000000000" pitchFamily="2" charset="0"/>
      <p:regular r:id="rId15"/>
      <p:bold r:id="rId16"/>
      <p:italic r:id="rId17"/>
      <p:boldItalic r:id="rId18"/>
    </p:embeddedFont>
    <p:embeddedFont>
      <p:font typeface="Montserrat Light" panose="00000400000000000000" pitchFamily="2" charset="0"/>
      <p:regular r:id="rId19"/>
      <p:bold r:id="rId20"/>
      <p:italic r:id="rId21"/>
      <p:boldItalic r:id="rId22"/>
    </p:embeddedFont>
    <p:embeddedFont>
      <p:font typeface="Montserrat SemiBold" panose="000007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03">
          <p15:clr>
            <a:srgbClr val="747775"/>
          </p15:clr>
        </p15:guide>
        <p15:guide id="2" pos="2854">
          <p15:clr>
            <a:srgbClr val="747775"/>
          </p15:clr>
        </p15:guide>
        <p15:guide id="3" pos="340">
          <p15:clr>
            <a:srgbClr val="747775"/>
          </p15:clr>
        </p15:guide>
        <p15:guide id="4" orient="horz" pos="213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8" d="100"/>
          <a:sy n="78" d="100"/>
        </p:scale>
        <p:origin x="940" y="36"/>
      </p:cViewPr>
      <p:guideLst>
        <p:guide orient="horz" pos="1603"/>
        <p:guide pos="2854"/>
        <p:guide pos="340"/>
        <p:guide orient="horz" pos="213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CM"/>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468f01b72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145" name="Google Shape;145;g2468f01b72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9f5bf7ef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171" name="Google Shape;171;g29f5bf7ef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468f01b72f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269" name="Google Shape;269;g2468f01b72f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159AD074-6A31-88F2-C13A-D826EA290778}"/>
            </a:ext>
          </a:extLst>
        </p:cNvPr>
        <p:cNvGrpSpPr/>
        <p:nvPr/>
      </p:nvGrpSpPr>
      <p:grpSpPr>
        <a:xfrm>
          <a:off x="0" y="0"/>
          <a:ext cx="0" cy="0"/>
          <a:chOff x="0" y="0"/>
          <a:chExt cx="0" cy="0"/>
        </a:xfrm>
      </p:grpSpPr>
      <p:sp>
        <p:nvSpPr>
          <p:cNvPr id="268" name="Google Shape;268;g2468f01b72f_0_219:notes">
            <a:extLst>
              <a:ext uri="{FF2B5EF4-FFF2-40B4-BE49-F238E27FC236}">
                <a16:creationId xmlns:a16="http://schemas.microsoft.com/office/drawing/2014/main" id="{7FEE9361-9624-EB89-3868-9C0DB4A9D0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269" name="Google Shape;269;g2468f01b72f_0_219:notes">
            <a:extLst>
              <a:ext uri="{FF2B5EF4-FFF2-40B4-BE49-F238E27FC236}">
                <a16:creationId xmlns:a16="http://schemas.microsoft.com/office/drawing/2014/main" id="{0B55DB47-90E8-5906-7EFE-C7BA2F2C33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0197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20D9C6CE-69F2-2EE5-0FE7-9353C6000201}"/>
            </a:ext>
          </a:extLst>
        </p:cNvPr>
        <p:cNvGrpSpPr/>
        <p:nvPr/>
      </p:nvGrpSpPr>
      <p:grpSpPr>
        <a:xfrm>
          <a:off x="0" y="0"/>
          <a:ext cx="0" cy="0"/>
          <a:chOff x="0" y="0"/>
          <a:chExt cx="0" cy="0"/>
        </a:xfrm>
      </p:grpSpPr>
      <p:sp>
        <p:nvSpPr>
          <p:cNvPr id="224" name="Google Shape;224;g255edab1364_0_1:notes">
            <a:extLst>
              <a:ext uri="{FF2B5EF4-FFF2-40B4-BE49-F238E27FC236}">
                <a16:creationId xmlns:a16="http://schemas.microsoft.com/office/drawing/2014/main" id="{0E3616D1-D9D1-4B2B-8EE9-FDEFEC80C7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225" name="Google Shape;225;g255edab1364_0_1:notes">
            <a:extLst>
              <a:ext uri="{FF2B5EF4-FFF2-40B4-BE49-F238E27FC236}">
                <a16:creationId xmlns:a16="http://schemas.microsoft.com/office/drawing/2014/main" id="{931E241B-8487-6142-35FD-0BE93438AC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5759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8480a69043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28480a6904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haut">
  <p:cSld name="Texte seul_1">
    <p:spTree>
      <p:nvGrpSpPr>
        <p:cNvPr id="1" name="Shape 50"/>
        <p:cNvGrpSpPr/>
        <p:nvPr/>
      </p:nvGrpSpPr>
      <p:grpSpPr>
        <a:xfrm>
          <a:off x="0" y="0"/>
          <a:ext cx="0" cy="0"/>
          <a:chOff x="0" y="0"/>
          <a:chExt cx="0" cy="0"/>
        </a:xfrm>
      </p:grpSpPr>
      <p:pic>
        <p:nvPicPr>
          <p:cNvPr id="51" name="Google Shape;51;p13" descr="logo-ICAM.jpg"/>
          <p:cNvPicPr preferRelativeResize="0"/>
          <p:nvPr/>
        </p:nvPicPr>
        <p:blipFill rotWithShape="1">
          <a:blip r:embed="rId2">
            <a:alphaModFix/>
          </a:blip>
          <a:srcRect/>
          <a:stretch/>
        </p:blipFill>
        <p:spPr>
          <a:xfrm>
            <a:off x="8106025" y="214991"/>
            <a:ext cx="540327" cy="292563"/>
          </a:xfrm>
          <a:prstGeom prst="rect">
            <a:avLst/>
          </a:prstGeom>
          <a:noFill/>
          <a:ln>
            <a:noFill/>
          </a:ln>
        </p:spPr>
      </p:pic>
      <p:pic>
        <p:nvPicPr>
          <p:cNvPr id="52" name="Google Shape;52;p13" descr="supports - decli piste-03.jpg"/>
          <p:cNvPicPr preferRelativeResize="0"/>
          <p:nvPr/>
        </p:nvPicPr>
        <p:blipFill rotWithShape="1">
          <a:blip r:embed="rId3">
            <a:alphaModFix/>
          </a:blip>
          <a:srcRect/>
          <a:stretch/>
        </p:blipFill>
        <p:spPr>
          <a:xfrm>
            <a:off x="482600" y="889451"/>
            <a:ext cx="4613135" cy="103238"/>
          </a:xfrm>
          <a:prstGeom prst="rect">
            <a:avLst/>
          </a:prstGeom>
          <a:noFill/>
          <a:ln>
            <a:noFill/>
          </a:ln>
        </p:spPr>
      </p:pic>
      <p:pic>
        <p:nvPicPr>
          <p:cNvPr id="53" name="Google Shape;53;p13" descr="petites-bandes.jpg"/>
          <p:cNvPicPr preferRelativeResize="0"/>
          <p:nvPr/>
        </p:nvPicPr>
        <p:blipFill rotWithShape="1">
          <a:blip r:embed="rId4">
            <a:alphaModFix/>
          </a:blip>
          <a:srcRect/>
          <a:stretch/>
        </p:blipFill>
        <p:spPr>
          <a:xfrm>
            <a:off x="584530" y="4654558"/>
            <a:ext cx="349388" cy="90308"/>
          </a:xfrm>
          <a:prstGeom prst="rect">
            <a:avLst/>
          </a:prstGeom>
          <a:noFill/>
          <a:ln>
            <a:noFill/>
          </a:ln>
        </p:spPr>
      </p:pic>
      <p:sp>
        <p:nvSpPr>
          <p:cNvPr id="54" name="Google Shape;54;p13"/>
          <p:cNvSpPr txBox="1">
            <a:spLocks noGrp="1"/>
          </p:cNvSpPr>
          <p:nvPr>
            <p:ph type="title"/>
          </p:nvPr>
        </p:nvSpPr>
        <p:spPr>
          <a:xfrm>
            <a:off x="482600" y="214988"/>
            <a:ext cx="7508700" cy="458400"/>
          </a:xfrm>
          <a:prstGeom prst="rect">
            <a:avLst/>
          </a:prstGeom>
          <a:noFill/>
          <a:ln>
            <a:noFill/>
          </a:ln>
        </p:spPr>
        <p:txBody>
          <a:bodyPr spcFirstLastPara="1" wrap="square" lIns="91425" tIns="91425" rIns="91425" bIns="91425" anchor="ctr" anchorCtr="0">
            <a:normAutofit/>
          </a:bodyPr>
          <a:lstStyle>
            <a:lvl1pPr marR="0" lvl="0" algn="l" rtl="0">
              <a:spcBef>
                <a:spcPts val="0"/>
              </a:spcBef>
              <a:spcAft>
                <a:spcPts val="0"/>
              </a:spcAft>
              <a:buClr>
                <a:schemeClr val="dk1"/>
              </a:buClr>
              <a:buSzPts val="3600"/>
              <a:buFont typeface="Montserrat SemiBold"/>
              <a:buNone/>
              <a:defRPr sz="3600" b="0" i="0" u="none" strike="noStrike" cap="none">
                <a:solidFill>
                  <a:schemeClr val="dk1"/>
                </a:solidFill>
                <a:latin typeface="Montserrat SemiBold"/>
                <a:ea typeface="Montserrat SemiBold"/>
                <a:cs typeface="Montserrat SemiBold"/>
                <a:sym typeface="Montserrat SemiBold"/>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a:endParaRPr/>
          </a:p>
        </p:txBody>
      </p:sp>
      <p:sp>
        <p:nvSpPr>
          <p:cNvPr id="55" name="Google Shape;55;p13"/>
          <p:cNvSpPr txBox="1">
            <a:spLocks noGrp="1"/>
          </p:cNvSpPr>
          <p:nvPr>
            <p:ph type="body" idx="1"/>
          </p:nvPr>
        </p:nvSpPr>
        <p:spPr>
          <a:xfrm>
            <a:off x="482600" y="1111988"/>
            <a:ext cx="8193000" cy="3404100"/>
          </a:xfrm>
          <a:prstGeom prst="rect">
            <a:avLst/>
          </a:prstGeom>
          <a:noFill/>
          <a:ln>
            <a:noFill/>
          </a:ln>
        </p:spPr>
        <p:txBody>
          <a:bodyPr spcFirstLastPara="1" wrap="square" lIns="91425" tIns="91425" rIns="91425" bIns="91425" anchor="t" anchorCtr="0">
            <a:norm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Montserrat Light"/>
                <a:ea typeface="Montserrat Light"/>
                <a:cs typeface="Montserrat Light"/>
                <a:sym typeface="Montserrat Light"/>
              </a:defRPr>
            </a:lvl1pPr>
            <a:lvl2pPr marL="914400" marR="0" lvl="1" indent="-406400" algn="l" rtl="0">
              <a:spcBef>
                <a:spcPts val="120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L="1371600" marR="0" lvl="2" indent="-381000" algn="l" rtl="0">
              <a:spcBef>
                <a:spcPts val="120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L="1828800" marR="0" lvl="3"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L="2286000" marR="0" lvl="4"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
        <p:nvSpPr>
          <p:cNvPr id="56" name="Google Shape;56;p13"/>
          <p:cNvSpPr txBox="1">
            <a:spLocks noGrp="1"/>
          </p:cNvSpPr>
          <p:nvPr>
            <p:ph type="body" idx="2"/>
          </p:nvPr>
        </p:nvSpPr>
        <p:spPr>
          <a:xfrm>
            <a:off x="467544" y="4801791"/>
            <a:ext cx="1800300" cy="2004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Montserrat Light"/>
                <a:ea typeface="Montserrat Light"/>
                <a:cs typeface="Montserrat Light"/>
                <a:sym typeface="Montserrat Light"/>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L="1371600" marR="0" lvl="2" indent="-381000" algn="l" rtl="0">
              <a:spcBef>
                <a:spcPts val="120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L="1828800" marR="0" lvl="3"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L="2286000" marR="0" lvl="4"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hapitre">
  <p:cSld name="Chapitre">
    <p:spTree>
      <p:nvGrpSpPr>
        <p:cNvPr id="1" name="Shape 66"/>
        <p:cNvGrpSpPr/>
        <p:nvPr/>
      </p:nvGrpSpPr>
      <p:grpSpPr>
        <a:xfrm>
          <a:off x="0" y="0"/>
          <a:ext cx="0" cy="0"/>
          <a:chOff x="0" y="0"/>
          <a:chExt cx="0" cy="0"/>
        </a:xfrm>
      </p:grpSpPr>
      <p:pic>
        <p:nvPicPr>
          <p:cNvPr id="67" name="Google Shape;67;p15" descr="logo-ICAM.jpg"/>
          <p:cNvPicPr preferRelativeResize="0"/>
          <p:nvPr/>
        </p:nvPicPr>
        <p:blipFill rotWithShape="1">
          <a:blip r:embed="rId2">
            <a:alphaModFix/>
          </a:blip>
          <a:srcRect/>
          <a:stretch/>
        </p:blipFill>
        <p:spPr>
          <a:xfrm>
            <a:off x="8063312" y="204291"/>
            <a:ext cx="540327" cy="292563"/>
          </a:xfrm>
          <a:prstGeom prst="rect">
            <a:avLst/>
          </a:prstGeom>
          <a:noFill/>
          <a:ln>
            <a:noFill/>
          </a:ln>
        </p:spPr>
      </p:pic>
      <p:pic>
        <p:nvPicPr>
          <p:cNvPr id="68" name="Google Shape;68;p15" descr="petites-bandes.jpg"/>
          <p:cNvPicPr preferRelativeResize="0"/>
          <p:nvPr/>
        </p:nvPicPr>
        <p:blipFill rotWithShape="1">
          <a:blip r:embed="rId3">
            <a:alphaModFix/>
          </a:blip>
          <a:srcRect/>
          <a:stretch/>
        </p:blipFill>
        <p:spPr>
          <a:xfrm>
            <a:off x="6549283" y="4801663"/>
            <a:ext cx="349388" cy="90308"/>
          </a:xfrm>
          <a:prstGeom prst="rect">
            <a:avLst/>
          </a:prstGeom>
          <a:noFill/>
          <a:ln>
            <a:noFill/>
          </a:ln>
        </p:spPr>
      </p:pic>
      <p:sp>
        <p:nvSpPr>
          <p:cNvPr id="69" name="Google Shape;69;p15"/>
          <p:cNvSpPr>
            <a:spLocks noGrp="1"/>
          </p:cNvSpPr>
          <p:nvPr>
            <p:ph type="pic" idx="2"/>
          </p:nvPr>
        </p:nvSpPr>
        <p:spPr>
          <a:xfrm>
            <a:off x="0" y="0"/>
            <a:ext cx="4284600" cy="5132700"/>
          </a:xfrm>
          <a:prstGeom prst="rect">
            <a:avLst/>
          </a:prstGeom>
          <a:noFill/>
          <a:ln>
            <a:noFill/>
          </a:ln>
        </p:spPr>
        <p:txBody>
          <a:bodyPr spcFirstLastPara="1" wrap="square" lIns="91425" tIns="91425" rIns="91425" bIns="91425"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Montserrat Light"/>
                <a:ea typeface="Montserrat Light"/>
                <a:cs typeface="Montserrat Light"/>
                <a:sym typeface="Montserrat Light"/>
              </a:defRPr>
            </a:lvl1pPr>
            <a:lvl2pPr marR="0" lvl="1" algn="l" rtl="0">
              <a:spcBef>
                <a:spcPts val="56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R="0" lvl="2" algn="l" rtl="0">
              <a:spcBef>
                <a:spcPts val="48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R="0" lvl="3"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R="0" lvl="4"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
        <p:nvSpPr>
          <p:cNvPr id="70" name="Google Shape;70;p15"/>
          <p:cNvSpPr txBox="1">
            <a:spLocks noGrp="1"/>
          </p:cNvSpPr>
          <p:nvPr>
            <p:ph type="title"/>
          </p:nvPr>
        </p:nvSpPr>
        <p:spPr>
          <a:xfrm>
            <a:off x="4427984" y="843558"/>
            <a:ext cx="4464600" cy="857400"/>
          </a:xfrm>
          <a:prstGeom prst="rect">
            <a:avLst/>
          </a:prstGeom>
          <a:noFill/>
          <a:ln>
            <a:noFill/>
          </a:ln>
        </p:spPr>
        <p:txBody>
          <a:bodyPr spcFirstLastPara="1" wrap="square" lIns="91425" tIns="91425" rIns="91425" bIns="91425" anchor="ctr" anchorCtr="0">
            <a:normAutofit/>
          </a:bodyPr>
          <a:lstStyle>
            <a:lvl1pPr marR="0" lvl="0" algn="l" rtl="0">
              <a:spcBef>
                <a:spcPts val="0"/>
              </a:spcBef>
              <a:spcAft>
                <a:spcPts val="0"/>
              </a:spcAft>
              <a:buClr>
                <a:srgbClr val="F9A45F"/>
              </a:buClr>
              <a:buSzPts val="2800"/>
              <a:buFont typeface="Montserrat SemiBold"/>
              <a:buNone/>
              <a:defRPr sz="2800" b="0" i="0" u="none" strike="noStrike" cap="none">
                <a:solidFill>
                  <a:srgbClr val="F9A45F"/>
                </a:solidFill>
                <a:latin typeface="Montserrat SemiBold"/>
                <a:ea typeface="Montserrat SemiBold"/>
                <a:cs typeface="Montserrat SemiBold"/>
                <a:sym typeface="Montserrat SemiBold"/>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a:endParaRPr/>
          </a:p>
        </p:txBody>
      </p:sp>
      <p:sp>
        <p:nvSpPr>
          <p:cNvPr id="71" name="Google Shape;71;p15"/>
          <p:cNvSpPr txBox="1">
            <a:spLocks noGrp="1"/>
          </p:cNvSpPr>
          <p:nvPr>
            <p:ph type="body" idx="1"/>
          </p:nvPr>
        </p:nvSpPr>
        <p:spPr>
          <a:xfrm>
            <a:off x="4427984" y="1873638"/>
            <a:ext cx="4464600" cy="2677500"/>
          </a:xfrm>
          <a:prstGeom prst="rect">
            <a:avLst/>
          </a:prstGeom>
          <a:noFill/>
          <a:ln>
            <a:noFill/>
          </a:ln>
        </p:spPr>
        <p:txBody>
          <a:bodyPr spcFirstLastPara="1" wrap="square" lIns="91425" tIns="91425" rIns="91425" bIns="91425" anchor="t" anchorCtr="0">
            <a:norm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Montserrat Light"/>
                <a:ea typeface="Montserrat Light"/>
                <a:cs typeface="Montserrat Light"/>
                <a:sym typeface="Montserrat Light"/>
              </a:defRPr>
            </a:lvl1pPr>
            <a:lvl2pPr marL="914400" marR="0" lvl="1"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2pPr>
            <a:lvl3pPr marL="1371600" marR="0" lvl="2" indent="-342900" algn="l" rtl="0">
              <a:spcBef>
                <a:spcPts val="1200"/>
              </a:spcBef>
              <a:spcAft>
                <a:spcPts val="0"/>
              </a:spcAft>
              <a:buClr>
                <a:schemeClr val="dk1"/>
              </a:buClr>
              <a:buSzPts val="1800"/>
              <a:buFont typeface="Arial"/>
              <a:buChar char="•"/>
              <a:defRPr sz="1800" b="0" i="0" u="none" strike="noStrike" cap="none">
                <a:solidFill>
                  <a:schemeClr val="dk1"/>
                </a:solidFill>
                <a:latin typeface="Montserrat Light"/>
                <a:ea typeface="Montserrat Light"/>
                <a:cs typeface="Montserrat Light"/>
                <a:sym typeface="Montserrat Light"/>
              </a:defRPr>
            </a:lvl3pPr>
            <a:lvl4pPr marL="1828800" marR="0" lvl="3" indent="-330200" algn="l" rtl="0">
              <a:spcBef>
                <a:spcPts val="1200"/>
              </a:spcBef>
              <a:spcAft>
                <a:spcPts val="0"/>
              </a:spcAft>
              <a:buClr>
                <a:schemeClr val="dk1"/>
              </a:buClr>
              <a:buSzPts val="1600"/>
              <a:buFont typeface="Arial"/>
              <a:buChar char="–"/>
              <a:defRPr sz="1600" b="0" i="0" u="none" strike="noStrike" cap="none">
                <a:solidFill>
                  <a:schemeClr val="dk1"/>
                </a:solidFill>
                <a:latin typeface="Montserrat Light"/>
                <a:ea typeface="Montserrat Light"/>
                <a:cs typeface="Montserrat Light"/>
                <a:sym typeface="Montserrat Light"/>
              </a:defRPr>
            </a:lvl4pPr>
            <a:lvl5pPr marL="2286000" marR="0" lvl="4" indent="-330200" algn="l" rtl="0">
              <a:spcBef>
                <a:spcPts val="1200"/>
              </a:spcBef>
              <a:spcAft>
                <a:spcPts val="0"/>
              </a:spcAft>
              <a:buClr>
                <a:schemeClr val="dk1"/>
              </a:buClr>
              <a:buSzPts val="1600"/>
              <a:buFont typeface="Arial"/>
              <a:buChar char="»"/>
              <a:defRPr sz="16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
        <p:nvSpPr>
          <p:cNvPr id="72" name="Google Shape;72;p15"/>
          <p:cNvSpPr txBox="1">
            <a:spLocks noGrp="1"/>
          </p:cNvSpPr>
          <p:nvPr>
            <p:ph type="body" idx="3"/>
          </p:nvPr>
        </p:nvSpPr>
        <p:spPr>
          <a:xfrm>
            <a:off x="7163199" y="4731990"/>
            <a:ext cx="1800300" cy="2004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Montserrat Light"/>
                <a:ea typeface="Montserrat Light"/>
                <a:cs typeface="Montserrat Light"/>
                <a:sym typeface="Montserrat Light"/>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L="1371600" marR="0" lvl="2" indent="-381000" algn="l" rtl="0">
              <a:spcBef>
                <a:spcPts val="120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L="1828800" marR="0" lvl="3"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L="2286000" marR="0" lvl="4"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34"/>
          <p:cNvPicPr preferRelativeResize="0"/>
          <p:nvPr/>
        </p:nvPicPr>
        <p:blipFill>
          <a:blip r:embed="rId3">
            <a:alphaModFix/>
          </a:blip>
          <a:stretch>
            <a:fillRect/>
          </a:stretch>
        </p:blipFill>
        <p:spPr>
          <a:xfrm>
            <a:off x="5377298" y="16328"/>
            <a:ext cx="3766704" cy="5143499"/>
          </a:xfrm>
          <a:prstGeom prst="rect">
            <a:avLst/>
          </a:prstGeom>
          <a:noFill/>
          <a:ln>
            <a:noFill/>
          </a:ln>
        </p:spPr>
      </p:pic>
      <p:pic>
        <p:nvPicPr>
          <p:cNvPr id="148" name="Google Shape;148;p34"/>
          <p:cNvPicPr preferRelativeResize="0"/>
          <p:nvPr/>
        </p:nvPicPr>
        <p:blipFill>
          <a:blip r:embed="rId4">
            <a:alphaModFix/>
          </a:blip>
          <a:stretch>
            <a:fillRect/>
          </a:stretch>
        </p:blipFill>
        <p:spPr>
          <a:xfrm>
            <a:off x="331525" y="316000"/>
            <a:ext cx="1442700" cy="983075"/>
          </a:xfrm>
          <a:prstGeom prst="rect">
            <a:avLst/>
          </a:prstGeom>
          <a:noFill/>
          <a:ln>
            <a:noFill/>
          </a:ln>
        </p:spPr>
      </p:pic>
      <p:sp>
        <p:nvSpPr>
          <p:cNvPr id="149" name="Google Shape;149;p34"/>
          <p:cNvSpPr txBox="1"/>
          <p:nvPr/>
        </p:nvSpPr>
        <p:spPr>
          <a:xfrm>
            <a:off x="385852" y="2571749"/>
            <a:ext cx="4886100" cy="1990258"/>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3800" dirty="0">
                <a:solidFill>
                  <a:srgbClr val="F39200"/>
                </a:solidFill>
                <a:highlight>
                  <a:srgbClr val="FFFFFF"/>
                </a:highlight>
                <a:latin typeface="Montserrat"/>
                <a:ea typeface="Montserrat"/>
                <a:cs typeface="Montserrat"/>
                <a:sym typeface="Montserrat"/>
              </a:rPr>
              <a:t>Présentation d’avancement 27/11/2025</a:t>
            </a:r>
            <a:endParaRPr sz="3800" b="1" dirty="0">
              <a:solidFill>
                <a:srgbClr val="F39200"/>
              </a:solidFill>
              <a:latin typeface="Montserrat"/>
              <a:ea typeface="Montserrat"/>
              <a:cs typeface="Montserrat"/>
              <a:sym typeface="Montserrat"/>
            </a:endParaRPr>
          </a:p>
        </p:txBody>
      </p:sp>
      <p:sp>
        <p:nvSpPr>
          <p:cNvPr id="150" name="Google Shape;150;p34"/>
          <p:cNvSpPr txBox="1"/>
          <p:nvPr/>
        </p:nvSpPr>
        <p:spPr>
          <a:xfrm>
            <a:off x="438525" y="4376800"/>
            <a:ext cx="4886100" cy="45009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500" dirty="0">
                <a:solidFill>
                  <a:srgbClr val="646363"/>
                </a:solidFill>
                <a:latin typeface="Montserrat"/>
                <a:ea typeface="Montserrat"/>
                <a:cs typeface="Montserrat"/>
                <a:sym typeface="Montserrat"/>
              </a:rPr>
              <a:t>Rosilia MODJO</a:t>
            </a:r>
            <a:endParaRPr sz="1500" dirty="0">
              <a:solidFill>
                <a:srgbClr val="646363"/>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36"/>
          <p:cNvPicPr preferRelativeResize="0"/>
          <p:nvPr/>
        </p:nvPicPr>
        <p:blipFill>
          <a:blip r:embed="rId3">
            <a:alphaModFix/>
          </a:blip>
          <a:stretch>
            <a:fillRect/>
          </a:stretch>
        </p:blipFill>
        <p:spPr>
          <a:xfrm>
            <a:off x="1" y="0"/>
            <a:ext cx="3456553" cy="4583400"/>
          </a:xfrm>
          <a:prstGeom prst="rect">
            <a:avLst/>
          </a:prstGeom>
          <a:noFill/>
          <a:ln>
            <a:noFill/>
          </a:ln>
        </p:spPr>
      </p:pic>
      <p:sp>
        <p:nvSpPr>
          <p:cNvPr id="174" name="Google Shape;174;p36"/>
          <p:cNvSpPr/>
          <p:nvPr/>
        </p:nvSpPr>
        <p:spPr>
          <a:xfrm>
            <a:off x="3473110" y="0"/>
            <a:ext cx="5715000" cy="458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 name="Google Shape;175;p36"/>
          <p:cNvSpPr txBox="1"/>
          <p:nvPr/>
        </p:nvSpPr>
        <p:spPr>
          <a:xfrm>
            <a:off x="605654" y="2203235"/>
            <a:ext cx="2850900" cy="697597"/>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3000" b="1" dirty="0">
                <a:solidFill>
                  <a:schemeClr val="lt1"/>
                </a:solidFill>
                <a:latin typeface="Montserrat"/>
                <a:ea typeface="Montserrat"/>
                <a:cs typeface="Montserrat"/>
                <a:sym typeface="Montserrat"/>
              </a:rPr>
              <a:t>SOMMAIRE</a:t>
            </a:r>
            <a:endParaRPr sz="3000" b="1" dirty="0">
              <a:solidFill>
                <a:schemeClr val="lt1"/>
              </a:solidFill>
              <a:latin typeface="Montserrat"/>
              <a:ea typeface="Montserrat"/>
              <a:cs typeface="Montserrat"/>
              <a:sym typeface="Montserrat"/>
            </a:endParaRPr>
          </a:p>
        </p:txBody>
      </p:sp>
      <p:pic>
        <p:nvPicPr>
          <p:cNvPr id="178" name="Google Shape;178;p36"/>
          <p:cNvPicPr preferRelativeResize="0"/>
          <p:nvPr/>
        </p:nvPicPr>
        <p:blipFill>
          <a:blip r:embed="rId4">
            <a:alphaModFix/>
          </a:blip>
          <a:stretch>
            <a:fillRect/>
          </a:stretch>
        </p:blipFill>
        <p:spPr>
          <a:xfrm>
            <a:off x="8035050" y="4614500"/>
            <a:ext cx="696375" cy="447700"/>
          </a:xfrm>
          <a:prstGeom prst="rect">
            <a:avLst/>
          </a:prstGeom>
          <a:noFill/>
          <a:ln>
            <a:noFill/>
          </a:ln>
        </p:spPr>
      </p:pic>
      <p:sp>
        <p:nvSpPr>
          <p:cNvPr id="184" name="Google Shape;184;p36"/>
          <p:cNvSpPr txBox="1"/>
          <p:nvPr/>
        </p:nvSpPr>
        <p:spPr>
          <a:xfrm>
            <a:off x="3909188" y="661251"/>
            <a:ext cx="594900" cy="8668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4100" b="1" dirty="0">
                <a:solidFill>
                  <a:srgbClr val="F39200"/>
                </a:solidFill>
                <a:latin typeface="Montserrat"/>
                <a:ea typeface="Montserrat"/>
                <a:cs typeface="Montserrat"/>
                <a:sym typeface="Montserrat"/>
              </a:rPr>
              <a:t>1</a:t>
            </a:r>
            <a:endParaRPr sz="4100" b="1" dirty="0">
              <a:solidFill>
                <a:srgbClr val="F39200"/>
              </a:solidFill>
              <a:latin typeface="Montserrat"/>
              <a:ea typeface="Montserrat"/>
              <a:cs typeface="Montserrat"/>
              <a:sym typeface="Montserrat"/>
            </a:endParaRPr>
          </a:p>
        </p:txBody>
      </p:sp>
      <p:sp>
        <p:nvSpPr>
          <p:cNvPr id="185" name="Google Shape;185;p36"/>
          <p:cNvSpPr txBox="1"/>
          <p:nvPr/>
        </p:nvSpPr>
        <p:spPr>
          <a:xfrm>
            <a:off x="4457300" y="794275"/>
            <a:ext cx="3813121" cy="62526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fr" sz="2200" b="1" dirty="0">
                <a:solidFill>
                  <a:srgbClr val="F39200"/>
                </a:solidFill>
                <a:latin typeface="Montserrat"/>
                <a:ea typeface="Montserrat"/>
                <a:cs typeface="Montserrat"/>
                <a:sym typeface="Montserrat"/>
              </a:rPr>
              <a:t>BILAN DE LA SEMAINE</a:t>
            </a:r>
            <a:endParaRPr sz="2200" b="1" dirty="0">
              <a:solidFill>
                <a:srgbClr val="F39200"/>
              </a:solidFill>
              <a:latin typeface="Montserrat"/>
              <a:ea typeface="Montserrat"/>
              <a:cs typeface="Montserrat"/>
              <a:sym typeface="Montserrat"/>
            </a:endParaRPr>
          </a:p>
        </p:txBody>
      </p:sp>
      <p:sp>
        <p:nvSpPr>
          <p:cNvPr id="191" name="Google Shape;191;p36"/>
          <p:cNvSpPr txBox="1"/>
          <p:nvPr/>
        </p:nvSpPr>
        <p:spPr>
          <a:xfrm>
            <a:off x="4424048" y="2011871"/>
            <a:ext cx="3813121" cy="1014606"/>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400"/>
              </a:spcAft>
              <a:buNone/>
            </a:pPr>
            <a:r>
              <a:rPr lang="fr" sz="2200" b="1" dirty="0">
                <a:solidFill>
                  <a:srgbClr val="F39200"/>
                </a:solidFill>
                <a:latin typeface="Montserrat"/>
                <a:ea typeface="Montserrat"/>
                <a:cs typeface="Montserrat"/>
                <a:sym typeface="Montserrat"/>
              </a:rPr>
              <a:t>DETAILS DES TACHES REALISEES</a:t>
            </a:r>
            <a:endParaRPr sz="2200" b="1" dirty="0">
              <a:solidFill>
                <a:srgbClr val="F39200"/>
              </a:solidFill>
              <a:latin typeface="Montserrat"/>
              <a:ea typeface="Montserrat"/>
              <a:cs typeface="Montserrat"/>
              <a:sym typeface="Montserrat"/>
            </a:endParaRPr>
          </a:p>
        </p:txBody>
      </p:sp>
      <p:sp>
        <p:nvSpPr>
          <p:cNvPr id="2" name="ZoneTexte 1">
            <a:extLst>
              <a:ext uri="{FF2B5EF4-FFF2-40B4-BE49-F238E27FC236}">
                <a16:creationId xmlns:a16="http://schemas.microsoft.com/office/drawing/2014/main" id="{22878BCD-ACF6-15AB-128E-A6E4087A70EA}"/>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1</a:t>
            </a:r>
          </a:p>
          <a:p>
            <a:endParaRPr lang="fr-CM" sz="2000" b="1" dirty="0">
              <a:latin typeface="Aharoni" panose="020F0502020204030204" pitchFamily="2" charset="-79"/>
              <a:cs typeface="Aharoni" panose="020F0502020204030204" pitchFamily="2" charset="-79"/>
            </a:endParaRPr>
          </a:p>
        </p:txBody>
      </p:sp>
      <p:sp>
        <p:nvSpPr>
          <p:cNvPr id="3" name="Google Shape;184;p36">
            <a:extLst>
              <a:ext uri="{FF2B5EF4-FFF2-40B4-BE49-F238E27FC236}">
                <a16:creationId xmlns:a16="http://schemas.microsoft.com/office/drawing/2014/main" id="{1437728D-67ED-AAFD-26FE-BFFC6782C770}"/>
              </a:ext>
            </a:extLst>
          </p:cNvPr>
          <p:cNvSpPr txBox="1"/>
          <p:nvPr/>
        </p:nvSpPr>
        <p:spPr>
          <a:xfrm>
            <a:off x="3894065" y="1849149"/>
            <a:ext cx="594900" cy="8668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4100" b="1" dirty="0">
                <a:solidFill>
                  <a:srgbClr val="F39200"/>
                </a:solidFill>
                <a:latin typeface="Montserrat"/>
                <a:ea typeface="Montserrat"/>
                <a:cs typeface="Montserrat"/>
                <a:sym typeface="Montserrat"/>
              </a:rPr>
              <a:t>2</a:t>
            </a:r>
            <a:endParaRPr sz="4100" b="1" dirty="0">
              <a:solidFill>
                <a:srgbClr val="F39200"/>
              </a:solidFill>
              <a:latin typeface="Montserrat"/>
              <a:ea typeface="Montserrat"/>
              <a:cs typeface="Montserrat"/>
              <a:sym typeface="Montserrat"/>
            </a:endParaRPr>
          </a:p>
        </p:txBody>
      </p:sp>
      <p:sp>
        <p:nvSpPr>
          <p:cNvPr id="4" name="Google Shape;184;p36">
            <a:extLst>
              <a:ext uri="{FF2B5EF4-FFF2-40B4-BE49-F238E27FC236}">
                <a16:creationId xmlns:a16="http://schemas.microsoft.com/office/drawing/2014/main" id="{7AE75580-E5DF-6EA0-EB63-11A267F60795}"/>
              </a:ext>
            </a:extLst>
          </p:cNvPr>
          <p:cNvSpPr txBox="1"/>
          <p:nvPr/>
        </p:nvSpPr>
        <p:spPr>
          <a:xfrm>
            <a:off x="3909188" y="3199769"/>
            <a:ext cx="594900" cy="8668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4100" b="1" dirty="0">
                <a:solidFill>
                  <a:srgbClr val="F39200"/>
                </a:solidFill>
                <a:latin typeface="Montserrat"/>
                <a:ea typeface="Montserrat"/>
                <a:cs typeface="Montserrat"/>
                <a:sym typeface="Montserrat"/>
              </a:rPr>
              <a:t>3</a:t>
            </a:r>
            <a:endParaRPr sz="4100" b="1" dirty="0">
              <a:solidFill>
                <a:srgbClr val="F39200"/>
              </a:solidFill>
              <a:latin typeface="Montserrat"/>
              <a:ea typeface="Montserrat"/>
              <a:cs typeface="Montserrat"/>
              <a:sym typeface="Montserrat"/>
            </a:endParaRPr>
          </a:p>
        </p:txBody>
      </p:sp>
      <p:sp>
        <p:nvSpPr>
          <p:cNvPr id="6" name="Google Shape;191;p36">
            <a:extLst>
              <a:ext uri="{FF2B5EF4-FFF2-40B4-BE49-F238E27FC236}">
                <a16:creationId xmlns:a16="http://schemas.microsoft.com/office/drawing/2014/main" id="{E247FEF7-CEA8-9364-F22A-FBD55FA44957}"/>
              </a:ext>
            </a:extLst>
          </p:cNvPr>
          <p:cNvSpPr txBox="1"/>
          <p:nvPr/>
        </p:nvSpPr>
        <p:spPr>
          <a:xfrm>
            <a:off x="4424049" y="3320571"/>
            <a:ext cx="3813121" cy="62526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fr" sz="2200" b="1" dirty="0">
                <a:solidFill>
                  <a:srgbClr val="F39200"/>
                </a:solidFill>
                <a:latin typeface="Montserrat"/>
                <a:ea typeface="Montserrat"/>
                <a:cs typeface="Montserrat"/>
                <a:sym typeface="Montserrat"/>
              </a:rPr>
              <a:t>TACHES A VENIR </a:t>
            </a:r>
            <a:endParaRPr sz="2200" b="1" dirty="0">
              <a:solidFill>
                <a:srgbClr val="F392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40"/>
          <p:cNvPicPr preferRelativeResize="0"/>
          <p:nvPr/>
        </p:nvPicPr>
        <p:blipFill>
          <a:blip r:embed="rId3">
            <a:alphaModFix/>
          </a:blip>
          <a:stretch>
            <a:fillRect/>
          </a:stretch>
        </p:blipFill>
        <p:spPr>
          <a:xfrm>
            <a:off x="5377298" y="0"/>
            <a:ext cx="3766704" cy="5143499"/>
          </a:xfrm>
          <a:prstGeom prst="rect">
            <a:avLst/>
          </a:prstGeom>
          <a:noFill/>
          <a:ln>
            <a:noFill/>
          </a:ln>
        </p:spPr>
      </p:pic>
      <p:sp>
        <p:nvSpPr>
          <p:cNvPr id="272" name="Google Shape;272;p40"/>
          <p:cNvSpPr txBox="1"/>
          <p:nvPr/>
        </p:nvSpPr>
        <p:spPr>
          <a:xfrm>
            <a:off x="438525" y="3946300"/>
            <a:ext cx="4886100" cy="6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3000" b="1" dirty="0">
                <a:solidFill>
                  <a:srgbClr val="636366"/>
                </a:solidFill>
                <a:latin typeface="Montserrat"/>
                <a:ea typeface="Montserrat"/>
                <a:cs typeface="Montserrat"/>
                <a:sym typeface="Montserrat"/>
              </a:rPr>
              <a:t>www.icam.fr</a:t>
            </a:r>
            <a:endParaRPr sz="3000" dirty="0">
              <a:solidFill>
                <a:srgbClr val="F39200"/>
              </a:solidFill>
              <a:latin typeface="Montserrat"/>
              <a:ea typeface="Montserrat"/>
              <a:cs typeface="Montserrat"/>
              <a:sym typeface="Montserrat"/>
            </a:endParaRPr>
          </a:p>
        </p:txBody>
      </p:sp>
      <p:sp>
        <p:nvSpPr>
          <p:cNvPr id="273" name="Google Shape;273;p40"/>
          <p:cNvSpPr txBox="1"/>
          <p:nvPr/>
        </p:nvSpPr>
        <p:spPr>
          <a:xfrm>
            <a:off x="438525" y="3414400"/>
            <a:ext cx="48861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600" dirty="0">
                <a:solidFill>
                  <a:srgbClr val="F29403"/>
                </a:solidFill>
                <a:latin typeface="Montserrat"/>
                <a:ea typeface="Montserrat"/>
                <a:cs typeface="Montserrat"/>
                <a:sym typeface="Montserrat"/>
              </a:rPr>
              <a:t>icam.fr/reseaux-sociaux</a:t>
            </a:r>
            <a:endParaRPr sz="1600" dirty="0">
              <a:solidFill>
                <a:srgbClr val="646363"/>
              </a:solidFill>
              <a:latin typeface="Montserrat"/>
              <a:ea typeface="Montserrat"/>
              <a:cs typeface="Montserrat"/>
              <a:sym typeface="Montserrat"/>
            </a:endParaRPr>
          </a:p>
        </p:txBody>
      </p:sp>
      <p:pic>
        <p:nvPicPr>
          <p:cNvPr id="274" name="Google Shape;274;p40"/>
          <p:cNvPicPr preferRelativeResize="0"/>
          <p:nvPr/>
        </p:nvPicPr>
        <p:blipFill>
          <a:blip r:embed="rId4">
            <a:alphaModFix/>
          </a:blip>
          <a:stretch>
            <a:fillRect/>
          </a:stretch>
        </p:blipFill>
        <p:spPr>
          <a:xfrm>
            <a:off x="438525" y="3017909"/>
            <a:ext cx="478471" cy="474131"/>
          </a:xfrm>
          <a:prstGeom prst="rect">
            <a:avLst/>
          </a:prstGeom>
          <a:noFill/>
          <a:ln>
            <a:noFill/>
          </a:ln>
        </p:spPr>
      </p:pic>
      <p:pic>
        <p:nvPicPr>
          <p:cNvPr id="275" name="Google Shape;275;p40"/>
          <p:cNvPicPr preferRelativeResize="0"/>
          <p:nvPr/>
        </p:nvPicPr>
        <p:blipFill>
          <a:blip r:embed="rId5">
            <a:alphaModFix/>
          </a:blip>
          <a:stretch>
            <a:fillRect/>
          </a:stretch>
        </p:blipFill>
        <p:spPr>
          <a:xfrm>
            <a:off x="916998" y="2990350"/>
            <a:ext cx="478471" cy="474131"/>
          </a:xfrm>
          <a:prstGeom prst="rect">
            <a:avLst/>
          </a:prstGeom>
          <a:noFill/>
          <a:ln>
            <a:noFill/>
          </a:ln>
        </p:spPr>
      </p:pic>
      <p:pic>
        <p:nvPicPr>
          <p:cNvPr id="276" name="Google Shape;276;p40"/>
          <p:cNvPicPr preferRelativeResize="0"/>
          <p:nvPr/>
        </p:nvPicPr>
        <p:blipFill>
          <a:blip r:embed="rId6">
            <a:alphaModFix/>
          </a:blip>
          <a:stretch>
            <a:fillRect/>
          </a:stretch>
        </p:blipFill>
        <p:spPr>
          <a:xfrm>
            <a:off x="1367929" y="2990344"/>
            <a:ext cx="478471" cy="474131"/>
          </a:xfrm>
          <a:prstGeom prst="rect">
            <a:avLst/>
          </a:prstGeom>
          <a:noFill/>
          <a:ln>
            <a:noFill/>
          </a:ln>
        </p:spPr>
      </p:pic>
      <p:pic>
        <p:nvPicPr>
          <p:cNvPr id="277" name="Google Shape;277;p40"/>
          <p:cNvPicPr preferRelativeResize="0"/>
          <p:nvPr/>
        </p:nvPicPr>
        <p:blipFill>
          <a:blip r:embed="rId7">
            <a:alphaModFix/>
          </a:blip>
          <a:stretch>
            <a:fillRect/>
          </a:stretch>
        </p:blipFill>
        <p:spPr>
          <a:xfrm>
            <a:off x="1926304" y="3017911"/>
            <a:ext cx="478471" cy="474131"/>
          </a:xfrm>
          <a:prstGeom prst="rect">
            <a:avLst/>
          </a:prstGeom>
          <a:noFill/>
          <a:ln>
            <a:noFill/>
          </a:ln>
        </p:spPr>
      </p:pic>
      <p:sp>
        <p:nvSpPr>
          <p:cNvPr id="2" name="Google Shape;272;p40">
            <a:extLst>
              <a:ext uri="{FF2B5EF4-FFF2-40B4-BE49-F238E27FC236}">
                <a16:creationId xmlns:a16="http://schemas.microsoft.com/office/drawing/2014/main" id="{4D003C2F-3386-71E6-B25D-2F94677C17C7}"/>
              </a:ext>
            </a:extLst>
          </p:cNvPr>
          <p:cNvSpPr txBox="1"/>
          <p:nvPr/>
        </p:nvSpPr>
        <p:spPr>
          <a:xfrm>
            <a:off x="2165539" y="1480883"/>
            <a:ext cx="4886100" cy="1600408"/>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fr" sz="4000" b="1" dirty="0">
                <a:solidFill>
                  <a:srgbClr val="636366"/>
                </a:solidFill>
                <a:latin typeface="Montserrat"/>
                <a:ea typeface="Montserrat"/>
                <a:cs typeface="Montserrat"/>
                <a:sym typeface="Montserrat"/>
              </a:rPr>
              <a:t>BILAN DE LA SEMAINE </a:t>
            </a:r>
            <a:endParaRPr sz="4000" dirty="0">
              <a:solidFill>
                <a:srgbClr val="F39200"/>
              </a:solidFill>
              <a:latin typeface="Montserrat"/>
              <a:ea typeface="Montserrat"/>
              <a:cs typeface="Montserrat"/>
              <a:sym typeface="Montserrat"/>
            </a:endParaRPr>
          </a:p>
        </p:txBody>
      </p:sp>
      <p:sp>
        <p:nvSpPr>
          <p:cNvPr id="8" name="ZoneTexte 7">
            <a:extLst>
              <a:ext uri="{FF2B5EF4-FFF2-40B4-BE49-F238E27FC236}">
                <a16:creationId xmlns:a16="http://schemas.microsoft.com/office/drawing/2014/main" id="{09D139B3-B71C-2712-1480-1C4ED361F9F1}"/>
              </a:ext>
            </a:extLst>
          </p:cNvPr>
          <p:cNvSpPr txBox="1"/>
          <p:nvPr/>
        </p:nvSpPr>
        <p:spPr>
          <a:xfrm>
            <a:off x="590424" y="4592800"/>
            <a:ext cx="653143" cy="400110"/>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97FE33F-EE0E-6595-3566-84E2E71EE685}"/>
              </a:ext>
            </a:extLst>
          </p:cNvPr>
          <p:cNvSpPr>
            <a:spLocks noGrp="1"/>
          </p:cNvSpPr>
          <p:nvPr>
            <p:ph type="body" idx="1"/>
          </p:nvPr>
        </p:nvSpPr>
        <p:spPr/>
        <p:txBody>
          <a:bodyPr>
            <a:normAutofit fontScale="92500"/>
          </a:bodyPr>
          <a:lstStyle/>
          <a:p>
            <a:pPr marL="514350" indent="-285750">
              <a:buFont typeface="Arial" panose="020B0604020202020204" pitchFamily="34" charset="0"/>
              <a:buChar char="•"/>
            </a:pPr>
            <a:r>
              <a:rPr lang="fr-CM" b="1" dirty="0"/>
              <a:t>Ajustement de la fréquence lors du changement de bande de fréquence</a:t>
            </a:r>
          </a:p>
          <a:p>
            <a:pPr marL="514350" indent="-285750">
              <a:buFont typeface="Arial" panose="020B0604020202020204" pitchFamily="34" charset="0"/>
              <a:buChar char="•"/>
            </a:pPr>
            <a:r>
              <a:rPr lang="fr-CM" b="1" dirty="0"/>
              <a:t>Ajustement des limites </a:t>
            </a:r>
            <a:r>
              <a:rPr lang="fr-CM" b="1" dirty="0" err="1"/>
              <a:t>theta</a:t>
            </a:r>
            <a:r>
              <a:rPr lang="fr-CM" b="1" dirty="0"/>
              <a:t> de TSM et SSA1 à 0.1° &lt; </a:t>
            </a:r>
            <a:r>
              <a:rPr lang="fr-CM" b="1" dirty="0" err="1"/>
              <a:t>theta</a:t>
            </a:r>
            <a:r>
              <a:rPr lang="fr-CM" b="1" dirty="0"/>
              <a:t> &lt;70°</a:t>
            </a:r>
          </a:p>
          <a:p>
            <a:pPr marL="514350" indent="-285750">
              <a:buFont typeface="Arial" panose="020B0604020202020204" pitchFamily="34" charset="0"/>
              <a:buChar char="•"/>
            </a:pPr>
            <a:r>
              <a:rPr lang="fr-CM" b="1" dirty="0"/>
              <a:t>Résolution de l’ambiguïté entre les </a:t>
            </a:r>
            <a:r>
              <a:rPr lang="fr-CM" b="1" dirty="0" err="1"/>
              <a:t>fetch</a:t>
            </a:r>
            <a:r>
              <a:rPr lang="fr-CM" b="1" dirty="0"/>
              <a:t> des deux onglets</a:t>
            </a:r>
          </a:p>
          <a:p>
            <a:pPr marL="514350" indent="-285750">
              <a:buFont typeface="Arial" panose="020B0604020202020204" pitchFamily="34" charset="0"/>
              <a:buChar char="•"/>
            </a:pPr>
            <a:r>
              <a:rPr lang="fr-CM" b="1" dirty="0"/>
              <a:t>Résolution des problèmes d’implémentation de TSM et SSA1</a:t>
            </a:r>
          </a:p>
          <a:p>
            <a:pPr marL="514350" indent="-285750">
              <a:buFont typeface="Arial" panose="020B0604020202020204" pitchFamily="34" charset="0"/>
              <a:buChar char="•"/>
            </a:pPr>
            <a:r>
              <a:rPr lang="fr-CM" b="1" dirty="0"/>
              <a:t>Résolution d’un bug avec l’affichage des notes de validations des modèles</a:t>
            </a:r>
          </a:p>
          <a:p>
            <a:pPr marL="514350" indent="-285750">
              <a:buFont typeface="Arial" panose="020B0604020202020204" pitchFamily="34" charset="0"/>
              <a:buChar char="•"/>
            </a:pPr>
            <a:r>
              <a:rPr lang="fr-CM" b="1" dirty="0"/>
              <a:t>Résolution du bug d’inversion des précisions single et double</a:t>
            </a:r>
          </a:p>
          <a:p>
            <a:pPr marL="514350" indent="-285750">
              <a:buFont typeface="Arial" panose="020B0604020202020204" pitchFamily="34" charset="0"/>
              <a:buChar char="•"/>
            </a:pPr>
            <a:r>
              <a:rPr lang="fr-CM" b="1" dirty="0"/>
              <a:t>Implémentation de la v2 de la fonction </a:t>
            </a:r>
            <a:r>
              <a:rPr lang="fr-CM" b="1" i="1" dirty="0"/>
              <a:t>f_GeneSurfMer3D_Fetch_Elfo</a:t>
            </a:r>
          </a:p>
          <a:p>
            <a:pPr marL="514350" indent="-285750">
              <a:buFont typeface="Arial" panose="020B0604020202020204" pitchFamily="34" charset="0"/>
              <a:buChar char="•"/>
            </a:pPr>
            <a:endParaRPr lang="fr-CM" b="1" i="1" dirty="0"/>
          </a:p>
        </p:txBody>
      </p:sp>
      <p:sp>
        <p:nvSpPr>
          <p:cNvPr id="4" name="Espace réservé du texte 3">
            <a:extLst>
              <a:ext uri="{FF2B5EF4-FFF2-40B4-BE49-F238E27FC236}">
                <a16:creationId xmlns:a16="http://schemas.microsoft.com/office/drawing/2014/main" id="{DE431819-5224-6127-7474-2B7032D95658}"/>
              </a:ext>
            </a:extLst>
          </p:cNvPr>
          <p:cNvSpPr>
            <a:spLocks noGrp="1"/>
          </p:cNvSpPr>
          <p:nvPr>
            <p:ph type="body" idx="2"/>
          </p:nvPr>
        </p:nvSpPr>
        <p:spPr>
          <a:xfrm>
            <a:off x="344897" y="4516088"/>
            <a:ext cx="1100182" cy="627412"/>
          </a:xfrm>
        </p:spPr>
        <p:txBody>
          <a:bodyPr>
            <a:noAutofit/>
          </a:bodyPr>
          <a:lstStyle/>
          <a:p>
            <a:r>
              <a:rPr lang="fr-CM" sz="2000" b="1" dirty="0">
                <a:latin typeface="Aharoni" panose="020F0502020204030204" pitchFamily="2" charset="-79"/>
                <a:cs typeface="Aharoni" panose="020F0502020204030204" pitchFamily="2" charset="-79"/>
              </a:rPr>
              <a:t>3</a:t>
            </a:r>
          </a:p>
          <a:p>
            <a:endParaRPr lang="fr-CM" sz="2000" b="1" dirty="0">
              <a:latin typeface="Aharoni" panose="020F0502020204030204" pitchFamily="2" charset="-79"/>
              <a:cs typeface="Aharoni" panose="020F0502020204030204" pitchFamily="2" charset="-79"/>
            </a:endParaRPr>
          </a:p>
        </p:txBody>
      </p:sp>
      <p:sp>
        <p:nvSpPr>
          <p:cNvPr id="2" name="Titre 1">
            <a:extLst>
              <a:ext uri="{FF2B5EF4-FFF2-40B4-BE49-F238E27FC236}">
                <a16:creationId xmlns:a16="http://schemas.microsoft.com/office/drawing/2014/main" id="{4D2E3858-F9EE-B384-CD95-75748071BC7B}"/>
              </a:ext>
            </a:extLst>
          </p:cNvPr>
          <p:cNvSpPr>
            <a:spLocks noGrp="1"/>
          </p:cNvSpPr>
          <p:nvPr>
            <p:ph type="title"/>
          </p:nvPr>
        </p:nvSpPr>
        <p:spPr>
          <a:xfrm>
            <a:off x="482600" y="214988"/>
            <a:ext cx="7508700" cy="458400"/>
          </a:xfrm>
        </p:spPr>
        <p:txBody>
          <a:bodyPr>
            <a:normAutofit fontScale="90000"/>
          </a:bodyPr>
          <a:lstStyle/>
          <a:p>
            <a:r>
              <a:rPr lang="fr-CM" dirty="0"/>
              <a:t>BILAN DE LA SEMAINE</a:t>
            </a:r>
          </a:p>
        </p:txBody>
      </p:sp>
    </p:spTree>
    <p:extLst>
      <p:ext uri="{BB962C8B-B14F-4D97-AF65-F5344CB8AC3E}">
        <p14:creationId xmlns:p14="http://schemas.microsoft.com/office/powerpoint/2010/main" val="2703003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BF137-A010-8425-1C0F-70D728310F29}"/>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9C2965DE-5B02-6509-D49C-3AFCDC8E3620}"/>
              </a:ext>
            </a:extLst>
          </p:cNvPr>
          <p:cNvSpPr>
            <a:spLocks noGrp="1"/>
          </p:cNvSpPr>
          <p:nvPr>
            <p:ph type="body" idx="1"/>
          </p:nvPr>
        </p:nvSpPr>
        <p:spPr/>
        <p:txBody>
          <a:bodyPr>
            <a:normAutofit/>
          </a:bodyPr>
          <a:lstStyle/>
          <a:p>
            <a:pPr marL="514350" indent="-285750">
              <a:buFont typeface="Arial" panose="020B0604020202020204" pitchFamily="34" charset="0"/>
              <a:buChar char="•"/>
            </a:pPr>
            <a:r>
              <a:rPr lang="fr-CM" b="1" dirty="0"/>
              <a:t>Implémentation de la v2 de la fonction </a:t>
            </a:r>
            <a:r>
              <a:rPr lang="fr-CM" b="1" i="1" dirty="0"/>
              <a:t>f_Nrcs_3dMono_StatisticSea_TSM_Elfo_Gauss_Fetch</a:t>
            </a:r>
          </a:p>
          <a:p>
            <a:pPr marL="514350" indent="-285750">
              <a:buFont typeface="Arial" panose="020B0604020202020204" pitchFamily="34" charset="0"/>
              <a:buChar char="•"/>
            </a:pPr>
            <a:r>
              <a:rPr lang="fr-CM" b="1" dirty="0"/>
              <a:t>Ajustement des types de traits utilisés lors de la superposition des courbes et gestion de l’affichage de la légende </a:t>
            </a:r>
          </a:p>
          <a:p>
            <a:pPr marL="514350" indent="-285750">
              <a:buFont typeface="Arial" panose="020B0604020202020204" pitchFamily="34" charset="0"/>
              <a:buChar char="•"/>
            </a:pPr>
            <a:r>
              <a:rPr lang="fr-CM" b="1" dirty="0"/>
              <a:t>Implémentation de la version de la fonction SSA1 prenant en compte le </a:t>
            </a:r>
            <a:r>
              <a:rPr lang="fr-CM" b="1" dirty="0" err="1"/>
              <a:t>fetch</a:t>
            </a:r>
            <a:endParaRPr lang="fr-CM" b="1" dirty="0"/>
          </a:p>
          <a:p>
            <a:pPr marL="514350" indent="-285750">
              <a:buFont typeface="Arial" panose="020B0604020202020204" pitchFamily="34" charset="0"/>
              <a:buChar char="•"/>
            </a:pPr>
            <a:r>
              <a:rPr lang="fr-CM" b="1" dirty="0"/>
              <a:t>Vérification de la pertinence des </a:t>
            </a:r>
            <a:r>
              <a:rPr lang="fr-CM" b="1" dirty="0" err="1"/>
              <a:t>clear</a:t>
            </a:r>
            <a:r>
              <a:rPr lang="fr-CM" b="1" dirty="0"/>
              <a:t> dans la fonction de génération de surface </a:t>
            </a:r>
          </a:p>
        </p:txBody>
      </p:sp>
      <p:sp>
        <p:nvSpPr>
          <p:cNvPr id="4" name="Espace réservé du texte 3">
            <a:extLst>
              <a:ext uri="{FF2B5EF4-FFF2-40B4-BE49-F238E27FC236}">
                <a16:creationId xmlns:a16="http://schemas.microsoft.com/office/drawing/2014/main" id="{E176E474-4686-7F12-3148-99359E2B03BA}"/>
              </a:ext>
            </a:extLst>
          </p:cNvPr>
          <p:cNvSpPr>
            <a:spLocks noGrp="1"/>
          </p:cNvSpPr>
          <p:nvPr>
            <p:ph type="body" idx="2"/>
          </p:nvPr>
        </p:nvSpPr>
        <p:spPr>
          <a:xfrm>
            <a:off x="344897" y="4516088"/>
            <a:ext cx="1100182" cy="627412"/>
          </a:xfrm>
        </p:spPr>
        <p:txBody>
          <a:bodyPr>
            <a:noAutofit/>
          </a:bodyPr>
          <a:lstStyle/>
          <a:p>
            <a:r>
              <a:rPr lang="fr-CM" sz="2000" b="1" dirty="0">
                <a:latin typeface="Aharoni" panose="020F0502020204030204" pitchFamily="2" charset="-79"/>
                <a:cs typeface="Aharoni" panose="020F0502020204030204" pitchFamily="2" charset="-79"/>
              </a:rPr>
              <a:t>4</a:t>
            </a:r>
          </a:p>
          <a:p>
            <a:endParaRPr lang="fr-CM" sz="2000" b="1" dirty="0">
              <a:latin typeface="Aharoni" panose="020F0502020204030204" pitchFamily="2" charset="-79"/>
              <a:cs typeface="Aharoni" panose="020F0502020204030204" pitchFamily="2" charset="-79"/>
            </a:endParaRPr>
          </a:p>
        </p:txBody>
      </p:sp>
      <p:sp>
        <p:nvSpPr>
          <p:cNvPr id="2" name="Titre 1">
            <a:extLst>
              <a:ext uri="{FF2B5EF4-FFF2-40B4-BE49-F238E27FC236}">
                <a16:creationId xmlns:a16="http://schemas.microsoft.com/office/drawing/2014/main" id="{9A2649FD-635A-C92A-50F9-115094E54AD0}"/>
              </a:ext>
            </a:extLst>
          </p:cNvPr>
          <p:cNvSpPr>
            <a:spLocks noGrp="1"/>
          </p:cNvSpPr>
          <p:nvPr>
            <p:ph type="title"/>
          </p:nvPr>
        </p:nvSpPr>
        <p:spPr>
          <a:xfrm>
            <a:off x="482600" y="214988"/>
            <a:ext cx="7508700" cy="458400"/>
          </a:xfrm>
        </p:spPr>
        <p:txBody>
          <a:bodyPr>
            <a:normAutofit fontScale="90000"/>
          </a:bodyPr>
          <a:lstStyle/>
          <a:p>
            <a:r>
              <a:rPr lang="fr-CM" dirty="0"/>
              <a:t>BILAN DE LA SEMAINE</a:t>
            </a:r>
          </a:p>
        </p:txBody>
      </p:sp>
    </p:spTree>
    <p:extLst>
      <p:ext uri="{BB962C8B-B14F-4D97-AF65-F5344CB8AC3E}">
        <p14:creationId xmlns:p14="http://schemas.microsoft.com/office/powerpoint/2010/main" val="3902136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857A21E4-36FB-45A4-B653-0885D491669B}"/>
            </a:ext>
          </a:extLst>
        </p:cNvPr>
        <p:cNvGrpSpPr/>
        <p:nvPr/>
      </p:nvGrpSpPr>
      <p:grpSpPr>
        <a:xfrm>
          <a:off x="0" y="0"/>
          <a:ext cx="0" cy="0"/>
          <a:chOff x="0" y="0"/>
          <a:chExt cx="0" cy="0"/>
        </a:xfrm>
      </p:grpSpPr>
      <p:pic>
        <p:nvPicPr>
          <p:cNvPr id="271" name="Google Shape;271;p40">
            <a:extLst>
              <a:ext uri="{FF2B5EF4-FFF2-40B4-BE49-F238E27FC236}">
                <a16:creationId xmlns:a16="http://schemas.microsoft.com/office/drawing/2014/main" id="{48129860-581C-B2D7-2E17-129CA8B245BA}"/>
              </a:ext>
            </a:extLst>
          </p:cNvPr>
          <p:cNvPicPr preferRelativeResize="0"/>
          <p:nvPr/>
        </p:nvPicPr>
        <p:blipFill>
          <a:blip r:embed="rId3">
            <a:alphaModFix/>
          </a:blip>
          <a:stretch>
            <a:fillRect/>
          </a:stretch>
        </p:blipFill>
        <p:spPr>
          <a:xfrm>
            <a:off x="5377298" y="0"/>
            <a:ext cx="3766704" cy="5143499"/>
          </a:xfrm>
          <a:prstGeom prst="rect">
            <a:avLst/>
          </a:prstGeom>
          <a:noFill/>
          <a:ln>
            <a:noFill/>
          </a:ln>
        </p:spPr>
      </p:pic>
      <p:sp>
        <p:nvSpPr>
          <p:cNvPr id="273" name="Google Shape;273;p40">
            <a:extLst>
              <a:ext uri="{FF2B5EF4-FFF2-40B4-BE49-F238E27FC236}">
                <a16:creationId xmlns:a16="http://schemas.microsoft.com/office/drawing/2014/main" id="{F7948FE7-1B59-CF82-E3A3-164F1DEBAF7C}"/>
              </a:ext>
            </a:extLst>
          </p:cNvPr>
          <p:cNvSpPr txBox="1"/>
          <p:nvPr/>
        </p:nvSpPr>
        <p:spPr>
          <a:xfrm>
            <a:off x="867383" y="4561810"/>
            <a:ext cx="48861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600" dirty="0">
                <a:solidFill>
                  <a:srgbClr val="F29403"/>
                </a:solidFill>
                <a:latin typeface="Montserrat"/>
                <a:ea typeface="Montserrat"/>
                <a:cs typeface="Montserrat"/>
                <a:sym typeface="Montserrat"/>
              </a:rPr>
              <a:t>icam.fr/reseaux-sociaux</a:t>
            </a:r>
            <a:endParaRPr sz="1600" dirty="0">
              <a:solidFill>
                <a:srgbClr val="646363"/>
              </a:solidFill>
              <a:latin typeface="Montserrat"/>
              <a:ea typeface="Montserrat"/>
              <a:cs typeface="Montserrat"/>
              <a:sym typeface="Montserrat"/>
            </a:endParaRPr>
          </a:p>
        </p:txBody>
      </p:sp>
      <p:sp>
        <p:nvSpPr>
          <p:cNvPr id="2" name="Google Shape;272;p40">
            <a:extLst>
              <a:ext uri="{FF2B5EF4-FFF2-40B4-BE49-F238E27FC236}">
                <a16:creationId xmlns:a16="http://schemas.microsoft.com/office/drawing/2014/main" id="{D78742D0-C620-9378-FBDD-AB3126D1351B}"/>
              </a:ext>
            </a:extLst>
          </p:cNvPr>
          <p:cNvSpPr txBox="1"/>
          <p:nvPr/>
        </p:nvSpPr>
        <p:spPr>
          <a:xfrm>
            <a:off x="460146" y="1855163"/>
            <a:ext cx="6613114" cy="1467038"/>
          </a:xfrm>
          <a:prstGeom prst="rect">
            <a:avLst/>
          </a:prstGeom>
          <a:noFill/>
          <a:ln>
            <a:noFill/>
          </a:ln>
        </p:spPr>
        <p:txBody>
          <a:bodyPr spcFirstLastPara="1" wrap="square" lIns="91425" tIns="91425" rIns="91425" bIns="91425" anchor="t" anchorCtr="0">
            <a:spAutoFit/>
          </a:bodyPr>
          <a:lstStyle/>
          <a:p>
            <a:pPr lvl="0" algn="ctr">
              <a:spcAft>
                <a:spcPts val="400"/>
              </a:spcAft>
            </a:pPr>
            <a:r>
              <a:rPr lang="fr-FR" sz="4000" b="1" dirty="0">
                <a:solidFill>
                  <a:schemeClr val="tx1"/>
                </a:solidFill>
                <a:latin typeface="Montserrat"/>
                <a:ea typeface="Montserrat"/>
                <a:cs typeface="Montserrat"/>
                <a:sym typeface="Montserrat"/>
              </a:rPr>
              <a:t>DETAILS DES TACHES  REALISEES</a:t>
            </a:r>
          </a:p>
        </p:txBody>
      </p:sp>
      <p:sp>
        <p:nvSpPr>
          <p:cNvPr id="8" name="ZoneTexte 7">
            <a:extLst>
              <a:ext uri="{FF2B5EF4-FFF2-40B4-BE49-F238E27FC236}">
                <a16:creationId xmlns:a16="http://schemas.microsoft.com/office/drawing/2014/main" id="{F09FD26D-2DE7-631D-8069-47A7455C2F30}"/>
              </a:ext>
            </a:extLst>
          </p:cNvPr>
          <p:cNvSpPr txBox="1"/>
          <p:nvPr/>
        </p:nvSpPr>
        <p:spPr>
          <a:xfrm>
            <a:off x="590424" y="4592800"/>
            <a:ext cx="653143" cy="400110"/>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5</a:t>
            </a:r>
          </a:p>
        </p:txBody>
      </p:sp>
    </p:spTree>
    <p:extLst>
      <p:ext uri="{BB962C8B-B14F-4D97-AF65-F5344CB8AC3E}">
        <p14:creationId xmlns:p14="http://schemas.microsoft.com/office/powerpoint/2010/main" val="291052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4C4F5F-A49B-7C82-20E5-295A56B97DC1}"/>
              </a:ext>
            </a:extLst>
          </p:cNvPr>
          <p:cNvSpPr>
            <a:spLocks noGrp="1"/>
          </p:cNvSpPr>
          <p:nvPr>
            <p:ph type="title"/>
          </p:nvPr>
        </p:nvSpPr>
        <p:spPr/>
        <p:txBody>
          <a:bodyPr>
            <a:normAutofit fontScale="90000"/>
          </a:bodyPr>
          <a:lstStyle/>
          <a:p>
            <a:r>
              <a:rPr lang="fr-CM" b="1" dirty="0">
                <a:latin typeface="Montserrat" panose="00000500000000000000" pitchFamily="2" charset="0"/>
              </a:rPr>
              <a:t>TRAVAUX REALISES</a:t>
            </a:r>
          </a:p>
        </p:txBody>
      </p:sp>
      <p:sp>
        <p:nvSpPr>
          <p:cNvPr id="3" name="Espace réservé du texte 2">
            <a:extLst>
              <a:ext uri="{FF2B5EF4-FFF2-40B4-BE49-F238E27FC236}">
                <a16:creationId xmlns:a16="http://schemas.microsoft.com/office/drawing/2014/main" id="{A8A89553-F360-B5AE-6A0D-1F5A858C2E1F}"/>
              </a:ext>
            </a:extLst>
          </p:cNvPr>
          <p:cNvSpPr>
            <a:spLocks noGrp="1"/>
          </p:cNvSpPr>
          <p:nvPr>
            <p:ph type="body" idx="1"/>
          </p:nvPr>
        </p:nvSpPr>
        <p:spPr/>
        <p:txBody>
          <a:bodyPr>
            <a:normAutofit lnSpcReduction="10000"/>
          </a:bodyPr>
          <a:lstStyle/>
          <a:p>
            <a:r>
              <a:rPr lang="fr-FR" b="1" dirty="0">
                <a:solidFill>
                  <a:srgbClr val="636366"/>
                </a:solidFill>
                <a:latin typeface="Montserrat"/>
                <a:ea typeface="Montserrat"/>
                <a:cs typeface="Montserrat"/>
                <a:sym typeface="Montserrat"/>
              </a:rPr>
              <a:t>Modifications sur l’interface </a:t>
            </a: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r>
              <a:rPr kumimoji="0" lang="fr-CM" sz="1700" b="1" i="0" u="none" strike="noStrike" kern="0" cap="none" spc="0" normalizeH="0" baseline="0" noProof="0" dirty="0">
                <a:ln>
                  <a:noFill/>
                </a:ln>
                <a:solidFill>
                  <a:srgbClr val="000000"/>
                </a:solidFill>
                <a:effectLst/>
                <a:uLnTx/>
                <a:uFillTx/>
                <a:latin typeface="Montserrat Light"/>
                <a:sym typeface="Montserrat Light"/>
              </a:rPr>
              <a:t>Ajustement de la fréquence lors du changement de bande de fréquence </a:t>
            </a:r>
            <a:r>
              <a:rPr kumimoji="0" lang="fr-CM" sz="1700" i="0" u="none" strike="noStrike" kern="0" cap="none" spc="0" normalizeH="0" baseline="0" noProof="0" dirty="0">
                <a:ln>
                  <a:noFill/>
                </a:ln>
                <a:solidFill>
                  <a:srgbClr val="000000"/>
                </a:solidFill>
                <a:effectLst/>
                <a:uLnTx/>
                <a:uFillTx/>
                <a:latin typeface="Montserrat Light"/>
                <a:sym typeface="Montserrat Light"/>
              </a:rPr>
              <a:t>:</a:t>
            </a:r>
          </a:p>
          <a:p>
            <a:pPr marL="228600" marR="0" lvl="0" indent="0" algn="l" defTabSz="914400" rtl="0" eaLnBrk="1" fontAlgn="auto" latinLnBrk="0" hangingPunct="1">
              <a:lnSpc>
                <a:spcPct val="115000"/>
              </a:lnSpc>
              <a:spcBef>
                <a:spcPts val="360"/>
              </a:spcBef>
              <a:spcAft>
                <a:spcPts val="0"/>
              </a:spcAft>
              <a:buClr>
                <a:srgbClr val="000000"/>
              </a:buClr>
              <a:buSzPts val="1800"/>
              <a:buNone/>
              <a:tabLst/>
              <a:defRPr/>
            </a:pPr>
            <a:r>
              <a:rPr lang="fr-CM" sz="1700" dirty="0">
                <a:solidFill>
                  <a:srgbClr val="000000"/>
                </a:solidFill>
                <a:latin typeface="Montserrat Light"/>
                <a:sym typeface="Montserrat Light"/>
              </a:rPr>
              <a:t>Lorsqu’on change de bande de fréquence, la fréquence s’ajuste automatiquement et prend la valeur centrale de la bande sélectionnée</a:t>
            </a:r>
            <a:endParaRPr kumimoji="0" lang="fr-CM" sz="1700"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r>
              <a:rPr kumimoji="0" lang="fr-CM" sz="1700" b="1" i="0" u="none" strike="noStrike" kern="0" cap="none" spc="0" normalizeH="0" baseline="0" noProof="0" dirty="0">
                <a:ln>
                  <a:noFill/>
                </a:ln>
                <a:solidFill>
                  <a:srgbClr val="000000"/>
                </a:solidFill>
                <a:effectLst/>
                <a:uLnTx/>
                <a:uFillTx/>
                <a:latin typeface="Montserrat Light"/>
                <a:sym typeface="Montserrat Light"/>
              </a:rPr>
              <a:t>Ajustement des limites </a:t>
            </a:r>
            <a:r>
              <a:rPr kumimoji="0" lang="fr-CM" sz="1700" b="1" i="0" u="none" strike="noStrike" kern="0" cap="none" spc="0" normalizeH="0" baseline="0" noProof="0" dirty="0" err="1">
                <a:ln>
                  <a:noFill/>
                </a:ln>
                <a:solidFill>
                  <a:srgbClr val="000000"/>
                </a:solidFill>
                <a:effectLst/>
                <a:uLnTx/>
                <a:uFillTx/>
                <a:latin typeface="Montserrat Light"/>
                <a:sym typeface="Montserrat Light"/>
              </a:rPr>
              <a:t>theta</a:t>
            </a:r>
            <a:r>
              <a:rPr kumimoji="0" lang="fr-CM" sz="1700" b="1" i="0" u="none" strike="noStrike" kern="0" cap="none" spc="0" normalizeH="0" baseline="0" noProof="0" dirty="0">
                <a:ln>
                  <a:noFill/>
                </a:ln>
                <a:solidFill>
                  <a:srgbClr val="000000"/>
                </a:solidFill>
                <a:effectLst/>
                <a:uLnTx/>
                <a:uFillTx/>
                <a:latin typeface="Montserrat Light"/>
                <a:sym typeface="Montserrat Light"/>
              </a:rPr>
              <a:t> à 0.1° &lt; </a:t>
            </a:r>
            <a:r>
              <a:rPr kumimoji="0" lang="fr-CM" sz="1700" b="1" i="0" u="none" strike="noStrike" kern="0" cap="none" spc="0" normalizeH="0" baseline="0" noProof="0" dirty="0" err="1">
                <a:ln>
                  <a:noFill/>
                </a:ln>
                <a:solidFill>
                  <a:srgbClr val="000000"/>
                </a:solidFill>
                <a:effectLst/>
                <a:uLnTx/>
                <a:uFillTx/>
                <a:latin typeface="Montserrat Light"/>
                <a:sym typeface="Montserrat Light"/>
              </a:rPr>
              <a:t>theta</a:t>
            </a:r>
            <a:r>
              <a:rPr kumimoji="0" lang="fr-CM" sz="1700" b="1" i="0" u="none" strike="noStrike" kern="0" cap="none" spc="0" normalizeH="0" baseline="0" noProof="0" dirty="0">
                <a:ln>
                  <a:noFill/>
                </a:ln>
                <a:solidFill>
                  <a:srgbClr val="000000"/>
                </a:solidFill>
                <a:effectLst/>
                <a:uLnTx/>
                <a:uFillTx/>
                <a:latin typeface="Montserrat Light"/>
                <a:sym typeface="Montserrat Light"/>
              </a:rPr>
              <a:t> &lt;70</a:t>
            </a:r>
            <a:r>
              <a:rPr kumimoji="0" lang="fr-CM" sz="1700" i="0" u="none" strike="noStrike" kern="0" cap="none" spc="0" normalizeH="0" baseline="0" noProof="0" dirty="0">
                <a:ln>
                  <a:noFill/>
                </a:ln>
                <a:solidFill>
                  <a:srgbClr val="000000"/>
                </a:solidFill>
                <a:effectLst/>
                <a:uLnTx/>
                <a:uFillTx/>
                <a:latin typeface="Montserrat Light"/>
                <a:sym typeface="Montserrat Light"/>
              </a:rPr>
              <a:t>° pour les modèles TSM et SSA qui pour l’instant ne fonctionnent</a:t>
            </a:r>
            <a:r>
              <a:rPr lang="fr-CM" sz="1700" dirty="0">
                <a:solidFill>
                  <a:srgbClr val="000000"/>
                </a:solidFill>
                <a:latin typeface="Montserrat Light"/>
                <a:sym typeface="Montserrat Light"/>
              </a:rPr>
              <a:t>t pas correctement au delà de 70°</a:t>
            </a:r>
            <a:r>
              <a:rPr kumimoji="0" lang="fr-CM" sz="1700" i="0" u="none" strike="noStrike" kern="0" cap="none" spc="0" normalizeH="0" baseline="0" noProof="0" dirty="0">
                <a:ln>
                  <a:noFill/>
                </a:ln>
                <a:solidFill>
                  <a:srgbClr val="000000"/>
                </a:solidFill>
                <a:effectLst/>
                <a:uLnTx/>
                <a:uFillTx/>
                <a:latin typeface="Montserrat Light"/>
                <a:sym typeface="Montserrat Light"/>
              </a:rPr>
              <a:t> </a:t>
            </a: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r>
              <a:rPr kumimoji="0" lang="fr-CM" sz="1700" b="1" i="0" u="none" strike="noStrike" kern="0" cap="none" spc="0" normalizeH="0" baseline="0" noProof="0" dirty="0">
                <a:ln>
                  <a:noFill/>
                </a:ln>
                <a:solidFill>
                  <a:srgbClr val="000000"/>
                </a:solidFill>
                <a:effectLst/>
                <a:uLnTx/>
                <a:uFillTx/>
                <a:latin typeface="Montserrat Light"/>
                <a:sym typeface="Montserrat Light"/>
              </a:rPr>
              <a:t>Résolution de l’ambiguïté entre les </a:t>
            </a:r>
            <a:r>
              <a:rPr kumimoji="0" lang="fr-CM" sz="1700" b="1" i="0" u="none" strike="noStrike" kern="0" cap="none" spc="0" normalizeH="0" baseline="0" noProof="0" dirty="0" err="1">
                <a:ln>
                  <a:noFill/>
                </a:ln>
                <a:solidFill>
                  <a:srgbClr val="000000"/>
                </a:solidFill>
                <a:effectLst/>
                <a:uLnTx/>
                <a:uFillTx/>
                <a:latin typeface="Montserrat Light"/>
                <a:sym typeface="Montserrat Light"/>
              </a:rPr>
              <a:t>fetch</a:t>
            </a:r>
            <a:r>
              <a:rPr kumimoji="0" lang="fr-CM" sz="1700" b="1" i="0" u="none" strike="noStrike" kern="0" cap="none" spc="0" normalizeH="0" baseline="0" noProof="0" dirty="0">
                <a:ln>
                  <a:noFill/>
                </a:ln>
                <a:solidFill>
                  <a:srgbClr val="000000"/>
                </a:solidFill>
                <a:effectLst/>
                <a:uLnTx/>
                <a:uFillTx/>
                <a:latin typeface="Montserrat Light"/>
                <a:sym typeface="Montserrat Light"/>
              </a:rPr>
              <a:t> des deux onglets: </a:t>
            </a:r>
          </a:p>
          <a:p>
            <a:pPr marL="228600" marR="0" lvl="0" indent="0" algn="l" defTabSz="914400" rtl="0" eaLnBrk="1" fontAlgn="auto" latinLnBrk="0" hangingPunct="1">
              <a:lnSpc>
                <a:spcPct val="115000"/>
              </a:lnSpc>
              <a:spcBef>
                <a:spcPts val="360"/>
              </a:spcBef>
              <a:spcAft>
                <a:spcPts val="0"/>
              </a:spcAft>
              <a:buClr>
                <a:srgbClr val="000000"/>
              </a:buClr>
              <a:buSzPts val="1800"/>
              <a:buNone/>
              <a:tabLst/>
              <a:defRPr/>
            </a:pPr>
            <a:r>
              <a:rPr lang="fr-CM" sz="1700" dirty="0">
                <a:solidFill>
                  <a:srgbClr val="000000"/>
                </a:solidFill>
                <a:latin typeface="Montserrat Light"/>
                <a:sym typeface="Montserrat Light"/>
              </a:rPr>
              <a:t>Les deux </a:t>
            </a:r>
            <a:r>
              <a:rPr lang="fr-CM" sz="1700" dirty="0" err="1">
                <a:solidFill>
                  <a:srgbClr val="000000"/>
                </a:solidFill>
                <a:latin typeface="Montserrat Light"/>
                <a:sym typeface="Montserrat Light"/>
              </a:rPr>
              <a:t>fetch</a:t>
            </a:r>
            <a:r>
              <a:rPr lang="fr-CM" sz="1700" dirty="0">
                <a:solidFill>
                  <a:srgbClr val="000000"/>
                </a:solidFill>
                <a:latin typeface="Montserrat Light"/>
                <a:sym typeface="Montserrat Light"/>
              </a:rPr>
              <a:t> ont pour l’instant des dénominations différenciées pour éviter la confusion du système  </a:t>
            </a:r>
            <a:endParaRPr kumimoji="0" lang="fr-CM" sz="1700"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r>
              <a:rPr kumimoji="0" lang="fr-CM" sz="1700" b="1" i="0" u="none" strike="noStrike" kern="0" cap="none" spc="0" normalizeH="0" baseline="0" noProof="0" dirty="0">
                <a:ln>
                  <a:noFill/>
                </a:ln>
                <a:solidFill>
                  <a:srgbClr val="000000"/>
                </a:solidFill>
                <a:effectLst/>
                <a:uLnTx/>
                <a:uFillTx/>
                <a:latin typeface="Montserrat Light"/>
                <a:sym typeface="Montserrat Light"/>
              </a:rPr>
              <a:t>Résolution des problèmes d’implémentation de TSM et SSA1</a:t>
            </a:r>
          </a:p>
          <a:p>
            <a:pPr marL="228600" marR="0" lvl="0" indent="0" algn="l" defTabSz="914400" rtl="0" eaLnBrk="1" fontAlgn="auto" latinLnBrk="0" hangingPunct="1">
              <a:lnSpc>
                <a:spcPct val="115000"/>
              </a:lnSpc>
              <a:spcBef>
                <a:spcPts val="360"/>
              </a:spcBef>
              <a:spcAft>
                <a:spcPts val="0"/>
              </a:spcAft>
              <a:buClr>
                <a:srgbClr val="000000"/>
              </a:buClr>
              <a:buSzPts val="1800"/>
              <a:buNone/>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a:buFontTx/>
              <a:buChar char="-"/>
            </a:pPr>
            <a:endParaRPr lang="fr-CM" b="1" dirty="0">
              <a:latin typeface="Montserrat" panose="00000500000000000000" pitchFamily="2" charset="0"/>
            </a:endParaRPr>
          </a:p>
        </p:txBody>
      </p:sp>
      <p:sp>
        <p:nvSpPr>
          <p:cNvPr id="4" name="ZoneTexte 3">
            <a:extLst>
              <a:ext uri="{FF2B5EF4-FFF2-40B4-BE49-F238E27FC236}">
                <a16:creationId xmlns:a16="http://schemas.microsoft.com/office/drawing/2014/main" id="{79CA2FA3-BD2C-C620-BF6B-3B73FC658A15}"/>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6</a:t>
            </a:r>
          </a:p>
          <a:p>
            <a:endParaRPr lang="fr-CM" sz="2000" b="1" dirty="0">
              <a:latin typeface="Aharoni" panose="020F0502020204030204" pitchFamily="2" charset="-79"/>
              <a:cs typeface="Aharoni" panose="020F0502020204030204" pitchFamily="2" charset="-79"/>
            </a:endParaRPr>
          </a:p>
        </p:txBody>
      </p:sp>
    </p:spTree>
    <p:extLst>
      <p:ext uri="{BB962C8B-B14F-4D97-AF65-F5344CB8AC3E}">
        <p14:creationId xmlns:p14="http://schemas.microsoft.com/office/powerpoint/2010/main" val="3507844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4803D-94C6-5835-3E6A-260EC075E5A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F45A83-F143-28EC-85AE-26FF509590CB}"/>
              </a:ext>
            </a:extLst>
          </p:cNvPr>
          <p:cNvSpPr>
            <a:spLocks noGrp="1"/>
          </p:cNvSpPr>
          <p:nvPr>
            <p:ph type="title"/>
          </p:nvPr>
        </p:nvSpPr>
        <p:spPr/>
        <p:txBody>
          <a:bodyPr>
            <a:normAutofit fontScale="90000"/>
          </a:bodyPr>
          <a:lstStyle/>
          <a:p>
            <a:r>
              <a:rPr lang="fr-CM" b="1" dirty="0">
                <a:latin typeface="Montserrat" panose="00000500000000000000" pitchFamily="2" charset="0"/>
              </a:rPr>
              <a:t>TRAVAUX REALISES</a:t>
            </a:r>
          </a:p>
        </p:txBody>
      </p:sp>
      <p:sp>
        <p:nvSpPr>
          <p:cNvPr id="3" name="Espace réservé du texte 2">
            <a:extLst>
              <a:ext uri="{FF2B5EF4-FFF2-40B4-BE49-F238E27FC236}">
                <a16:creationId xmlns:a16="http://schemas.microsoft.com/office/drawing/2014/main" id="{05F60A4C-81AF-2EF5-6AA8-76668F7B0F2E}"/>
              </a:ext>
            </a:extLst>
          </p:cNvPr>
          <p:cNvSpPr>
            <a:spLocks noGrp="1"/>
          </p:cNvSpPr>
          <p:nvPr>
            <p:ph type="body" idx="1"/>
          </p:nvPr>
        </p:nvSpPr>
        <p:spPr>
          <a:xfrm>
            <a:off x="311700" y="1017725"/>
            <a:ext cx="8520600" cy="3416400"/>
          </a:xfrm>
        </p:spPr>
        <p:txBody>
          <a:bodyPr>
            <a:noAutofit/>
          </a:bodyPr>
          <a:lstStyle/>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r>
              <a:rPr kumimoji="0" lang="fr-CM" sz="1700" b="1" i="0" u="none" strike="noStrike" kern="0" cap="none" spc="0" normalizeH="0" baseline="0" noProof="0" dirty="0">
                <a:ln>
                  <a:noFill/>
                </a:ln>
                <a:solidFill>
                  <a:srgbClr val="000000"/>
                </a:solidFill>
                <a:effectLst/>
                <a:uLnTx/>
                <a:uFillTx/>
                <a:latin typeface="Montserrat Light"/>
                <a:cs typeface="Arial"/>
                <a:sym typeface="Montserrat Light"/>
              </a:rPr>
              <a:t>Résolution du bug d’inversion des précisions single et double</a:t>
            </a: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r>
              <a:rPr kumimoji="0" lang="fr-CM" sz="1700" b="1" i="0" u="none" strike="noStrike" kern="0" cap="none" spc="0" normalizeH="0" baseline="0" noProof="0" dirty="0">
                <a:ln>
                  <a:noFill/>
                </a:ln>
                <a:solidFill>
                  <a:srgbClr val="000000"/>
                </a:solidFill>
                <a:effectLst/>
                <a:uLnTx/>
                <a:uFillTx/>
                <a:latin typeface="Montserrat Light"/>
                <a:cs typeface="Arial"/>
                <a:sym typeface="Montserrat Light"/>
              </a:rPr>
              <a:t>Implémentation de la v2 de la fonction </a:t>
            </a:r>
            <a:r>
              <a:rPr kumimoji="0" lang="fr-CM" sz="1700" b="1" i="1" u="none" strike="noStrike" kern="0" cap="none" spc="0" normalizeH="0" baseline="0" noProof="0" dirty="0">
                <a:ln>
                  <a:noFill/>
                </a:ln>
                <a:solidFill>
                  <a:srgbClr val="000000"/>
                </a:solidFill>
                <a:effectLst/>
                <a:uLnTx/>
                <a:uFillTx/>
                <a:latin typeface="Montserrat Light"/>
                <a:cs typeface="Arial"/>
                <a:sym typeface="Montserrat Light"/>
              </a:rPr>
              <a:t>f_GeneSurfMer3D_Fetch_Elfo</a:t>
            </a:r>
          </a:p>
          <a:p>
            <a:pPr marL="514350" indent="-285750">
              <a:spcBef>
                <a:spcPts val="360"/>
              </a:spcBef>
              <a:buClr>
                <a:srgbClr val="000000"/>
              </a:buClr>
              <a:buFont typeface="Arial" panose="020B0604020202020204" pitchFamily="34" charset="0"/>
              <a:buChar char="•"/>
              <a:defRPr/>
            </a:pPr>
            <a:r>
              <a:rPr lang="fr-CM" sz="1700" b="1" dirty="0">
                <a:solidFill>
                  <a:srgbClr val="000000"/>
                </a:solidFill>
                <a:latin typeface="Montserrat Light"/>
                <a:sym typeface="Montserrat Light"/>
              </a:rPr>
              <a:t>Résolution d’un bug avec l’affichage des notes de validations des modèles: </a:t>
            </a: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r>
              <a:rPr kumimoji="0" lang="fr-CM" sz="1700" b="1" i="0" u="none" strike="noStrike" kern="0" cap="none" spc="0" normalizeH="0" baseline="0" noProof="0" dirty="0">
                <a:ln>
                  <a:noFill/>
                </a:ln>
                <a:solidFill>
                  <a:srgbClr val="000000"/>
                </a:solidFill>
                <a:effectLst/>
                <a:uLnTx/>
                <a:uFillTx/>
                <a:latin typeface="Montserrat Light"/>
                <a:sym typeface="Montserrat Light"/>
              </a:rPr>
              <a:t>Implémentation de la v2 de la fonction </a:t>
            </a:r>
            <a:r>
              <a:rPr kumimoji="0" lang="fr-CM" sz="1700" b="1" i="1" u="none" strike="noStrike" kern="0" cap="none" spc="0" normalizeH="0" baseline="0" noProof="0" dirty="0">
                <a:ln>
                  <a:noFill/>
                </a:ln>
                <a:solidFill>
                  <a:srgbClr val="000000"/>
                </a:solidFill>
                <a:effectLst/>
                <a:uLnTx/>
                <a:uFillTx/>
                <a:latin typeface="Montserrat Light"/>
                <a:sym typeface="Montserrat Light"/>
              </a:rPr>
              <a:t>f_Nrcs_3dMono_StatisticSea_TSM_Elfo_Gauss_Fetch</a:t>
            </a: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r>
              <a:rPr kumimoji="0" lang="fr-CM" sz="1700" b="1" i="0" u="none" strike="noStrike" kern="0" cap="none" spc="0" normalizeH="0" baseline="0" noProof="0" dirty="0">
                <a:ln>
                  <a:noFill/>
                </a:ln>
                <a:solidFill>
                  <a:srgbClr val="000000"/>
                </a:solidFill>
                <a:effectLst/>
                <a:uLnTx/>
                <a:uFillTx/>
                <a:latin typeface="Montserrat Light"/>
                <a:sym typeface="Montserrat Light"/>
              </a:rPr>
              <a:t>Ajustement des types de traits utilisés lors de la superposition des courbes et gestion de l’affichage de la légende : </a:t>
            </a:r>
            <a:r>
              <a:rPr kumimoji="0" lang="fr-CM" sz="1700" i="0" u="none" strike="noStrike" kern="0" cap="none" spc="0" normalizeH="0" baseline="0" noProof="0" dirty="0">
                <a:ln>
                  <a:noFill/>
                </a:ln>
                <a:solidFill>
                  <a:srgbClr val="000000"/>
                </a:solidFill>
                <a:effectLst/>
                <a:uLnTx/>
                <a:uFillTx/>
                <a:latin typeface="Montserrat Light"/>
                <a:sym typeface="Montserrat Light"/>
              </a:rPr>
              <a:t>La courbe la plus récente est en trait fort et le reste avec des interrompus différents. La légende n’est plus visible par défaut sur l’interface mais lorsqu’on survole une courbe</a:t>
            </a: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r>
              <a:rPr kumimoji="0" lang="fr-CM" sz="1700" b="1" i="0" u="none" strike="noStrike" kern="0" cap="none" spc="0" normalizeH="0" baseline="0" noProof="0" dirty="0">
                <a:ln>
                  <a:noFill/>
                </a:ln>
                <a:solidFill>
                  <a:srgbClr val="000000"/>
                </a:solidFill>
                <a:effectLst/>
                <a:uLnTx/>
                <a:uFillTx/>
                <a:latin typeface="Montserrat Light"/>
                <a:sym typeface="Montserrat Light"/>
              </a:rPr>
              <a:t>Implémentation de la version de la fonction SSA1 prenant en compte le </a:t>
            </a:r>
            <a:r>
              <a:rPr kumimoji="0" lang="fr-CM" sz="1700" b="1" i="0" u="none" strike="noStrike" kern="0" cap="none" spc="0" normalizeH="0" baseline="0" noProof="0" dirty="0" err="1">
                <a:ln>
                  <a:noFill/>
                </a:ln>
                <a:solidFill>
                  <a:srgbClr val="000000"/>
                </a:solidFill>
                <a:effectLst/>
                <a:uLnTx/>
                <a:uFillTx/>
                <a:latin typeface="Montserrat Light"/>
                <a:sym typeface="Montserrat Light"/>
              </a:rPr>
              <a:t>fetch</a:t>
            </a: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114300" indent="0">
              <a:buNone/>
            </a:pPr>
            <a:br>
              <a:rPr lang="fr-FR" sz="1700" dirty="0">
                <a:solidFill>
                  <a:srgbClr val="636366"/>
                </a:solidFill>
                <a:latin typeface="Montserrat"/>
                <a:sym typeface="Montserrat"/>
              </a:rPr>
            </a:br>
            <a:r>
              <a:rPr lang="fr-CM" sz="1700" b="1" dirty="0">
                <a:solidFill>
                  <a:srgbClr val="636366"/>
                </a:solidFill>
                <a:latin typeface="Montserrat"/>
                <a:sym typeface="Montserrat"/>
              </a:rPr>
              <a:t> </a:t>
            </a:r>
          </a:p>
        </p:txBody>
      </p:sp>
      <p:sp>
        <p:nvSpPr>
          <p:cNvPr id="4" name="ZoneTexte 3">
            <a:extLst>
              <a:ext uri="{FF2B5EF4-FFF2-40B4-BE49-F238E27FC236}">
                <a16:creationId xmlns:a16="http://schemas.microsoft.com/office/drawing/2014/main" id="{81D05D8C-24FE-19DC-4AA0-1D1A15AFCEF9}"/>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7</a:t>
            </a:r>
          </a:p>
          <a:p>
            <a:endParaRPr lang="fr-CM" sz="2000" b="1" dirty="0">
              <a:latin typeface="Aharoni" panose="020F0502020204030204" pitchFamily="2" charset="-79"/>
              <a:cs typeface="Aharoni" panose="020F0502020204030204" pitchFamily="2" charset="-79"/>
            </a:endParaRPr>
          </a:p>
        </p:txBody>
      </p:sp>
    </p:spTree>
    <p:extLst>
      <p:ext uri="{BB962C8B-B14F-4D97-AF65-F5344CB8AC3E}">
        <p14:creationId xmlns:p14="http://schemas.microsoft.com/office/powerpoint/2010/main" val="1751921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19FF9-C07C-1ABB-8A8E-1F36DCD429A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1E29A79-6D5C-894D-187B-01A78B5D0B32}"/>
              </a:ext>
            </a:extLst>
          </p:cNvPr>
          <p:cNvSpPr>
            <a:spLocks noGrp="1"/>
          </p:cNvSpPr>
          <p:nvPr>
            <p:ph type="title"/>
          </p:nvPr>
        </p:nvSpPr>
        <p:spPr/>
        <p:txBody>
          <a:bodyPr>
            <a:normAutofit fontScale="90000"/>
          </a:bodyPr>
          <a:lstStyle/>
          <a:p>
            <a:r>
              <a:rPr lang="fr-CM" b="1" dirty="0">
                <a:latin typeface="Montserrat" panose="00000500000000000000" pitchFamily="2" charset="0"/>
              </a:rPr>
              <a:t>TRAVAUX REALISES</a:t>
            </a:r>
          </a:p>
        </p:txBody>
      </p:sp>
      <p:sp>
        <p:nvSpPr>
          <p:cNvPr id="3" name="Espace réservé du texte 2">
            <a:extLst>
              <a:ext uri="{FF2B5EF4-FFF2-40B4-BE49-F238E27FC236}">
                <a16:creationId xmlns:a16="http://schemas.microsoft.com/office/drawing/2014/main" id="{1FBF0F0F-5799-E599-2FD2-6A47B45698C6}"/>
              </a:ext>
            </a:extLst>
          </p:cNvPr>
          <p:cNvSpPr>
            <a:spLocks noGrp="1"/>
          </p:cNvSpPr>
          <p:nvPr>
            <p:ph type="body" idx="1"/>
          </p:nvPr>
        </p:nvSpPr>
        <p:spPr/>
        <p:txBody>
          <a:bodyPr>
            <a:normAutofit/>
          </a:bodyPr>
          <a:lstStyle/>
          <a:p>
            <a:r>
              <a:rPr lang="fr-FR" b="1" dirty="0">
                <a:solidFill>
                  <a:srgbClr val="636366"/>
                </a:solidFill>
                <a:latin typeface="Montserrat"/>
                <a:ea typeface="Montserrat"/>
                <a:cs typeface="Montserrat"/>
                <a:sym typeface="Montserrat"/>
              </a:rPr>
              <a:t>Optimisation mémoire </a:t>
            </a:r>
          </a:p>
          <a:p>
            <a:pPr marL="514350" lvl="0" indent="-285750">
              <a:spcBef>
                <a:spcPts val="360"/>
              </a:spcBef>
              <a:buClr>
                <a:srgbClr val="000000"/>
              </a:buClr>
              <a:buFont typeface="Arial" panose="020B0604020202020204" pitchFamily="34" charset="0"/>
              <a:buChar char="•"/>
              <a:defRPr/>
            </a:pPr>
            <a:r>
              <a:rPr kumimoji="0" lang="fr-CM" sz="1800" b="1" i="0" u="none" strike="noStrike" kern="0" cap="none" spc="0" normalizeH="0" baseline="0" noProof="0" dirty="0">
                <a:ln>
                  <a:noFill/>
                </a:ln>
                <a:solidFill>
                  <a:srgbClr val="000000"/>
                </a:solidFill>
                <a:effectLst/>
                <a:uLnTx/>
                <a:uFillTx/>
                <a:latin typeface="Montserrat Light"/>
                <a:sym typeface="Montserrat Light"/>
              </a:rPr>
              <a:t>Vérification de la pertinence des </a:t>
            </a:r>
            <a:r>
              <a:rPr kumimoji="0" lang="fr-CM" sz="1800" b="1" i="0" u="none" strike="noStrike" kern="0" cap="none" spc="0" normalizeH="0" baseline="0" noProof="0" dirty="0" err="1">
                <a:ln>
                  <a:noFill/>
                </a:ln>
                <a:solidFill>
                  <a:srgbClr val="000000"/>
                </a:solidFill>
                <a:effectLst/>
                <a:uLnTx/>
                <a:uFillTx/>
                <a:latin typeface="Montserrat Light"/>
                <a:sym typeface="Montserrat Light"/>
              </a:rPr>
              <a:t>clear</a:t>
            </a:r>
            <a:r>
              <a:rPr kumimoji="0" lang="fr-CM" sz="1800" b="1" i="0" u="none" strike="noStrike" kern="0" cap="none" spc="0" normalizeH="0" baseline="0" noProof="0" dirty="0">
                <a:ln>
                  <a:noFill/>
                </a:ln>
                <a:solidFill>
                  <a:srgbClr val="000000"/>
                </a:solidFill>
                <a:effectLst/>
                <a:uLnTx/>
                <a:uFillTx/>
                <a:latin typeface="Montserrat Light"/>
                <a:sym typeface="Montserrat Light"/>
              </a:rPr>
              <a:t> dans la fonction de génération de surface : </a:t>
            </a:r>
            <a:r>
              <a:rPr lang="fr-CM" dirty="0">
                <a:solidFill>
                  <a:srgbClr val="000000"/>
                </a:solidFill>
                <a:latin typeface="Montserrat Light"/>
                <a:sym typeface="Montserrat Light"/>
              </a:rPr>
              <a:t>Faire des </a:t>
            </a:r>
            <a:r>
              <a:rPr lang="fr-CM" dirty="0" err="1">
                <a:solidFill>
                  <a:srgbClr val="000000"/>
                </a:solidFill>
                <a:latin typeface="Montserrat Light"/>
                <a:sym typeface="Montserrat Light"/>
              </a:rPr>
              <a:t>clear</a:t>
            </a:r>
            <a:r>
              <a:rPr lang="fr-CM" dirty="0">
                <a:solidFill>
                  <a:srgbClr val="000000"/>
                </a:solidFill>
                <a:latin typeface="Montserrat Light"/>
                <a:sym typeface="Montserrat Light"/>
              </a:rPr>
              <a:t> au fur et à mesure dans la fonction peut s’avérer pas très pertinent lorsque la mémoire est suffisante au cours de l’exécution de la fonction et nous fait perdre quelques tiers ou secondes en temps de calcul</a:t>
            </a:r>
          </a:p>
          <a:p>
            <a:pPr marL="228600" lvl="0" indent="0">
              <a:spcBef>
                <a:spcPts val="360"/>
              </a:spcBef>
              <a:buClr>
                <a:srgbClr val="000000"/>
              </a:buClr>
              <a:buNone/>
              <a:defRPr/>
            </a:pPr>
            <a:r>
              <a:rPr lang="fr-CM" dirty="0">
                <a:solidFill>
                  <a:srgbClr val="000000"/>
                </a:solidFill>
                <a:latin typeface="Montserrat Light"/>
                <a:sym typeface="Montserrat Light"/>
              </a:rPr>
              <a:t>Par contre si la mémoire sera dans l’incapacité de supporter les pics mémoire lors de l’exécution de la fonction ces </a:t>
            </a:r>
            <a:r>
              <a:rPr lang="fr-CM" dirty="0" err="1">
                <a:solidFill>
                  <a:srgbClr val="000000"/>
                </a:solidFill>
                <a:latin typeface="Montserrat Light"/>
                <a:sym typeface="Montserrat Light"/>
              </a:rPr>
              <a:t>clear</a:t>
            </a:r>
            <a:r>
              <a:rPr lang="fr-CM" dirty="0">
                <a:solidFill>
                  <a:srgbClr val="000000"/>
                </a:solidFill>
                <a:latin typeface="Montserrat Light"/>
                <a:sym typeface="Montserrat Light"/>
              </a:rPr>
              <a:t> intermédiaires ont leur place</a:t>
            </a:r>
            <a:endParaRPr kumimoji="0" lang="fr-CM" sz="1800" i="0" u="none" strike="noStrike" kern="0" cap="none" spc="0" normalizeH="0" baseline="0" noProof="0" dirty="0">
              <a:ln>
                <a:noFill/>
              </a:ln>
              <a:solidFill>
                <a:srgbClr val="000000"/>
              </a:solidFill>
              <a:effectLst/>
              <a:uLnTx/>
              <a:uFillTx/>
              <a:latin typeface="Montserrat Light"/>
              <a:sym typeface="Montserrat Light"/>
            </a:endParaRPr>
          </a:p>
          <a:p>
            <a:pPr marL="114300" indent="0">
              <a:buNone/>
            </a:pPr>
            <a:endParaRPr lang="fr-FR" dirty="0">
              <a:solidFill>
                <a:srgbClr val="636366"/>
              </a:solidFill>
              <a:latin typeface="Montserrat"/>
              <a:ea typeface="Montserrat"/>
              <a:cs typeface="Montserrat"/>
              <a:sym typeface="Montserrat"/>
            </a:endParaRPr>
          </a:p>
        </p:txBody>
      </p:sp>
      <p:sp>
        <p:nvSpPr>
          <p:cNvPr id="4" name="ZoneTexte 3">
            <a:extLst>
              <a:ext uri="{FF2B5EF4-FFF2-40B4-BE49-F238E27FC236}">
                <a16:creationId xmlns:a16="http://schemas.microsoft.com/office/drawing/2014/main" id="{98B64346-D02D-CB73-0D71-0588C616C543}"/>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8</a:t>
            </a:r>
          </a:p>
          <a:p>
            <a:endParaRPr lang="fr-CM" sz="2000" b="1" dirty="0">
              <a:latin typeface="Aharoni" panose="020F0502020204030204" pitchFamily="2" charset="-79"/>
              <a:cs typeface="Aharoni" panose="020F0502020204030204" pitchFamily="2" charset="-79"/>
            </a:endParaRPr>
          </a:p>
        </p:txBody>
      </p:sp>
    </p:spTree>
    <p:extLst>
      <p:ext uri="{BB962C8B-B14F-4D97-AF65-F5344CB8AC3E}">
        <p14:creationId xmlns:p14="http://schemas.microsoft.com/office/powerpoint/2010/main" val="2518231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7386E986-1ADE-CB08-82E5-9334B2A9E103}"/>
            </a:ext>
          </a:extLst>
        </p:cNvPr>
        <p:cNvGrpSpPr/>
        <p:nvPr/>
      </p:nvGrpSpPr>
      <p:grpSpPr>
        <a:xfrm>
          <a:off x="0" y="0"/>
          <a:ext cx="0" cy="0"/>
          <a:chOff x="0" y="0"/>
          <a:chExt cx="0" cy="0"/>
        </a:xfrm>
      </p:grpSpPr>
      <p:sp>
        <p:nvSpPr>
          <p:cNvPr id="227" name="Google Shape;227;p38">
            <a:extLst>
              <a:ext uri="{FF2B5EF4-FFF2-40B4-BE49-F238E27FC236}">
                <a16:creationId xmlns:a16="http://schemas.microsoft.com/office/drawing/2014/main" id="{29385FAF-BA05-27AC-1E08-0CB2247C2B6B}"/>
              </a:ext>
            </a:extLst>
          </p:cNvPr>
          <p:cNvSpPr/>
          <p:nvPr/>
        </p:nvSpPr>
        <p:spPr>
          <a:xfrm>
            <a:off x="1350" y="2145300"/>
            <a:ext cx="9141300" cy="2466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8" name="Google Shape;228;p38">
            <a:extLst>
              <a:ext uri="{FF2B5EF4-FFF2-40B4-BE49-F238E27FC236}">
                <a16:creationId xmlns:a16="http://schemas.microsoft.com/office/drawing/2014/main" id="{F0F2850D-416C-9038-8B91-3BD6239A6DDD}"/>
              </a:ext>
            </a:extLst>
          </p:cNvPr>
          <p:cNvPicPr preferRelativeResize="0"/>
          <p:nvPr/>
        </p:nvPicPr>
        <p:blipFill>
          <a:blip r:embed="rId3">
            <a:alphaModFix/>
          </a:blip>
          <a:stretch>
            <a:fillRect/>
          </a:stretch>
        </p:blipFill>
        <p:spPr>
          <a:xfrm>
            <a:off x="3484075" y="2150"/>
            <a:ext cx="5659925" cy="2114550"/>
          </a:xfrm>
          <a:prstGeom prst="rect">
            <a:avLst/>
          </a:prstGeom>
          <a:noFill/>
          <a:ln>
            <a:noFill/>
          </a:ln>
        </p:spPr>
      </p:pic>
      <p:sp>
        <p:nvSpPr>
          <p:cNvPr id="229" name="Google Shape;229;p38">
            <a:extLst>
              <a:ext uri="{FF2B5EF4-FFF2-40B4-BE49-F238E27FC236}">
                <a16:creationId xmlns:a16="http://schemas.microsoft.com/office/drawing/2014/main" id="{32925A70-4A56-9FC5-7F84-BD587D9FF427}"/>
              </a:ext>
            </a:extLst>
          </p:cNvPr>
          <p:cNvSpPr/>
          <p:nvPr/>
        </p:nvSpPr>
        <p:spPr>
          <a:xfrm>
            <a:off x="1350" y="0"/>
            <a:ext cx="3482700" cy="2114400"/>
          </a:xfrm>
          <a:prstGeom prst="rect">
            <a:avLst/>
          </a:prstGeom>
          <a:solidFill>
            <a:srgbClr val="09B0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8">
            <a:extLst>
              <a:ext uri="{FF2B5EF4-FFF2-40B4-BE49-F238E27FC236}">
                <a16:creationId xmlns:a16="http://schemas.microsoft.com/office/drawing/2014/main" id="{3D9D39D2-FF67-7009-03A2-B675022B58A2}"/>
              </a:ext>
            </a:extLst>
          </p:cNvPr>
          <p:cNvSpPr txBox="1"/>
          <p:nvPr/>
        </p:nvSpPr>
        <p:spPr>
          <a:xfrm>
            <a:off x="1040500" y="4715250"/>
            <a:ext cx="4886100" cy="32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900">
              <a:solidFill>
                <a:srgbClr val="646363"/>
              </a:solidFill>
              <a:latin typeface="Montserrat"/>
              <a:ea typeface="Montserrat"/>
              <a:cs typeface="Montserrat"/>
              <a:sym typeface="Montserrat"/>
            </a:endParaRPr>
          </a:p>
        </p:txBody>
      </p:sp>
      <p:pic>
        <p:nvPicPr>
          <p:cNvPr id="232" name="Google Shape;232;p38">
            <a:extLst>
              <a:ext uri="{FF2B5EF4-FFF2-40B4-BE49-F238E27FC236}">
                <a16:creationId xmlns:a16="http://schemas.microsoft.com/office/drawing/2014/main" id="{6835C172-CF37-24B8-9C3B-314FE892F071}"/>
              </a:ext>
            </a:extLst>
          </p:cNvPr>
          <p:cNvPicPr preferRelativeResize="0"/>
          <p:nvPr/>
        </p:nvPicPr>
        <p:blipFill>
          <a:blip r:embed="rId4">
            <a:alphaModFix/>
          </a:blip>
          <a:stretch>
            <a:fillRect/>
          </a:stretch>
        </p:blipFill>
        <p:spPr>
          <a:xfrm>
            <a:off x="8035050" y="4614500"/>
            <a:ext cx="696375" cy="447700"/>
          </a:xfrm>
          <a:prstGeom prst="rect">
            <a:avLst/>
          </a:prstGeom>
          <a:noFill/>
          <a:ln>
            <a:noFill/>
          </a:ln>
        </p:spPr>
      </p:pic>
      <p:sp>
        <p:nvSpPr>
          <p:cNvPr id="234" name="Google Shape;234;p38">
            <a:extLst>
              <a:ext uri="{FF2B5EF4-FFF2-40B4-BE49-F238E27FC236}">
                <a16:creationId xmlns:a16="http://schemas.microsoft.com/office/drawing/2014/main" id="{F16F5A86-D019-C53A-FC37-3A7EA3BC0521}"/>
              </a:ext>
            </a:extLst>
          </p:cNvPr>
          <p:cNvSpPr txBox="1"/>
          <p:nvPr/>
        </p:nvSpPr>
        <p:spPr>
          <a:xfrm>
            <a:off x="355602" y="814495"/>
            <a:ext cx="3119007" cy="1097706"/>
          </a:xfrm>
          <a:prstGeom prst="rect">
            <a:avLst/>
          </a:prstGeom>
          <a:noFill/>
          <a:ln>
            <a:noFill/>
          </a:ln>
        </p:spPr>
        <p:txBody>
          <a:bodyPr spcFirstLastPara="1" wrap="square" lIns="91425" tIns="91425" rIns="91425" bIns="91425" anchor="t" anchorCtr="0">
            <a:spAutoFit/>
          </a:bodyPr>
          <a:lstStyle/>
          <a:p>
            <a:pPr marL="0" lvl="0" indent="0" algn="ctr" rtl="0">
              <a:lnSpc>
                <a:spcPct val="100000"/>
              </a:lnSpc>
              <a:spcBef>
                <a:spcPts val="0"/>
              </a:spcBef>
              <a:spcAft>
                <a:spcPts val="400"/>
              </a:spcAft>
              <a:buNone/>
            </a:pPr>
            <a:r>
              <a:rPr lang="fr" sz="2800" b="1" dirty="0">
                <a:solidFill>
                  <a:schemeClr val="lt1"/>
                </a:solidFill>
                <a:latin typeface="Montserrat"/>
                <a:ea typeface="Montserrat"/>
                <a:cs typeface="Montserrat"/>
                <a:sym typeface="Montserrat"/>
              </a:rPr>
              <a:t>TACHES A VENIR </a:t>
            </a:r>
            <a:endParaRPr sz="2800" b="1" dirty="0">
              <a:solidFill>
                <a:schemeClr val="lt1"/>
              </a:solidFill>
              <a:latin typeface="Montserrat"/>
              <a:ea typeface="Montserrat"/>
              <a:cs typeface="Montserrat"/>
              <a:sym typeface="Montserrat"/>
            </a:endParaRPr>
          </a:p>
        </p:txBody>
      </p:sp>
      <p:sp>
        <p:nvSpPr>
          <p:cNvPr id="2" name="ZoneTexte 1">
            <a:extLst>
              <a:ext uri="{FF2B5EF4-FFF2-40B4-BE49-F238E27FC236}">
                <a16:creationId xmlns:a16="http://schemas.microsoft.com/office/drawing/2014/main" id="{C43E3EB4-E970-6683-4E57-CE91E6270272}"/>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9</a:t>
            </a:r>
          </a:p>
          <a:p>
            <a:endParaRPr lang="fr-CM" sz="2000" b="1" dirty="0">
              <a:latin typeface="Aharoni" panose="020F0502020204030204" pitchFamily="2" charset="-79"/>
              <a:cs typeface="Aharoni" panose="020F0502020204030204" pitchFamily="2" charset="-79"/>
            </a:endParaRPr>
          </a:p>
        </p:txBody>
      </p:sp>
      <p:sp>
        <p:nvSpPr>
          <p:cNvPr id="3" name="Google Shape;233;p38">
            <a:extLst>
              <a:ext uri="{FF2B5EF4-FFF2-40B4-BE49-F238E27FC236}">
                <a16:creationId xmlns:a16="http://schemas.microsoft.com/office/drawing/2014/main" id="{9E31EB38-CA41-193D-2523-89064262F60B}"/>
              </a:ext>
            </a:extLst>
          </p:cNvPr>
          <p:cNvSpPr txBox="1"/>
          <p:nvPr/>
        </p:nvSpPr>
        <p:spPr>
          <a:xfrm>
            <a:off x="714955" y="2441597"/>
            <a:ext cx="4056857" cy="1815851"/>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1600" dirty="0">
                <a:solidFill>
                  <a:srgbClr val="636366"/>
                </a:solidFill>
                <a:latin typeface="Montserrat"/>
                <a:ea typeface="Montserrat"/>
                <a:cs typeface="Montserrat"/>
                <a:sym typeface="Montserrat"/>
              </a:rPr>
              <a:t>Faire passer la limitation de l’espace occupé pour la génération de la surface de 30 à 10%</a:t>
            </a:r>
          </a:p>
          <a:p>
            <a:pPr marL="0" lvl="0" indent="0" algn="l" rtl="0">
              <a:lnSpc>
                <a:spcPct val="100000"/>
              </a:lnSpc>
              <a:spcBef>
                <a:spcPts val="0"/>
              </a:spcBef>
              <a:spcAft>
                <a:spcPts val="400"/>
              </a:spcAft>
              <a:buNone/>
            </a:pPr>
            <a:endParaRPr lang="fr" sz="1600" dirty="0">
              <a:solidFill>
                <a:srgbClr val="636366"/>
              </a:solidFill>
              <a:latin typeface="Montserrat"/>
              <a:ea typeface="Montserrat"/>
              <a:cs typeface="Montserrat"/>
              <a:sym typeface="Montserrat"/>
            </a:endParaRPr>
          </a:p>
          <a:p>
            <a:pPr marL="0" lvl="0" indent="0" algn="l" rtl="0">
              <a:lnSpc>
                <a:spcPct val="100000"/>
              </a:lnSpc>
              <a:spcBef>
                <a:spcPts val="0"/>
              </a:spcBef>
              <a:spcAft>
                <a:spcPts val="400"/>
              </a:spcAft>
              <a:buNone/>
            </a:pPr>
            <a:r>
              <a:rPr lang="fr" sz="1600" dirty="0">
                <a:solidFill>
                  <a:srgbClr val="636366"/>
                </a:solidFill>
                <a:latin typeface="Montserrat"/>
                <a:ea typeface="Montserrat"/>
                <a:cs typeface="Montserrat"/>
                <a:sym typeface="Montserrat"/>
              </a:rPr>
              <a:t>Tester la nécessité des clear en temps réel </a:t>
            </a:r>
            <a:endParaRPr sz="1600" dirty="0">
              <a:solidFill>
                <a:srgbClr val="636366"/>
              </a:solidFill>
              <a:latin typeface="Montserrat"/>
              <a:ea typeface="Montserrat"/>
              <a:cs typeface="Montserrat"/>
              <a:sym typeface="Montserrat"/>
            </a:endParaRPr>
          </a:p>
        </p:txBody>
      </p:sp>
      <p:sp>
        <p:nvSpPr>
          <p:cNvPr id="8" name="Google Shape;233;p38">
            <a:extLst>
              <a:ext uri="{FF2B5EF4-FFF2-40B4-BE49-F238E27FC236}">
                <a16:creationId xmlns:a16="http://schemas.microsoft.com/office/drawing/2014/main" id="{4079FAE5-0739-A861-1AA2-CFC5D2C980D6}"/>
              </a:ext>
            </a:extLst>
          </p:cNvPr>
          <p:cNvSpPr txBox="1"/>
          <p:nvPr/>
        </p:nvSpPr>
        <p:spPr>
          <a:xfrm>
            <a:off x="4887309" y="2441597"/>
            <a:ext cx="4056857" cy="1323409"/>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1600" dirty="0">
                <a:solidFill>
                  <a:srgbClr val="636366"/>
                </a:solidFill>
                <a:latin typeface="Montserrat"/>
                <a:ea typeface="Montserrat"/>
                <a:cs typeface="Montserrat"/>
                <a:sym typeface="Montserrat"/>
              </a:rPr>
              <a:t>Préparer la soutenance de mi-parcours</a:t>
            </a:r>
          </a:p>
          <a:p>
            <a:pPr marL="0" lvl="0" indent="0" algn="l" rtl="0">
              <a:lnSpc>
                <a:spcPct val="100000"/>
              </a:lnSpc>
              <a:spcBef>
                <a:spcPts val="0"/>
              </a:spcBef>
              <a:spcAft>
                <a:spcPts val="400"/>
              </a:spcAft>
              <a:buNone/>
            </a:pPr>
            <a:endParaRPr lang="fr" sz="1600" dirty="0">
              <a:solidFill>
                <a:srgbClr val="636366"/>
              </a:solidFill>
              <a:latin typeface="Montserrat"/>
              <a:ea typeface="Montserrat"/>
              <a:cs typeface="Montserrat"/>
              <a:sym typeface="Montserrat"/>
            </a:endParaRPr>
          </a:p>
          <a:p>
            <a:pPr marL="0" lvl="0" indent="0" algn="l" rtl="0">
              <a:lnSpc>
                <a:spcPct val="100000"/>
              </a:lnSpc>
              <a:spcBef>
                <a:spcPts val="0"/>
              </a:spcBef>
              <a:spcAft>
                <a:spcPts val="400"/>
              </a:spcAft>
              <a:buNone/>
            </a:pPr>
            <a:r>
              <a:rPr lang="fr-CM" sz="1600" dirty="0">
                <a:solidFill>
                  <a:srgbClr val="636366"/>
                </a:solidFill>
                <a:latin typeface="Montserrat"/>
                <a:ea typeface="Montserrat"/>
                <a:cs typeface="Montserrat"/>
                <a:sym typeface="Montserrat"/>
              </a:rPr>
              <a:t>Rapport technique </a:t>
            </a:r>
          </a:p>
        </p:txBody>
      </p:sp>
    </p:spTree>
    <p:extLst>
      <p:ext uri="{BB962C8B-B14F-4D97-AF65-F5344CB8AC3E}">
        <p14:creationId xmlns:p14="http://schemas.microsoft.com/office/powerpoint/2010/main" val="784953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43" descr="Une image contenant bâtiment, plein air, ciel, architecture&#10;&#10;Le contenu généré par l’IA peut être incorrect."/>
          <p:cNvPicPr preferRelativeResize="0">
            <a:picLocks noGrp="1"/>
          </p:cNvPicPr>
          <p:nvPr>
            <p:ph type="pic" idx="2"/>
          </p:nvPr>
        </p:nvPicPr>
        <p:blipFill rotWithShape="1">
          <a:blip r:embed="rId3"/>
          <a:srcRect/>
          <a:stretch>
            <a:fillRect/>
          </a:stretch>
        </p:blipFill>
        <p:spPr>
          <a:xfrm>
            <a:off x="20" y="10"/>
            <a:ext cx="9143980" cy="514349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11517</TotalTime>
  <Words>549</Words>
  <Application>Microsoft Office PowerPoint</Application>
  <PresentationFormat>Affichage à l'écran (16:9)</PresentationFormat>
  <Paragraphs>65</Paragraphs>
  <Slides>11</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11</vt:i4>
      </vt:variant>
    </vt:vector>
  </HeadingPairs>
  <TitlesOfParts>
    <vt:vector size="17" baseType="lpstr">
      <vt:lpstr>Aharoni</vt:lpstr>
      <vt:lpstr>Montserrat Light</vt:lpstr>
      <vt:lpstr>Arial</vt:lpstr>
      <vt:lpstr>Montserrat SemiBold</vt:lpstr>
      <vt:lpstr>Montserrat</vt:lpstr>
      <vt:lpstr>Simple Light</vt:lpstr>
      <vt:lpstr>Présentation PowerPoint</vt:lpstr>
      <vt:lpstr>Présentation PowerPoint</vt:lpstr>
      <vt:lpstr>Présentation PowerPoint</vt:lpstr>
      <vt:lpstr>BILAN DE LA SEMAINE</vt:lpstr>
      <vt:lpstr>BILAN DE LA SEMAINE</vt:lpstr>
      <vt:lpstr>Présentation PowerPoint</vt:lpstr>
      <vt:lpstr>TRAVAUX REALISES</vt:lpstr>
      <vt:lpstr>TRAVAUX REALISES</vt:lpstr>
      <vt:lpstr>TRAVAUX REALISES</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Rosilia Cabrelle</cp:lastModifiedBy>
  <cp:revision>17</cp:revision>
  <dcterms:modified xsi:type="dcterms:W3CDTF">2025-11-27T09:36:00Z</dcterms:modified>
</cp:coreProperties>
</file>