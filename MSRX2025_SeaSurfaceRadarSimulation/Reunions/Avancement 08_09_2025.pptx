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1"/>
  </p:notesMasterIdLst>
  <p:sldIdLst>
    <p:sldId id="256" r:id="rId2"/>
    <p:sldId id="264" r:id="rId3"/>
    <p:sldId id="263" r:id="rId4"/>
    <p:sldId id="261" r:id="rId5"/>
    <p:sldId id="266" r:id="rId6"/>
    <p:sldId id="267" r:id="rId7"/>
    <p:sldId id="268" r:id="rId8"/>
    <p:sldId id="269" r:id="rId9"/>
    <p:sldId id="265" r:id="rId10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Montserrat Light" panose="00000400000000000000" pitchFamily="2" charset="0"/>
      <p:regular r:id="rId16"/>
      <p:bold r:id="rId17"/>
      <p:italic r:id="rId18"/>
      <p:boldItalic r:id="rId19"/>
    </p:embeddedFont>
    <p:embeddedFont>
      <p:font typeface="Montserrat SemiBold" panose="000007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03">
          <p15:clr>
            <a:srgbClr val="747775"/>
          </p15:clr>
        </p15:guide>
        <p15:guide id="2" pos="2854">
          <p15:clr>
            <a:srgbClr val="747775"/>
          </p15:clr>
        </p15:guide>
        <p15:guide id="3" pos="340">
          <p15:clr>
            <a:srgbClr val="747775"/>
          </p15:clr>
        </p15:guide>
        <p15:guide id="4" orient="horz" pos="213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36"/>
      </p:cViewPr>
      <p:guideLst>
        <p:guide orient="horz" pos="1603"/>
        <p:guide pos="2854"/>
        <p:guide pos="340"/>
        <p:guide orient="horz" pos="21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68f01b72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468f01b72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8480a6904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28480a6904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8480a690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0" name="Google Shape;280;g28480a690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468f01b72f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468f01b72f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8480a6904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28480a6904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haut">
  <p:cSld name="Texte seul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06025" y="2149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 descr="supports - decli piste-0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600" y="889451"/>
            <a:ext cx="4613135" cy="103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 descr="petites-bande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530" y="4654558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482600" y="1111988"/>
            <a:ext cx="8193000" cy="3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2"/>
          </p:nvPr>
        </p:nvSpPr>
        <p:spPr>
          <a:xfrm>
            <a:off x="467544" y="4801791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95536" y="739486"/>
            <a:ext cx="446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9A45F"/>
              </a:buClr>
              <a:buSzPts val="2800"/>
              <a:buFont typeface="Montserrat SemiBold"/>
              <a:buNone/>
              <a:defRPr sz="2800" b="0" i="0" u="none" strike="noStrike" cap="none">
                <a:solidFill>
                  <a:srgbClr val="F9A45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395536" y="1769566"/>
            <a:ext cx="44646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pic>
        <p:nvPicPr>
          <p:cNvPr id="60" name="Google Shape;60;p14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63312" y="2042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 descr="petites-band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9283" y="4801663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>
            <a:spLocks noGrp="1"/>
          </p:cNvSpPr>
          <p:nvPr>
            <p:ph type="pic" idx="2"/>
          </p:nvPr>
        </p:nvSpPr>
        <p:spPr>
          <a:xfrm>
            <a:off x="5003800" y="735546"/>
            <a:ext cx="41403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pic>
        <p:nvPicPr>
          <p:cNvPr id="63" name="Google Shape;63;p14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63312" y="2042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descr="petites-band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9283" y="4801663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body" idx="3"/>
          </p:nvPr>
        </p:nvSpPr>
        <p:spPr>
          <a:xfrm>
            <a:off x="7164388" y="4731990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itre">
  <p:cSld name="Chapitr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63312" y="2042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descr="petites-band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9283" y="4801663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>
            <a:spLocks noGrp="1"/>
          </p:cNvSpPr>
          <p:nvPr>
            <p:ph type="pic" idx="2"/>
          </p:nvPr>
        </p:nvSpPr>
        <p:spPr>
          <a:xfrm>
            <a:off x="0" y="0"/>
            <a:ext cx="4284600" cy="51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427984" y="843558"/>
            <a:ext cx="446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9A45F"/>
              </a:buClr>
              <a:buSzPts val="2800"/>
              <a:buFont typeface="Montserrat SemiBold"/>
              <a:buNone/>
              <a:defRPr sz="2800" b="0" i="0" u="none" strike="noStrike" cap="none">
                <a:solidFill>
                  <a:srgbClr val="F9A45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4427984" y="1873638"/>
            <a:ext cx="44646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3"/>
          </p:nvPr>
        </p:nvSpPr>
        <p:spPr>
          <a:xfrm>
            <a:off x="7163199" y="4731990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16328"/>
            <a:ext cx="376670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25" y="316000"/>
            <a:ext cx="1442700" cy="98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4"/>
          <p:cNvSpPr txBox="1"/>
          <p:nvPr/>
        </p:nvSpPr>
        <p:spPr>
          <a:xfrm>
            <a:off x="385852" y="2571749"/>
            <a:ext cx="4886100" cy="199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800" dirty="0">
                <a:solidFill>
                  <a:srgbClr val="F392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Présentation d’avancement 08/09/2025</a:t>
            </a:r>
            <a:endParaRPr sz="38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34"/>
          <p:cNvSpPr txBox="1"/>
          <p:nvPr/>
        </p:nvSpPr>
        <p:spPr>
          <a:xfrm>
            <a:off x="438525" y="4376800"/>
            <a:ext cx="4886100" cy="45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dirty="0">
                <a:solidFill>
                  <a:srgbClr val="646363"/>
                </a:solidFill>
                <a:latin typeface="Montserrat"/>
                <a:ea typeface="Montserrat"/>
                <a:cs typeface="Montserrat"/>
                <a:sym typeface="Montserrat"/>
              </a:rPr>
              <a:t>Rosilia MODJO</a:t>
            </a:r>
            <a:endParaRPr sz="15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"/>
          <p:cNvSpPr txBox="1">
            <a:spLocks noGrp="1"/>
          </p:cNvSpPr>
          <p:nvPr>
            <p:ph type="title"/>
          </p:nvPr>
        </p:nvSpPr>
        <p:spPr>
          <a:xfrm>
            <a:off x="444522" y="1972293"/>
            <a:ext cx="446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A45F"/>
              </a:buClr>
              <a:buSzPts val="2800"/>
              <a:buFont typeface="Montserrat SemiBold"/>
              <a:buNone/>
            </a:pPr>
            <a:r>
              <a:rPr lang="fr-CM" sz="2800" b="0" i="0" u="none" strike="noStrike" cap="none" dirty="0">
                <a:solidFill>
                  <a:srgbClr val="F9A45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ANALYSE DES CODES FOURNIS </a:t>
            </a:r>
            <a:endParaRPr sz="2800" b="0" i="0" u="none" strike="noStrike" cap="none" dirty="0">
              <a:solidFill>
                <a:srgbClr val="F9A45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91" name="Google Shape;291;p4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6442" r="26447"/>
          <a:stretch/>
        </p:blipFill>
        <p:spPr>
          <a:xfrm>
            <a:off x="5003800" y="735546"/>
            <a:ext cx="4140300" cy="37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2"/>
          <p:cNvSpPr txBox="1">
            <a:spLocks noGrp="1"/>
          </p:cNvSpPr>
          <p:nvPr>
            <p:ph type="body" idx="3"/>
          </p:nvPr>
        </p:nvSpPr>
        <p:spPr>
          <a:xfrm>
            <a:off x="7164388" y="4731990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28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 txBox="1">
            <a:spLocks noGrp="1"/>
          </p:cNvSpPr>
          <p:nvPr>
            <p:ph type="body" idx="2"/>
          </p:nvPr>
        </p:nvSpPr>
        <p:spPr>
          <a:xfrm>
            <a:off x="467544" y="4801791"/>
            <a:ext cx="1800300" cy="2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C6B445A4-0CAE-D762-9D48-AEC32BCE5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357861"/>
              </p:ext>
            </p:extLst>
          </p:nvPr>
        </p:nvGraphicFramePr>
        <p:xfrm>
          <a:off x="114300" y="0"/>
          <a:ext cx="8915400" cy="5433077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242332">
                  <a:extLst>
                    <a:ext uri="{9D8B030D-6E8A-4147-A177-3AD203B41FA5}">
                      <a16:colId xmlns:a16="http://schemas.microsoft.com/office/drawing/2014/main" val="3522989913"/>
                    </a:ext>
                  </a:extLst>
                </a:gridCol>
                <a:gridCol w="2224356">
                  <a:extLst>
                    <a:ext uri="{9D8B030D-6E8A-4147-A177-3AD203B41FA5}">
                      <a16:colId xmlns:a16="http://schemas.microsoft.com/office/drawing/2014/main" val="1253055273"/>
                    </a:ext>
                  </a:extLst>
                </a:gridCol>
                <a:gridCol w="2224356">
                  <a:extLst>
                    <a:ext uri="{9D8B030D-6E8A-4147-A177-3AD203B41FA5}">
                      <a16:colId xmlns:a16="http://schemas.microsoft.com/office/drawing/2014/main" val="395302889"/>
                    </a:ext>
                  </a:extLst>
                </a:gridCol>
                <a:gridCol w="2224356">
                  <a:extLst>
                    <a:ext uri="{9D8B030D-6E8A-4147-A177-3AD203B41FA5}">
                      <a16:colId xmlns:a16="http://schemas.microsoft.com/office/drawing/2014/main" val="14114053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CM" dirty="0">
                          <a:effectLst/>
                        </a:rPr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CM" dirty="0">
                          <a:effectLst/>
                        </a:rPr>
                        <a:t>Fichiers</a:t>
                      </a:r>
                    </a:p>
                    <a:p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Constat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Choix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6733"/>
                  </a:ext>
                </a:extLst>
              </a:tr>
              <a:tr h="679154">
                <a:tc>
                  <a:txBody>
                    <a:bodyPr/>
                    <a:lstStyle/>
                    <a:p>
                      <a:r>
                        <a:rPr lang="fr-CM" dirty="0"/>
                        <a:t>NRL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Doublons et amélioration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>
                          <a:effectLst/>
                        </a:rPr>
                        <a:t>f_Nrcs_3dMonoGrazing_NRL_2012.m</a:t>
                      </a:r>
                    </a:p>
                    <a:p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269983"/>
                  </a:ext>
                </a:extLst>
              </a:tr>
              <a:tr h="525797">
                <a:tc>
                  <a:txBody>
                    <a:bodyPr/>
                    <a:lstStyle/>
                    <a:p>
                      <a:r>
                        <a:rPr lang="fr-CM" dirty="0"/>
                        <a:t>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Doublons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CM" dirty="0">
                          <a:effectLst/>
                        </a:rPr>
                        <a:t>f_Nrcs_3dMonoGrazing_GIT.m</a:t>
                      </a:r>
                    </a:p>
                    <a:p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871916"/>
                  </a:ext>
                </a:extLst>
              </a:tr>
              <a:tr h="525797">
                <a:tc>
                  <a:txBody>
                    <a:bodyPr/>
                    <a:lstStyle/>
                    <a:p>
                      <a:r>
                        <a:rPr lang="fr-CM" dirty="0"/>
                        <a:t>TSC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Doublons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CM" dirty="0">
                          <a:effectLst/>
                        </a:rPr>
                        <a:t>f_Nrcs_3dMonoGrazing_TSC.m</a:t>
                      </a:r>
                    </a:p>
                    <a:p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322261"/>
                  </a:ext>
                </a:extLst>
              </a:tr>
              <a:tr h="525797">
                <a:tc>
                  <a:txBody>
                    <a:bodyPr/>
                    <a:lstStyle/>
                    <a:p>
                      <a:r>
                        <a:rPr lang="fr-CM" dirty="0"/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Doublons et améliorations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CM" dirty="0" err="1">
                          <a:effectLst/>
                        </a:rPr>
                        <a:t>f_GrazingNRCS_HYB.m</a:t>
                      </a:r>
                      <a:endParaRPr lang="fr-CM" dirty="0">
                        <a:effectLst/>
                      </a:endParaRPr>
                    </a:p>
                    <a:p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261042"/>
                  </a:ext>
                </a:extLst>
              </a:tr>
              <a:tr h="525797">
                <a:tc>
                  <a:txBody>
                    <a:bodyPr/>
                    <a:lstStyle/>
                    <a:p>
                      <a:r>
                        <a:rPr lang="fr-CM" dirty="0"/>
                        <a:t>NATHANSON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Variantes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CM" dirty="0" err="1">
                          <a:effectLst/>
                        </a:rPr>
                        <a:t>f_GrazingNRCS_Nathanson.m</a:t>
                      </a:r>
                      <a:endParaRPr lang="fr-CM" dirty="0">
                        <a:effectLst/>
                      </a:endParaRPr>
                    </a:p>
                    <a:p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537887"/>
                  </a:ext>
                </a:extLst>
              </a:tr>
              <a:tr h="679154">
                <a:tc>
                  <a:txBody>
                    <a:bodyPr/>
                    <a:lstStyle/>
                    <a:p>
                      <a:r>
                        <a:rPr lang="fr-CM" dirty="0"/>
                        <a:t>MASUKO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Variantes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CM" dirty="0">
                          <a:effectLst/>
                        </a:rPr>
                        <a:t>f_Nrcs_3dMono_EmpExpSea_Xband_Masuko.m</a:t>
                      </a:r>
                    </a:p>
                    <a:p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501494"/>
                  </a:ext>
                </a:extLst>
              </a:tr>
              <a:tr h="525797">
                <a:tc>
                  <a:txBody>
                    <a:bodyPr/>
                    <a:lstStyle/>
                    <a:p>
                      <a:r>
                        <a:rPr lang="fr-CM" dirty="0"/>
                        <a:t>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Doublons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CM" dirty="0">
                          <a:effectLst/>
                        </a:rPr>
                        <a:t>f_Nrcs_3dMonoGrazing_SIT.m</a:t>
                      </a:r>
                    </a:p>
                    <a:p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227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/>
          <p:nvPr/>
        </p:nvSpPr>
        <p:spPr>
          <a:xfrm>
            <a:off x="1350" y="2131000"/>
            <a:ext cx="9141300" cy="246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39"/>
          <p:cNvSpPr/>
          <p:nvPr/>
        </p:nvSpPr>
        <p:spPr>
          <a:xfrm>
            <a:off x="1350" y="0"/>
            <a:ext cx="3482700" cy="2114400"/>
          </a:xfrm>
          <a:prstGeom prst="rect">
            <a:avLst/>
          </a:prstGeom>
          <a:solidFill>
            <a:srgbClr val="FFD9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1" name="Google Shape;25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800" y="4583425"/>
            <a:ext cx="478775" cy="47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9"/>
          <p:cNvSpPr txBox="1"/>
          <p:nvPr/>
        </p:nvSpPr>
        <p:spPr>
          <a:xfrm>
            <a:off x="1369082" y="2269612"/>
            <a:ext cx="22920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M" sz="22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Paramètres</a:t>
            </a:r>
            <a:endParaRPr sz="10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39"/>
          <p:cNvSpPr txBox="1"/>
          <p:nvPr/>
        </p:nvSpPr>
        <p:spPr>
          <a:xfrm>
            <a:off x="456950" y="354075"/>
            <a:ext cx="29721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M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METHOLOGIE DE VALIDATION</a:t>
            </a:r>
            <a:endParaRPr sz="3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5" name="Google Shape;255;p39"/>
          <p:cNvCxnSpPr/>
          <p:nvPr/>
        </p:nvCxnSpPr>
        <p:spPr>
          <a:xfrm>
            <a:off x="543950" y="2754225"/>
            <a:ext cx="0" cy="10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6" name="Google Shape;256;p39"/>
          <p:cNvSpPr txBox="1"/>
          <p:nvPr/>
        </p:nvSpPr>
        <p:spPr>
          <a:xfrm>
            <a:off x="1446575" y="2890340"/>
            <a:ext cx="2319600" cy="1609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365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Tx/>
              <a:buChar char="-"/>
            </a:pPr>
            <a:r>
              <a:rPr lang="fr-FR" sz="11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Fréquence</a:t>
            </a:r>
          </a:p>
          <a:p>
            <a:pPr marL="3365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Tx/>
              <a:buChar char="-"/>
            </a:pPr>
            <a:r>
              <a:rPr lang="fr-FR" sz="11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Angle d’incidence / angle de rasance </a:t>
            </a:r>
          </a:p>
          <a:p>
            <a:pPr marL="3365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Tx/>
              <a:buChar char="-"/>
            </a:pPr>
            <a:r>
              <a:rPr lang="fr-FR" sz="11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Etat de mer </a:t>
            </a:r>
          </a:p>
          <a:p>
            <a:pPr marL="3365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Tx/>
              <a:buChar char="-"/>
            </a:pPr>
            <a:r>
              <a:rPr lang="fr-FR" sz="11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Polarisation</a:t>
            </a:r>
          </a:p>
          <a:p>
            <a:pPr marL="3365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Tx/>
              <a:buChar char="-"/>
            </a:pPr>
            <a:r>
              <a:rPr lang="fr-FR" sz="11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Angle relatif au vent </a:t>
            </a:r>
          </a:p>
        </p:txBody>
      </p:sp>
      <p:pic>
        <p:nvPicPr>
          <p:cNvPr id="257" name="Google Shape;257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6219" y="3022825"/>
            <a:ext cx="295475" cy="2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9"/>
          <p:cNvSpPr txBox="1"/>
          <p:nvPr/>
        </p:nvSpPr>
        <p:spPr>
          <a:xfrm>
            <a:off x="5893054" y="2310150"/>
            <a:ext cx="238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Outils </a:t>
            </a:r>
            <a:endParaRPr sz="2200" b="1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9" name="Google Shape;259;p39"/>
          <p:cNvCxnSpPr/>
          <p:nvPr/>
        </p:nvCxnSpPr>
        <p:spPr>
          <a:xfrm>
            <a:off x="4912800" y="2754225"/>
            <a:ext cx="0" cy="10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0" name="Google Shape;260;p39"/>
          <p:cNvSpPr txBox="1"/>
          <p:nvPr/>
        </p:nvSpPr>
        <p:spPr>
          <a:xfrm>
            <a:off x="5506013" y="2872727"/>
            <a:ext cx="2604900" cy="153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365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CM" sz="11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Environnement : MATLAB</a:t>
            </a:r>
          </a:p>
          <a:p>
            <a:pPr marL="3365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CM" sz="11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Codes : sélectionnés lors de l ’analyse </a:t>
            </a:r>
          </a:p>
          <a:p>
            <a:pPr marL="3365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CM" sz="11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Scripts : inspirés de C_ComparNRCS_NRL_v1.m mais en ajustant les configurations </a:t>
            </a:r>
          </a:p>
          <a:p>
            <a:pPr marL="3365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sz="1100" b="1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1" name="Google Shape;261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4476" y="2930652"/>
            <a:ext cx="295475" cy="2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84052" y="0"/>
            <a:ext cx="5659498" cy="21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6F643E-7F1D-E84E-B576-96FEB6C2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dirty="0"/>
              <a:t>VALIDATION-NRL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7FE33F-EE0E-6595-3566-84E2E71EE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M" b="1" u="sng" dirty="0"/>
              <a:t>CONFIGURATIONS TESTEES:</a:t>
            </a:r>
          </a:p>
          <a:p>
            <a:endParaRPr lang="fr-CM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431819-5224-6127-7474-2B7032D9565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fr-CM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BEDFDAA-A630-A279-24A7-DA87AEC45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62" y="1690564"/>
            <a:ext cx="8059275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003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07569-0674-8CAF-4DE1-AB0CBF699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051B4F-E708-B6A2-7730-A6CD8E7DA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dirty="0"/>
              <a:t>VALIDATION-NRL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5FC12F-E34C-408A-CFCB-73BF9A606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M" b="1" u="sng" dirty="0"/>
              <a:t>RESULTATS OBTENUS ( affichage pour </a:t>
            </a:r>
            <a:r>
              <a:rPr lang="fr-CM" b="1" u="sng" dirty="0" err="1"/>
              <a:t>pol</a:t>
            </a:r>
            <a:r>
              <a:rPr lang="fr-CM" b="1" u="sng" dirty="0"/>
              <a:t>=V et SS=3):</a:t>
            </a:r>
          </a:p>
          <a:p>
            <a:r>
              <a:rPr lang="fr-CM" dirty="0"/>
              <a:t>Concordance quasi-parfaite avec la Radar Toolbox</a:t>
            </a:r>
          </a:p>
          <a:p>
            <a:endParaRPr lang="fr-CM" dirty="0"/>
          </a:p>
          <a:p>
            <a:endParaRPr lang="fr-CM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E8A81A-8146-CEC3-8E16-406C8F565B1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25000" lnSpcReduction="20000"/>
          </a:bodyPr>
          <a:lstStyle/>
          <a:p>
            <a:endParaRPr lang="fr-CM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84F2461-532F-CB16-A7C0-5D2D9BC2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9533"/>
            <a:ext cx="9144000" cy="162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10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BB2CC3-FB8F-1111-A31C-E6292A60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dirty="0"/>
              <a:t>VALIDATION-HYBRID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977EB6-752E-F5D2-ED16-FBEBA568D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M" b="1" u="sng" dirty="0"/>
              <a:t>CONFIGURATIONS TESTEES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EA9581A-BE45-83EF-32AD-C84758F5E3E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fr-CM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FD1B5F1-E032-6D95-4202-804D82DF4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62" y="1846878"/>
            <a:ext cx="8059275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140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92B53-CE46-DE59-643F-3D734ABB6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7EB029-C5E2-CEA1-C365-FAD2C3D6A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dirty="0"/>
              <a:t>VALIDATION-HYBRID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946DB9-93C2-0CD0-DC54-2A6974A3A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M" b="1" u="sng" dirty="0"/>
              <a:t>RESULTATS OBTENUS ():</a:t>
            </a:r>
          </a:p>
          <a:p>
            <a:r>
              <a:rPr lang="fr-CM" dirty="0"/>
              <a:t>Pas de concordance parfaite, écarts moyens de 0,4 dB</a:t>
            </a:r>
          </a:p>
          <a:p>
            <a:r>
              <a:rPr lang="fr-CM"/>
              <a:t>A revoir !</a:t>
            </a:r>
            <a:endParaRPr lang="fr-CM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11F3CF5-3792-F12C-42D3-51F172D9DCB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25000" lnSpcReduction="20000"/>
          </a:bodyPr>
          <a:lstStyle/>
          <a:p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503275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2391" r="32391"/>
          <a:stretch/>
        </p:blipFill>
        <p:spPr>
          <a:xfrm>
            <a:off x="0" y="0"/>
            <a:ext cx="4284600" cy="513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3"/>
          <p:cNvSpPr txBox="1">
            <a:spLocks noGrp="1"/>
          </p:cNvSpPr>
          <p:nvPr>
            <p:ph type="title"/>
          </p:nvPr>
        </p:nvSpPr>
        <p:spPr>
          <a:xfrm>
            <a:off x="4427984" y="843558"/>
            <a:ext cx="446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A45F"/>
              </a:buClr>
              <a:buSzPts val="2800"/>
              <a:buFont typeface="Montserrat SemiBold"/>
              <a:buNone/>
            </a:pPr>
            <a:endParaRPr sz="2800" b="0" i="0" u="none" strike="noStrike" cap="none">
              <a:solidFill>
                <a:srgbClr val="F9A45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9" name="Google Shape;299;p43"/>
          <p:cNvSpPr txBox="1">
            <a:spLocks noGrp="1"/>
          </p:cNvSpPr>
          <p:nvPr>
            <p:ph type="body" idx="1"/>
          </p:nvPr>
        </p:nvSpPr>
        <p:spPr>
          <a:xfrm>
            <a:off x="4427984" y="1873638"/>
            <a:ext cx="44646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00" name="Google Shape;300;p43"/>
          <p:cNvSpPr txBox="1">
            <a:spLocks noGrp="1"/>
          </p:cNvSpPr>
          <p:nvPr>
            <p:ph type="body" idx="3"/>
          </p:nvPr>
        </p:nvSpPr>
        <p:spPr>
          <a:xfrm>
            <a:off x="7163199" y="4731990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28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195</Words>
  <Application>Microsoft Office PowerPoint</Application>
  <PresentationFormat>Affichage à l'écran (16:9)</PresentationFormat>
  <Paragraphs>57</Paragraphs>
  <Slides>9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Montserrat</vt:lpstr>
      <vt:lpstr>Arial</vt:lpstr>
      <vt:lpstr>Montserrat Light</vt:lpstr>
      <vt:lpstr>Montserrat SemiBold</vt:lpstr>
      <vt:lpstr>Simple Light</vt:lpstr>
      <vt:lpstr>Présentation PowerPoint</vt:lpstr>
      <vt:lpstr>ANALYSE DES CODES FOURNIS </vt:lpstr>
      <vt:lpstr>Présentation PowerPoint</vt:lpstr>
      <vt:lpstr>Présentation PowerPoint</vt:lpstr>
      <vt:lpstr>VALIDATION-NRL</vt:lpstr>
      <vt:lpstr>VALIDATION-NRL</vt:lpstr>
      <vt:lpstr>VALIDATION-HYBRID</vt:lpstr>
      <vt:lpstr>VALIDATION-HYBRID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Rosilia Cabrelle</cp:lastModifiedBy>
  <cp:revision>4</cp:revision>
  <dcterms:modified xsi:type="dcterms:W3CDTF">2025-09-18T07:31:58Z</dcterms:modified>
</cp:coreProperties>
</file>