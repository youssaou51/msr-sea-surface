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58" r:id="rId3"/>
    <p:sldId id="262" r:id="rId4"/>
    <p:sldId id="266" r:id="rId5"/>
    <p:sldId id="260" r:id="rId6"/>
    <p:sldId id="267" r:id="rId7"/>
    <p:sldId id="268" r:id="rId8"/>
    <p:sldId id="269" r:id="rId9"/>
    <p:sldId id="265" r:id="rId10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Light" panose="00000400000000000000" pitchFamily="2" charset="0"/>
      <p:regular r:id="rId17"/>
      <p:bold r:id="rId18"/>
      <p:italic r:id="rId19"/>
      <p:boldItalic r:id="rId20"/>
    </p:embeddedFont>
    <p:embeddedFont>
      <p:font typeface="Montserrat SemiBold" panose="000007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36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5edab136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20D9C6CE-69F2-2EE5-0FE7-9353C600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>
            <a:extLst>
              <a:ext uri="{FF2B5EF4-FFF2-40B4-BE49-F238E27FC236}">
                <a16:creationId xmlns:a16="http://schemas.microsoft.com/office/drawing/2014/main" id="{0E3616D1-D9D1-4B2B-8EE9-FDEFEC80C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5edab1364_0_1:notes">
            <a:extLst>
              <a:ext uri="{FF2B5EF4-FFF2-40B4-BE49-F238E27FC236}">
                <a16:creationId xmlns:a16="http://schemas.microsoft.com/office/drawing/2014/main" id="{931E241B-8487-6142-35FD-0BE93438A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75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r.mathworks.com/matlabcentral/fileexchange/47982-gui-layout-toolbox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08/10/2025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73110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794275"/>
            <a:ext cx="3180547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 d’avancement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4424051" y="1849149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effectués au cours de la semaine 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id="{1437728D-67ED-AAFD-26FE-BFFC6782C770}"/>
              </a:ext>
            </a:extLst>
          </p:cNvPr>
          <p:cNvSpPr txBox="1"/>
          <p:nvPr/>
        </p:nvSpPr>
        <p:spPr>
          <a:xfrm>
            <a:off x="3894065" y="184914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84;p36">
            <a:extLst>
              <a:ext uri="{FF2B5EF4-FFF2-40B4-BE49-F238E27FC236}">
                <a16:creationId xmlns:a16="http://schemas.microsoft.com/office/drawing/2014/main" id="{7AE75580-E5DF-6EA0-EB63-11A267F60795}"/>
              </a:ext>
            </a:extLst>
          </p:cNvPr>
          <p:cNvSpPr txBox="1"/>
          <p:nvPr/>
        </p:nvSpPr>
        <p:spPr>
          <a:xfrm>
            <a:off x="3909188" y="319976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91;p36">
            <a:extLst>
              <a:ext uri="{FF2B5EF4-FFF2-40B4-BE49-F238E27FC236}">
                <a16:creationId xmlns:a16="http://schemas.microsoft.com/office/drawing/2014/main" id="{E247FEF7-CEA8-9364-F22A-FBD55FA44957}"/>
              </a:ext>
            </a:extLst>
          </p:cNvPr>
          <p:cNvSpPr txBox="1"/>
          <p:nvPr/>
        </p:nvSpPr>
        <p:spPr>
          <a:xfrm>
            <a:off x="4424049" y="3320571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à faire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394630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4D003C2F-3386-71E6-B25D-2F94677C17C7}"/>
              </a:ext>
            </a:extLst>
          </p:cNvPr>
          <p:cNvSpPr txBox="1"/>
          <p:nvPr/>
        </p:nvSpPr>
        <p:spPr>
          <a:xfrm>
            <a:off x="2165539" y="1480883"/>
            <a:ext cx="48861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D139B3-B71C-2712-1480-1C4ED361F9F1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FE33F-EE0E-6595-3566-84E2E71EE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Validation des modèles (semi-empiriques)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Choix de la technologie de développement de l’interface (GUI Toolbox de MATLAB)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Développement du squelette de l’interface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Ajout progressif des modèles semi-empiriques et expérimentaux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Ajustement  progressif de l’interface ( c</a:t>
            </a:r>
            <a:r>
              <a:rPr lang="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hangement de la langue de l’interface, affichage de la NRCS calculée dans la section résultats , remplacement de l’angle de rasance </a:t>
            </a:r>
            <a:r>
              <a:rPr lang="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Wingdings" panose="05000000000000000000" pitchFamily="2" charset="2"/>
              </a:rPr>
              <a:t>par l’angle d’incidence, remplacement du paramètre état de mer par vitesse du vent u10…)</a:t>
            </a:r>
            <a:endParaRPr lang="fr-CM" b="1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431819-5224-6127-7474-2B7032D956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300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/>
        </p:nvSpPr>
        <p:spPr>
          <a:xfrm>
            <a:off x="4572000" y="3295095"/>
            <a:ext cx="4056857" cy="482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Ajout du paramètre Frequency band 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456949" y="82770"/>
            <a:ext cx="3119007" cy="195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Travaux réalisés au cours de la semaine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B13659D-5350-9410-562D-6D044E2D0911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6" name="Google Shape;233;p38">
            <a:extLst>
              <a:ext uri="{FF2B5EF4-FFF2-40B4-BE49-F238E27FC236}">
                <a16:creationId xmlns:a16="http://schemas.microsoft.com/office/drawing/2014/main" id="{DB67586C-28B3-ED7C-45D0-1AD0FC1D2D0C}"/>
              </a:ext>
            </a:extLst>
          </p:cNvPr>
          <p:cNvSpPr txBox="1"/>
          <p:nvPr/>
        </p:nvSpPr>
        <p:spPr>
          <a:xfrm>
            <a:off x="288737" y="2217450"/>
            <a:ext cx="4056857" cy="97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Vérification de l’utilisabilité de l’interface sans installation de la Toolbox 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33;p38">
            <a:extLst>
              <a:ext uri="{FF2B5EF4-FFF2-40B4-BE49-F238E27FC236}">
                <a16:creationId xmlns:a16="http://schemas.microsoft.com/office/drawing/2014/main" id="{162A3127-E16B-592E-9BC7-9F63D444DD5D}"/>
              </a:ext>
            </a:extLst>
          </p:cNvPr>
          <p:cNvSpPr txBox="1"/>
          <p:nvPr/>
        </p:nvSpPr>
        <p:spPr>
          <a:xfrm>
            <a:off x="355604" y="3296224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Unification de la NRCS en </a:t>
            </a:r>
            <a:r>
              <a:rPr lang="fr-CM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dB sur l’interface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33;p38">
            <a:extLst>
              <a:ext uri="{FF2B5EF4-FFF2-40B4-BE49-F238E27FC236}">
                <a16:creationId xmlns:a16="http://schemas.microsoft.com/office/drawing/2014/main" id="{96AB1BC3-0AF0-9204-50B1-10AD61777CE6}"/>
              </a:ext>
            </a:extLst>
          </p:cNvPr>
          <p:cNvSpPr txBox="1"/>
          <p:nvPr/>
        </p:nvSpPr>
        <p:spPr>
          <a:xfrm>
            <a:off x="4572000" y="2217450"/>
            <a:ext cx="4056857" cy="97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Ajout des modèles Meissner, Wentz84, Wentz99, Masuko (bandes X et Ka)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C4F5F-A49B-7C82-20E5-295A56B9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réalisés durant la semaine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A89553-F360-B5AE-6A0D-1F5A858C2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Vérification de l’utilisabilité de l’interface sans installation de la Toolbox </a:t>
            </a:r>
          </a:p>
          <a:p>
            <a:pPr marL="114300" indent="0">
              <a:buNone/>
            </a:pPr>
            <a:r>
              <a:rPr lang="fr-CM" dirty="0">
                <a:latin typeface="Montserrat" panose="00000500000000000000" pitchFamily="2" charset="0"/>
              </a:rPr>
              <a:t>L’interface s’avère n’être pas utilisable sans l’installation préalable de la GUI </a:t>
            </a:r>
            <a:r>
              <a:rPr lang="fr-CM" dirty="0" err="1">
                <a:latin typeface="Montserrat" panose="00000500000000000000" pitchFamily="2" charset="0"/>
              </a:rPr>
              <a:t>Layout</a:t>
            </a:r>
            <a:r>
              <a:rPr lang="fr-CM" dirty="0">
                <a:latin typeface="Montserrat" panose="00000500000000000000" pitchFamily="2" charset="0"/>
              </a:rPr>
              <a:t> Toolbox étant donné l’utilisation de classes et fonctions spécifiques à la Toolbox. La contrainte étant négligeable vu la gratuité de cette dernière, téléchargeable sur </a:t>
            </a:r>
            <a:r>
              <a:rPr lang="fr-CM" dirty="0">
                <a:latin typeface="Montserrat" panose="00000500000000000000" pitchFamily="2" charset="0"/>
                <a:hlinkClick r:id="rId2"/>
              </a:rPr>
              <a:t>GUI </a:t>
            </a:r>
            <a:r>
              <a:rPr lang="fr-CM" dirty="0" err="1">
                <a:latin typeface="Montserrat" panose="00000500000000000000" pitchFamily="2" charset="0"/>
                <a:hlinkClick r:id="rId2"/>
              </a:rPr>
              <a:t>Layout</a:t>
            </a:r>
            <a:r>
              <a:rPr lang="fr-CM" dirty="0">
                <a:latin typeface="Montserrat" panose="00000500000000000000" pitchFamily="2" charset="0"/>
                <a:hlinkClick r:id="rId2"/>
              </a:rPr>
              <a:t> Toolbox - File Exchange - MATLAB Central</a:t>
            </a:r>
            <a:endParaRPr lang="fr-CM" dirty="0">
              <a:latin typeface="Montserrat" panose="00000500000000000000" pitchFamily="2" charset="0"/>
            </a:endParaRPr>
          </a:p>
          <a:p>
            <a:pPr marL="114300" indent="0">
              <a:buNone/>
            </a:pPr>
            <a:endParaRPr lang="fr-CM" dirty="0"/>
          </a:p>
          <a:p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Unification de la NRCS en dB sur l’interface</a:t>
            </a:r>
          </a:p>
          <a:p>
            <a:pPr marL="114300" indent="0">
              <a:buNone/>
            </a:pP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Utilisation de la formule </a:t>
            </a:r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NRCS(dB)= 10*log(NRCS(lin)) </a:t>
            </a: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pour conversion de la NRCS calculée par les modèles expérimentaux </a:t>
            </a:r>
            <a:endParaRPr lang="fr-FR" b="1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endParaRPr lang="fr-CM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CA2FA3-BD2C-C620-BF6B-3B73FC658A15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784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3740D0-739B-157E-D5B7-A9048BBE5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réalisés durant la semaine</a:t>
            </a:r>
            <a:endParaRPr lang="fr-CM" dirty="0">
              <a:latin typeface="Montserrat" panose="00000500000000000000" pitchFamily="2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22D9F5-F8EF-37F7-80DE-9ECBF25F9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Ajout des modèles Meissner, Wentz84, Wentz99, </a:t>
            </a:r>
            <a:r>
              <a:rPr lang="fr-FR" b="1" dirty="0" err="1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Masuko</a:t>
            </a:r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 (bandes X et Ka)</a:t>
            </a:r>
          </a:p>
          <a:p>
            <a:pPr marL="114300" indent="0">
              <a:buNone/>
            </a:pP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Implémentation des modèles dans l’interface.</a:t>
            </a:r>
          </a:p>
          <a:p>
            <a:pPr marL="114300" indent="0">
              <a:buNone/>
            </a:pPr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NB: </a:t>
            </a: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Prise en compte de la conversion de vitesse u10 en u19 pour le modèle </a:t>
            </a:r>
            <a:r>
              <a:rPr lang="fr-FR" dirty="0" err="1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Masuko</a:t>
            </a:r>
            <a:endParaRPr lang="fr-FR" b="1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None/>
            </a:pPr>
            <a:endParaRPr lang="fr-FR" b="1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Ajout du paramètre Frequency band </a:t>
            </a:r>
          </a:p>
          <a:p>
            <a:pPr marL="114300" indent="0">
              <a:buNone/>
            </a:pP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Ajout du paramètre « Frequency band» sur l’interface.</a:t>
            </a:r>
          </a:p>
          <a:p>
            <a:pPr marL="114300" indent="0">
              <a:buNone/>
            </a:pP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Gestion de la dépendance avec le paramètre «  Frequency » pas encore terminée.</a:t>
            </a:r>
          </a:p>
          <a:p>
            <a:endParaRPr lang="fr-CM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694B2CD-E00A-BE8C-213A-27B1254F14A7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6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874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7386E986-1ADE-CB08-82E5-9334B2A9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29385FAF-BA05-27AC-1E08-0CB2247C2B6B}"/>
              </a:ext>
            </a:extLst>
          </p:cNvPr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>
            <a:extLst>
              <a:ext uri="{FF2B5EF4-FFF2-40B4-BE49-F238E27FC236}">
                <a16:creationId xmlns:a16="http://schemas.microsoft.com/office/drawing/2014/main" id="{F0F2850D-416C-9038-8B91-3BD6239A6D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>
            <a:extLst>
              <a:ext uri="{FF2B5EF4-FFF2-40B4-BE49-F238E27FC236}">
                <a16:creationId xmlns:a16="http://schemas.microsoft.com/office/drawing/2014/main" id="{32925A70-4A56-9FC5-7F84-BD587D9FF427}"/>
              </a:ext>
            </a:extLst>
          </p:cNvPr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>
            <a:extLst>
              <a:ext uri="{FF2B5EF4-FFF2-40B4-BE49-F238E27FC236}">
                <a16:creationId xmlns:a16="http://schemas.microsoft.com/office/drawing/2014/main" id="{3D9D39D2-FF67-7009-03A2-B675022B58A2}"/>
              </a:ext>
            </a:extLst>
          </p:cNvPr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>
            <a:extLst>
              <a:ext uri="{FF2B5EF4-FFF2-40B4-BE49-F238E27FC236}">
                <a16:creationId xmlns:a16="http://schemas.microsoft.com/office/drawing/2014/main" id="{6835C172-CF37-24B8-9C3B-314FE892F0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>
            <a:extLst>
              <a:ext uri="{FF2B5EF4-FFF2-40B4-BE49-F238E27FC236}">
                <a16:creationId xmlns:a16="http://schemas.microsoft.com/office/drawing/2014/main" id="{F16F5A86-D019-C53A-FC37-3A7EA3BC0521}"/>
              </a:ext>
            </a:extLst>
          </p:cNvPr>
          <p:cNvSpPr txBox="1"/>
          <p:nvPr/>
        </p:nvSpPr>
        <p:spPr>
          <a:xfrm>
            <a:off x="824528" y="858560"/>
            <a:ext cx="3119007" cy="666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faire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3E3EB4-E970-6683-4E57-CE91E6270272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7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6" name="Google Shape;233;p38">
            <a:extLst>
              <a:ext uri="{FF2B5EF4-FFF2-40B4-BE49-F238E27FC236}">
                <a16:creationId xmlns:a16="http://schemas.microsoft.com/office/drawing/2014/main" id="{E43149D2-1B55-53DF-1C68-44D9170DB9B3}"/>
              </a:ext>
            </a:extLst>
          </p:cNvPr>
          <p:cNvSpPr txBox="1"/>
          <p:nvPr/>
        </p:nvSpPr>
        <p:spPr>
          <a:xfrm>
            <a:off x="412575" y="2381789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Etude de la génération de la surface de mer et génération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33;p38">
            <a:extLst>
              <a:ext uri="{FF2B5EF4-FFF2-40B4-BE49-F238E27FC236}">
                <a16:creationId xmlns:a16="http://schemas.microsoft.com/office/drawing/2014/main" id="{996B46E5-AE3A-2AE0-7B27-ADC225AAF3F0}"/>
              </a:ext>
            </a:extLst>
          </p:cNvPr>
          <p:cNvSpPr txBox="1"/>
          <p:nvPr/>
        </p:nvSpPr>
        <p:spPr>
          <a:xfrm>
            <a:off x="4674569" y="2372434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-CM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Etude des couts mémoires des opérations et calculs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33;p38">
            <a:extLst>
              <a:ext uri="{FF2B5EF4-FFF2-40B4-BE49-F238E27FC236}">
                <a16:creationId xmlns:a16="http://schemas.microsoft.com/office/drawing/2014/main" id="{96875452-34AF-CD2B-200A-54A0130B075E}"/>
              </a:ext>
            </a:extLst>
          </p:cNvPr>
          <p:cNvSpPr txBox="1"/>
          <p:nvPr/>
        </p:nvSpPr>
        <p:spPr>
          <a:xfrm>
            <a:off x="412575" y="3092630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Fournir une version de test de l’interface 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33;p38">
            <a:extLst>
              <a:ext uri="{FF2B5EF4-FFF2-40B4-BE49-F238E27FC236}">
                <a16:creationId xmlns:a16="http://schemas.microsoft.com/office/drawing/2014/main" id="{D220EB5C-163A-6228-6AEC-DEB1F2E03E01}"/>
              </a:ext>
            </a:extLst>
          </p:cNvPr>
          <p:cNvSpPr txBox="1"/>
          <p:nvPr/>
        </p:nvSpPr>
        <p:spPr>
          <a:xfrm>
            <a:off x="4674568" y="3083275"/>
            <a:ext cx="4056857" cy="97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Comparer le temps de calcul pour la génération de la surface de mer par MATLAB et par le code fourni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8495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5629</TotalTime>
  <Words>378</Words>
  <Application>Microsoft Office PowerPoint</Application>
  <PresentationFormat>Affichage à l'écran (16:9)</PresentationFormat>
  <Paragraphs>48</Paragraphs>
  <Slides>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Montserrat Light</vt:lpstr>
      <vt:lpstr>Montserrat SemiBold</vt:lpstr>
      <vt:lpstr>Aharoni</vt:lpstr>
      <vt:lpstr>Montserrat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Travaux réalisés durant la semaine</vt:lpstr>
      <vt:lpstr>Travaux réalisés durant la semaine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11</cp:revision>
  <dcterms:modified xsi:type="dcterms:W3CDTF">2025-10-09T08:42:45Z</dcterms:modified>
</cp:coreProperties>
</file>