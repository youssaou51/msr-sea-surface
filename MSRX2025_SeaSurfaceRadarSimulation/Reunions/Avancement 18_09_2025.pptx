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258" r:id="rId3"/>
    <p:sldId id="262" r:id="rId4"/>
    <p:sldId id="266" r:id="rId5"/>
    <p:sldId id="267" r:id="rId6"/>
    <p:sldId id="268" r:id="rId7"/>
    <p:sldId id="260" r:id="rId8"/>
    <p:sldId id="269" r:id="rId9"/>
    <p:sldId id="270" r:id="rId10"/>
    <p:sldId id="265" r:id="rId11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Light" panose="00000400000000000000" pitchFamily="2" charset="0"/>
      <p:regular r:id="rId18"/>
      <p:bold r:id="rId19"/>
      <p:italic r:id="rId20"/>
      <p:boldItalic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03">
          <p15:clr>
            <a:srgbClr val="747775"/>
          </p15:clr>
        </p15:guide>
        <p15:guide id="2" pos="2854">
          <p15:clr>
            <a:srgbClr val="747775"/>
          </p15:clr>
        </p15:guide>
        <p15:guide id="3" pos="340">
          <p15:clr>
            <a:srgbClr val="747775"/>
          </p15:clr>
        </p15:guide>
        <p15:guide id="4" orient="horz" pos="21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940" y="36"/>
      </p:cViewPr>
      <p:guideLst>
        <p:guide orient="horz" pos="1603"/>
        <p:guide pos="2854"/>
        <p:guide pos="340"/>
        <p:guide orient="horz" pos="21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68f01b7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468f01b7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9f5bf7ef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9f5bf7ef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468f01b72f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5edab136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55edab136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480a6904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28480a6904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haut">
  <p:cSld name="Texte seul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 descr="supports - decli piste-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 descr="petites-bande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itre">
  <p:cSld name="Chapitr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petites-band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0" y="0"/>
            <a:ext cx="4284600" cy="5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427984" y="843558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  <a:defRPr sz="2800" b="0" i="0" u="none" strike="noStrike" cap="none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427984" y="1873638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3"/>
          </p:nvPr>
        </p:nvSpPr>
        <p:spPr>
          <a:xfrm>
            <a:off x="7163199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16328"/>
            <a:ext cx="376670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25" y="316000"/>
            <a:ext cx="1442700" cy="9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4"/>
          <p:cNvSpPr txBox="1"/>
          <p:nvPr/>
        </p:nvSpPr>
        <p:spPr>
          <a:xfrm>
            <a:off x="385852" y="2571749"/>
            <a:ext cx="4886100" cy="199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800" dirty="0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Présentation d’avancement 18/09/2025</a:t>
            </a:r>
            <a:endParaRPr sz="38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34"/>
          <p:cNvSpPr txBox="1"/>
          <p:nvPr/>
        </p:nvSpPr>
        <p:spPr>
          <a:xfrm>
            <a:off x="438525" y="4376800"/>
            <a:ext cx="4886100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dirty="0">
                <a:solidFill>
                  <a:srgbClr val="646363"/>
                </a:solidFill>
                <a:latin typeface="Montserrat"/>
                <a:ea typeface="Montserrat"/>
                <a:cs typeface="Montserrat"/>
                <a:sym typeface="Montserrat"/>
              </a:rPr>
              <a:t>Rosilia MODJO</a:t>
            </a:r>
            <a:endParaRPr sz="15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3456553" cy="45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6"/>
          <p:cNvSpPr/>
          <p:nvPr/>
        </p:nvSpPr>
        <p:spPr>
          <a:xfrm>
            <a:off x="3456554" y="0"/>
            <a:ext cx="5715000" cy="458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36"/>
          <p:cNvSpPr txBox="1"/>
          <p:nvPr/>
        </p:nvSpPr>
        <p:spPr>
          <a:xfrm>
            <a:off x="605654" y="2203235"/>
            <a:ext cx="2850900" cy="6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/>
          <p:nvPr/>
        </p:nvSpPr>
        <p:spPr>
          <a:xfrm>
            <a:off x="3909188" y="661251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6"/>
          <p:cNvSpPr txBox="1"/>
          <p:nvPr/>
        </p:nvSpPr>
        <p:spPr>
          <a:xfrm>
            <a:off x="4457300" y="794275"/>
            <a:ext cx="3180547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Bilan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36"/>
          <p:cNvSpPr/>
          <p:nvPr/>
        </p:nvSpPr>
        <p:spPr>
          <a:xfrm>
            <a:off x="4245650" y="2900832"/>
            <a:ext cx="423300" cy="423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6"/>
          <p:cNvSpPr txBox="1"/>
          <p:nvPr/>
        </p:nvSpPr>
        <p:spPr>
          <a:xfrm>
            <a:off x="4457300" y="2696973"/>
            <a:ext cx="2745321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Travaux en cours  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2878BCD-ACF6-15AB-128E-A6E4087A70EA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1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3" name="Google Shape;184;p36">
            <a:extLst>
              <a:ext uri="{FF2B5EF4-FFF2-40B4-BE49-F238E27FC236}">
                <a16:creationId xmlns:a16="http://schemas.microsoft.com/office/drawing/2014/main" id="{1437728D-67ED-AAFD-26FE-BFFC6782C770}"/>
              </a:ext>
            </a:extLst>
          </p:cNvPr>
          <p:cNvSpPr txBox="1"/>
          <p:nvPr/>
        </p:nvSpPr>
        <p:spPr>
          <a:xfrm>
            <a:off x="3909188" y="2455368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187;p36">
            <a:extLst>
              <a:ext uri="{FF2B5EF4-FFF2-40B4-BE49-F238E27FC236}">
                <a16:creationId xmlns:a16="http://schemas.microsoft.com/office/drawing/2014/main" id="{60D4ADE0-6375-9250-916C-A3F3D0578188}"/>
              </a:ext>
            </a:extLst>
          </p:cNvPr>
          <p:cNvSpPr/>
          <p:nvPr/>
        </p:nvSpPr>
        <p:spPr>
          <a:xfrm>
            <a:off x="4212401" y="1130360"/>
            <a:ext cx="423300" cy="423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/>
          <p:nvPr/>
        </p:nvSpPr>
        <p:spPr>
          <a:xfrm>
            <a:off x="438525" y="4149350"/>
            <a:ext cx="48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www.icam.fr</a:t>
            </a:r>
            <a:endParaRPr sz="3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0"/>
          <p:cNvSpPr txBox="1"/>
          <p:nvPr/>
        </p:nvSpPr>
        <p:spPr>
          <a:xfrm>
            <a:off x="438525" y="341440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25" y="3017909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998" y="2990350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7929" y="2990344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6304" y="3017911"/>
            <a:ext cx="478471" cy="47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2;p40">
            <a:extLst>
              <a:ext uri="{FF2B5EF4-FFF2-40B4-BE49-F238E27FC236}">
                <a16:creationId xmlns:a16="http://schemas.microsoft.com/office/drawing/2014/main" id="{4D003C2F-3386-71E6-B25D-2F94677C17C7}"/>
              </a:ext>
            </a:extLst>
          </p:cNvPr>
          <p:cNvSpPr txBox="1"/>
          <p:nvPr/>
        </p:nvSpPr>
        <p:spPr>
          <a:xfrm>
            <a:off x="2881575" y="1542223"/>
            <a:ext cx="48861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BILAN</a:t>
            </a:r>
            <a:endParaRPr sz="4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6F643E-7F1D-E84E-B576-96FEB6C2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dirty="0"/>
              <a:t>Tests de validation des modèles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7FE33F-EE0E-6595-3566-84E2E71EE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M" b="1" u="sng" dirty="0"/>
              <a:t>MODELES TESTES </a:t>
            </a:r>
            <a:r>
              <a:rPr lang="fr-CM" dirty="0"/>
              <a:t>( Cf MATLAB )</a:t>
            </a:r>
            <a:endParaRPr lang="fr-CM" b="1" u="sng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NRL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TSC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HYBRID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SITTROP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GIT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/>
              <a:t>MASUKO</a:t>
            </a:r>
          </a:p>
          <a:p>
            <a:endParaRPr lang="fr-CM" b="1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431819-5224-6127-7474-2B7032D956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275406" cy="235573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2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03003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5BB3E-CCCE-243F-FF1D-84C7EB769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1D0E1C-6017-6CBB-1DBD-86FC4004D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dirty="0"/>
              <a:t>Tests de validation des modèles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B6CD7B-BDCA-ADD3-60AF-2634C2BCE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M" b="1" u="sng" dirty="0"/>
              <a:t>MODELES VALIDES</a:t>
            </a:r>
          </a:p>
          <a:p>
            <a:endParaRPr lang="fr-CM" b="1" u="sng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NRL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CM" b="1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TSC</a:t>
            </a:r>
          </a:p>
          <a:p>
            <a:endParaRPr lang="fr-CM" b="1" u="sng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D4BE45-2E8C-D371-B325-B4A009A7511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275406" cy="235573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3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5637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E5225-7596-0621-39D2-7649F8BF5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3296DC-8D3A-1D5E-88AE-44C2FC85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dirty="0"/>
              <a:t>Tests de validation des modèles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EC6396-21D3-4533-E404-39E30B221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M" b="1" u="sng" dirty="0"/>
              <a:t>MODELES  NON VALIDES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HYBRID </a:t>
            </a:r>
          </a:p>
          <a:p>
            <a:pPr marL="228600" indent="0"/>
            <a:endParaRPr lang="fr-CM" b="1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SITTROP </a:t>
            </a:r>
          </a:p>
          <a:p>
            <a:pPr marL="228600" indent="0"/>
            <a:endParaRPr lang="fr-CM" b="1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GIT </a:t>
            </a:r>
          </a:p>
          <a:p>
            <a:pPr marL="228600" indent="0"/>
            <a:endParaRPr lang="fr-CM" b="1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MASUKO</a:t>
            </a:r>
            <a:r>
              <a:rPr lang="fr-CM" dirty="0"/>
              <a:t> </a:t>
            </a:r>
          </a:p>
          <a:p>
            <a:endParaRPr lang="fr-CM" b="1" u="sng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35C23E-E8BD-9D30-3E07-738571C1498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275406" cy="235573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4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27886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/>
          <p:nvPr/>
        </p:nvSpPr>
        <p:spPr>
          <a:xfrm>
            <a:off x="1350" y="21453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075" y="2150"/>
            <a:ext cx="565992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/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09B0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8"/>
          <p:cNvSpPr txBox="1"/>
          <p:nvPr/>
        </p:nvSpPr>
        <p:spPr>
          <a:xfrm>
            <a:off x="1040500" y="4715250"/>
            <a:ext cx="48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 txBox="1"/>
          <p:nvPr/>
        </p:nvSpPr>
        <p:spPr>
          <a:xfrm>
            <a:off x="1812593" y="2390887"/>
            <a:ext cx="4056857" cy="111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9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Etude comparative pour le choix de la technologie de l’interface </a:t>
            </a:r>
            <a:endParaRPr sz="10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456950" y="354075"/>
            <a:ext cx="2579700" cy="10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Travaux en cours 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B13659D-5350-9410-562D-6D044E2D0911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5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4" name="Google Shape;237;p38">
            <a:extLst>
              <a:ext uri="{FF2B5EF4-FFF2-40B4-BE49-F238E27FC236}">
                <a16:creationId xmlns:a16="http://schemas.microsoft.com/office/drawing/2014/main" id="{0CBF5178-6345-73D1-051A-678F3CA8067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7225" y="2571750"/>
            <a:ext cx="295475" cy="2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37;p38">
            <a:extLst>
              <a:ext uri="{FF2B5EF4-FFF2-40B4-BE49-F238E27FC236}">
                <a16:creationId xmlns:a16="http://schemas.microsoft.com/office/drawing/2014/main" id="{B8108CAD-0BE0-1806-557B-71A54D184B0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7118" y="3749569"/>
            <a:ext cx="295475" cy="2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33;p38">
            <a:extLst>
              <a:ext uri="{FF2B5EF4-FFF2-40B4-BE49-F238E27FC236}">
                <a16:creationId xmlns:a16="http://schemas.microsoft.com/office/drawing/2014/main" id="{DB67586C-28B3-ED7C-45D0-1AD0FC1D2D0C}"/>
              </a:ext>
            </a:extLst>
          </p:cNvPr>
          <p:cNvSpPr txBox="1"/>
          <p:nvPr/>
        </p:nvSpPr>
        <p:spPr>
          <a:xfrm>
            <a:off x="1812593" y="3501544"/>
            <a:ext cx="4056857" cy="820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9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Prise en main de l’outil MATLAB App Designer  </a:t>
            </a:r>
            <a:endParaRPr sz="10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30E736-EF3D-5B0D-FE14-F5F32DFEA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CM" sz="2600"/>
              <a:t>Etude comparative 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C33193F7-D346-2AB0-FAF8-90A26CDFF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87506"/>
              </p:ext>
            </p:extLst>
          </p:nvPr>
        </p:nvGraphicFramePr>
        <p:xfrm>
          <a:off x="311700" y="1271984"/>
          <a:ext cx="8520602" cy="3136891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969977">
                  <a:extLst>
                    <a:ext uri="{9D8B030D-6E8A-4147-A177-3AD203B41FA5}">
                      <a16:colId xmlns:a16="http://schemas.microsoft.com/office/drawing/2014/main" val="2901524678"/>
                    </a:ext>
                  </a:extLst>
                </a:gridCol>
                <a:gridCol w="2063668">
                  <a:extLst>
                    <a:ext uri="{9D8B030D-6E8A-4147-A177-3AD203B41FA5}">
                      <a16:colId xmlns:a16="http://schemas.microsoft.com/office/drawing/2014/main" val="4123664991"/>
                    </a:ext>
                  </a:extLst>
                </a:gridCol>
                <a:gridCol w="2253629">
                  <a:extLst>
                    <a:ext uri="{9D8B030D-6E8A-4147-A177-3AD203B41FA5}">
                      <a16:colId xmlns:a16="http://schemas.microsoft.com/office/drawing/2014/main" val="3892132494"/>
                    </a:ext>
                  </a:extLst>
                </a:gridCol>
                <a:gridCol w="2233328">
                  <a:extLst>
                    <a:ext uri="{9D8B030D-6E8A-4147-A177-3AD203B41FA5}">
                      <a16:colId xmlns:a16="http://schemas.microsoft.com/office/drawing/2014/main" val="3006659290"/>
                    </a:ext>
                  </a:extLst>
                </a:gridCol>
              </a:tblGrid>
              <a:tr h="299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Critère</a:t>
                      </a:r>
                    </a:p>
                  </a:txBody>
                  <a:tcPr marL="82328" marR="35821" marT="63329" marB="6332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MATLAB seul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Python + MATLAB Engine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C/C++ + MATLAB Engine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07752"/>
                  </a:ext>
                </a:extLst>
              </a:tr>
              <a:tr h="447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b="1" cap="none" spc="0">
                          <a:solidFill>
                            <a:schemeClr val="tx1"/>
                          </a:solidFill>
                        </a:rPr>
                        <a:t>Facilité de développement</a:t>
                      </a:r>
                      <a:endParaRPr lang="fr-CM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2328" marR="35821" marT="63329" marB="6332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Très simple, tout intégré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cap="none" spc="0">
                          <a:solidFill>
                            <a:schemeClr val="tx1"/>
                          </a:solidFill>
                        </a:rPr>
                        <a:t>Nécessite configuration du moteur et deux langages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cap="none" spc="0">
                          <a:solidFill>
                            <a:schemeClr val="tx1"/>
                          </a:solidFill>
                        </a:rPr>
                        <a:t>Complexe, gestion mémoire et API Engine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839421"/>
                  </a:ext>
                </a:extLst>
              </a:tr>
              <a:tr h="447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b="1" cap="none" spc="0">
                          <a:solidFill>
                            <a:schemeClr val="tx1"/>
                          </a:solidFill>
                        </a:rPr>
                        <a:t>Interface graphique (UI)</a:t>
                      </a:r>
                      <a:endParaRPr lang="fr-CM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2328" marR="35821" marT="63329" marB="6332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Basique (App Designer)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Moderne et flexible (PyQt, Tkinter, Streamlit, Web)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cap="none" spc="0">
                          <a:solidFill>
                            <a:schemeClr val="tx1"/>
                          </a:solidFill>
                        </a:rPr>
                        <a:t>Puissante (Qt/C++) mais lourde à développer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485869"/>
                  </a:ext>
                </a:extLst>
              </a:tr>
              <a:tr h="299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b="1" cap="none" spc="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fr-CM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2328" marR="35821" marT="63329" marB="6332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Bonne pour le prototypage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cap="none" spc="0">
                          <a:solidFill>
                            <a:schemeClr val="tx1"/>
                          </a:solidFill>
                        </a:rPr>
                        <a:t>Overhead dû aux appels Engine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cap="none" spc="0">
                          <a:solidFill>
                            <a:schemeClr val="tx1"/>
                          </a:solidFill>
                        </a:rPr>
                        <a:t>Très bonne, proche du hardware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4039"/>
                  </a:ext>
                </a:extLst>
              </a:tr>
              <a:tr h="447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b="1" cap="none" spc="0">
                          <a:solidFill>
                            <a:schemeClr val="tx1"/>
                          </a:solidFill>
                        </a:rPr>
                        <a:t>Interopérabilité</a:t>
                      </a:r>
                      <a:endParaRPr lang="fr-CM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2328" marR="35821" marT="63329" marB="6332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cap="none" spc="0">
                          <a:solidFill>
                            <a:schemeClr val="tx1"/>
                          </a:solidFill>
                        </a:rPr>
                        <a:t>Limitée à MATLAB et ses toolboxes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</a:rPr>
                        <a:t>Large (ML, Web, Data Science Python)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cap="none" spc="0">
                          <a:solidFill>
                            <a:schemeClr val="tx1"/>
                          </a:solidFill>
                        </a:rPr>
                        <a:t>Bonne pour le hardware et temps réel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274380"/>
                  </a:ext>
                </a:extLst>
              </a:tr>
              <a:tr h="447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b="1" cap="none" spc="0">
                          <a:solidFill>
                            <a:schemeClr val="tx1"/>
                          </a:solidFill>
                        </a:rPr>
                        <a:t>Maintenance</a:t>
                      </a:r>
                      <a:endParaRPr lang="fr-CM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2328" marR="35821" marT="63329" marB="6332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Simple (un seul environnement)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cap="none" spc="0">
                          <a:solidFill>
                            <a:schemeClr val="tx1"/>
                          </a:solidFill>
                        </a:rPr>
                        <a:t>Moyenne (code partagé MATLAB + Python)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Difficile, coût élevé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869578"/>
                  </a:ext>
                </a:extLst>
              </a:tr>
              <a:tr h="299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b="1" cap="none" spc="0">
                          <a:solidFill>
                            <a:schemeClr val="tx1"/>
                          </a:solidFill>
                        </a:rPr>
                        <a:t>Licence MATLAB</a:t>
                      </a:r>
                      <a:endParaRPr lang="fr-CM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2328" marR="35821" marT="63329" marB="6332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Obligatoire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Obligatoire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Obligatoire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620996"/>
                  </a:ext>
                </a:extLst>
              </a:tr>
              <a:tr h="447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b="1" cap="none" spc="0">
                          <a:solidFill>
                            <a:schemeClr val="tx1"/>
                          </a:solidFill>
                        </a:rPr>
                        <a:t>Cas d’usage idéal</a:t>
                      </a:r>
                      <a:endParaRPr lang="fr-CM" sz="1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2328" marR="35821" marT="63329" marB="6332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Prototypage, recherche académique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cap="none" spc="0">
                          <a:solidFill>
                            <a:schemeClr val="tx1"/>
                          </a:solidFill>
                        </a:rPr>
                        <a:t>Interface moderne combinée à MATLAB Radar Toolbox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sz="1000" cap="none" spc="0">
                          <a:solidFill>
                            <a:schemeClr val="tx1"/>
                          </a:solidFill>
                        </a:rPr>
                        <a:t>Applications industrielles, embarqué, défense</a:t>
                      </a:r>
                    </a:p>
                  </a:txBody>
                  <a:tcPr marL="82328" marR="35821" marT="63329" marB="6332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145836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547413D7-5B39-282D-24FD-DCFCF6C52347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6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51472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4716D2-3721-FE79-1468-B318C16F1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CM" sz="2800"/>
              <a:t>Prise en main App designer </a:t>
            </a:r>
          </a:p>
        </p:txBody>
      </p:sp>
      <p:pic>
        <p:nvPicPr>
          <p:cNvPr id="7" name="Image 6" descr="Une image contenant capture d’écran, logiciel, Logiciel multimédia, Logiciel de graphisme&#10;&#10;Le contenu généré par l’IA peut être incorrect.">
            <a:extLst>
              <a:ext uri="{FF2B5EF4-FFF2-40B4-BE49-F238E27FC236}">
                <a16:creationId xmlns:a16="http://schemas.microsoft.com/office/drawing/2014/main" id="{B9DB858D-0832-420A-7DE6-B36E64E9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834" y="1208225"/>
            <a:ext cx="6432331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794420C-80DF-F30F-397F-4161DB977C34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7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77191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3" descr="Une image contenant bâtiment, plein air, ciel, architecture&#10;&#10;Le contenu généré par l’IA peut êtr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3040</TotalTime>
  <Words>248</Words>
  <Application>Microsoft Office PowerPoint</Application>
  <PresentationFormat>Affichage à l'écran (16:9)</PresentationFormat>
  <Paragraphs>77</Paragraphs>
  <Slides>10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Montserrat</vt:lpstr>
      <vt:lpstr>Aharoni</vt:lpstr>
      <vt:lpstr>Montserrat SemiBold</vt:lpstr>
      <vt:lpstr>Arial</vt:lpstr>
      <vt:lpstr>Montserrat Light</vt:lpstr>
      <vt:lpstr>Simple Light</vt:lpstr>
      <vt:lpstr>Présentation PowerPoint</vt:lpstr>
      <vt:lpstr>Présentation PowerPoint</vt:lpstr>
      <vt:lpstr>Présentation PowerPoint</vt:lpstr>
      <vt:lpstr>Tests de validation des modèles</vt:lpstr>
      <vt:lpstr>Tests de validation des modèles</vt:lpstr>
      <vt:lpstr>Tests de validation des modèles</vt:lpstr>
      <vt:lpstr>Présentation PowerPoint</vt:lpstr>
      <vt:lpstr>Etude comparative </vt:lpstr>
      <vt:lpstr>Prise en main App designer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Rosilia Cabrelle</cp:lastModifiedBy>
  <cp:revision>5</cp:revision>
  <dcterms:modified xsi:type="dcterms:W3CDTF">2025-09-18T07:27:19Z</dcterms:modified>
</cp:coreProperties>
</file>