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3"/>
  </p:notesMasterIdLst>
  <p:sldIdLst>
    <p:sldId id="256" r:id="rId2"/>
    <p:sldId id="258" r:id="rId3"/>
    <p:sldId id="262" r:id="rId4"/>
    <p:sldId id="274" r:id="rId5"/>
    <p:sldId id="276" r:id="rId6"/>
    <p:sldId id="270" r:id="rId7"/>
    <p:sldId id="277" r:id="rId8"/>
    <p:sldId id="267" r:id="rId9"/>
    <p:sldId id="278" r:id="rId10"/>
    <p:sldId id="269" r:id="rId11"/>
    <p:sldId id="265" r:id="rId12"/>
  </p:sldIdLst>
  <p:sldSz cx="9144000" cy="5143500" type="screen16x9"/>
  <p:notesSz cx="6858000" cy="9144000"/>
  <p:embeddedFontLst>
    <p:embeddedFont>
      <p:font typeface="Aharoni" panose="02010803020104030203" pitchFamily="2" charset="-79"/>
      <p:bold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Light" panose="00000400000000000000" pitchFamily="2" charset="0"/>
      <p:regular r:id="rId19"/>
      <p:bold r:id="rId20"/>
      <p:italic r:id="rId21"/>
      <p:boldItalic r:id="rId22"/>
    </p:embeddedFont>
    <p:embeddedFont>
      <p:font typeface="Montserrat SemiBold" panose="000007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03">
          <p15:clr>
            <a:srgbClr val="747775"/>
          </p15:clr>
        </p15:guide>
        <p15:guide id="2" pos="2854">
          <p15:clr>
            <a:srgbClr val="747775"/>
          </p15:clr>
        </p15:guide>
        <p15:guide id="3" pos="340">
          <p15:clr>
            <a:srgbClr val="747775"/>
          </p15:clr>
        </p15:guide>
        <p15:guide id="4" orient="horz" pos="213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60"/>
  </p:normalViewPr>
  <p:slideViewPr>
    <p:cSldViewPr snapToGrid="0">
      <p:cViewPr>
        <p:scale>
          <a:sx n="78" d="100"/>
          <a:sy n="78" d="100"/>
        </p:scale>
        <p:origin x="840" y="36"/>
      </p:cViewPr>
      <p:guideLst>
        <p:guide orient="horz" pos="1603"/>
        <p:guide pos="2854"/>
        <p:guide pos="340"/>
        <p:guide orient="horz" pos="21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CM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468f01b72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145" name="Google Shape;145;g2468f01b72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9f5bf7ef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171" name="Google Shape;171;g29f5bf7ef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468f01b72f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269" name="Google Shape;269;g2468f01b72f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>
          <a:extLst>
            <a:ext uri="{FF2B5EF4-FFF2-40B4-BE49-F238E27FC236}">
              <a16:creationId xmlns:a16="http://schemas.microsoft.com/office/drawing/2014/main" id="{159AD074-6A31-88F2-C13A-D826EA290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468f01b72f_0_219:notes">
            <a:extLst>
              <a:ext uri="{FF2B5EF4-FFF2-40B4-BE49-F238E27FC236}">
                <a16:creationId xmlns:a16="http://schemas.microsoft.com/office/drawing/2014/main" id="{7FEE9361-9624-EB89-3868-9C0DB4A9D0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269" name="Google Shape;269;g2468f01b72f_0_219:notes">
            <a:extLst>
              <a:ext uri="{FF2B5EF4-FFF2-40B4-BE49-F238E27FC236}">
                <a16:creationId xmlns:a16="http://schemas.microsoft.com/office/drawing/2014/main" id="{0B55DB47-90E8-5906-7EFE-C7BA2F2C33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0197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>
          <a:extLst>
            <a:ext uri="{FF2B5EF4-FFF2-40B4-BE49-F238E27FC236}">
              <a16:creationId xmlns:a16="http://schemas.microsoft.com/office/drawing/2014/main" id="{20D9C6CE-69F2-2EE5-0FE7-9353C600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55edab1364_0_1:notes">
            <a:extLst>
              <a:ext uri="{FF2B5EF4-FFF2-40B4-BE49-F238E27FC236}">
                <a16:creationId xmlns:a16="http://schemas.microsoft.com/office/drawing/2014/main" id="{0E3616D1-D9D1-4B2B-8EE9-FDEFEC80C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  <p:sp>
        <p:nvSpPr>
          <p:cNvPr id="225" name="Google Shape;225;g255edab1364_0_1:notes">
            <a:extLst>
              <a:ext uri="{FF2B5EF4-FFF2-40B4-BE49-F238E27FC236}">
                <a16:creationId xmlns:a16="http://schemas.microsoft.com/office/drawing/2014/main" id="{931E241B-8487-6142-35FD-0BE93438AC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5759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8480a6904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28480a6904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fr-CM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haut">
  <p:cSld name="Texte seul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06025" y="2149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 descr="supports - decli piste-0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600" y="889451"/>
            <a:ext cx="4613135" cy="103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 descr="petites-bande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530" y="4654558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82600" y="214988"/>
            <a:ext cx="7508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482600" y="1111988"/>
            <a:ext cx="8193000" cy="3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2"/>
          </p:nvPr>
        </p:nvSpPr>
        <p:spPr>
          <a:xfrm>
            <a:off x="467544" y="4801791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itre">
  <p:cSld name="Chapitr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63312" y="2042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descr="petites-band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9283" y="4801663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>
            <a:spLocks noGrp="1"/>
          </p:cNvSpPr>
          <p:nvPr>
            <p:ph type="pic" idx="2"/>
          </p:nvPr>
        </p:nvSpPr>
        <p:spPr>
          <a:xfrm>
            <a:off x="0" y="0"/>
            <a:ext cx="4284600" cy="51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4427984" y="843558"/>
            <a:ext cx="446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9A45F"/>
              </a:buClr>
              <a:buSzPts val="2800"/>
              <a:buFont typeface="Montserrat SemiBold"/>
              <a:buNone/>
              <a:defRPr sz="2800" b="0" i="0" u="none" strike="noStrike" cap="none">
                <a:solidFill>
                  <a:srgbClr val="F9A45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4427984" y="1873638"/>
            <a:ext cx="4464600" cy="26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3"/>
          </p:nvPr>
        </p:nvSpPr>
        <p:spPr>
          <a:xfrm>
            <a:off x="7163199" y="4731990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16328"/>
            <a:ext cx="376670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25" y="316000"/>
            <a:ext cx="1442700" cy="98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4"/>
          <p:cNvSpPr txBox="1"/>
          <p:nvPr/>
        </p:nvSpPr>
        <p:spPr>
          <a:xfrm>
            <a:off x="385852" y="2571749"/>
            <a:ext cx="4886100" cy="199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3800" dirty="0">
                <a:solidFill>
                  <a:srgbClr val="F392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Présentation d’avancement 19/12/2025</a:t>
            </a:r>
            <a:endParaRPr sz="38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34"/>
          <p:cNvSpPr txBox="1"/>
          <p:nvPr/>
        </p:nvSpPr>
        <p:spPr>
          <a:xfrm>
            <a:off x="438525" y="4376800"/>
            <a:ext cx="4886100" cy="45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dirty="0">
                <a:solidFill>
                  <a:srgbClr val="646363"/>
                </a:solidFill>
                <a:latin typeface="Montserrat"/>
                <a:ea typeface="Montserrat"/>
                <a:cs typeface="Montserrat"/>
                <a:sym typeface="Montserrat"/>
              </a:rPr>
              <a:t>Rosilia MODJO</a:t>
            </a:r>
            <a:endParaRPr sz="15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3456553" cy="45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6"/>
          <p:cNvSpPr/>
          <p:nvPr/>
        </p:nvSpPr>
        <p:spPr>
          <a:xfrm>
            <a:off x="3473110" y="0"/>
            <a:ext cx="5715000" cy="458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36"/>
          <p:cNvSpPr txBox="1"/>
          <p:nvPr/>
        </p:nvSpPr>
        <p:spPr>
          <a:xfrm>
            <a:off x="605654" y="2203235"/>
            <a:ext cx="2850900" cy="697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3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sz="3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Google Shape;17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6"/>
          <p:cNvSpPr txBox="1"/>
          <p:nvPr/>
        </p:nvSpPr>
        <p:spPr>
          <a:xfrm>
            <a:off x="3909188" y="661251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6"/>
          <p:cNvSpPr txBox="1"/>
          <p:nvPr/>
        </p:nvSpPr>
        <p:spPr>
          <a:xfrm>
            <a:off x="4457300" y="794275"/>
            <a:ext cx="3813121" cy="101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BILAN DES TACHES A FAIRE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36"/>
          <p:cNvSpPr txBox="1"/>
          <p:nvPr/>
        </p:nvSpPr>
        <p:spPr>
          <a:xfrm>
            <a:off x="4424048" y="2011871"/>
            <a:ext cx="3813121" cy="101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DETAILS DES TACHES REALISEES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2878BCD-ACF6-15AB-128E-A6E4087A70EA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1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3" name="Google Shape;184;p36">
            <a:extLst>
              <a:ext uri="{FF2B5EF4-FFF2-40B4-BE49-F238E27FC236}">
                <a16:creationId xmlns:a16="http://schemas.microsoft.com/office/drawing/2014/main" id="{1437728D-67ED-AAFD-26FE-BFFC6782C770}"/>
              </a:ext>
            </a:extLst>
          </p:cNvPr>
          <p:cNvSpPr txBox="1"/>
          <p:nvPr/>
        </p:nvSpPr>
        <p:spPr>
          <a:xfrm>
            <a:off x="3894065" y="1849149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184;p36">
            <a:extLst>
              <a:ext uri="{FF2B5EF4-FFF2-40B4-BE49-F238E27FC236}">
                <a16:creationId xmlns:a16="http://schemas.microsoft.com/office/drawing/2014/main" id="{7AE75580-E5DF-6EA0-EB63-11A267F60795}"/>
              </a:ext>
            </a:extLst>
          </p:cNvPr>
          <p:cNvSpPr txBox="1"/>
          <p:nvPr/>
        </p:nvSpPr>
        <p:spPr>
          <a:xfrm>
            <a:off x="3909188" y="3199769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191;p36">
            <a:extLst>
              <a:ext uri="{FF2B5EF4-FFF2-40B4-BE49-F238E27FC236}">
                <a16:creationId xmlns:a16="http://schemas.microsoft.com/office/drawing/2014/main" id="{E247FEF7-CEA8-9364-F22A-FBD55FA44957}"/>
              </a:ext>
            </a:extLst>
          </p:cNvPr>
          <p:cNvSpPr txBox="1"/>
          <p:nvPr/>
        </p:nvSpPr>
        <p:spPr>
          <a:xfrm>
            <a:off x="4424049" y="3320571"/>
            <a:ext cx="3813121" cy="62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TACHES A VENIR 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0"/>
            <a:ext cx="376670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0"/>
          <p:cNvSpPr txBox="1"/>
          <p:nvPr/>
        </p:nvSpPr>
        <p:spPr>
          <a:xfrm>
            <a:off x="438525" y="3946300"/>
            <a:ext cx="4886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www.icam.fr</a:t>
            </a:r>
            <a:endParaRPr sz="3000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40"/>
          <p:cNvSpPr txBox="1"/>
          <p:nvPr/>
        </p:nvSpPr>
        <p:spPr>
          <a:xfrm>
            <a:off x="438525" y="3414400"/>
            <a:ext cx="488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>
                <a:solidFill>
                  <a:srgbClr val="F29403"/>
                </a:solidFill>
                <a:latin typeface="Montserrat"/>
                <a:ea typeface="Montserrat"/>
                <a:cs typeface="Montserrat"/>
                <a:sym typeface="Montserrat"/>
              </a:rPr>
              <a:t>icam.fr/reseaux-sociaux</a:t>
            </a:r>
            <a:endParaRPr sz="16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4" name="Google Shape;27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525" y="3017909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6998" y="2990350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7929" y="2990344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26304" y="3017911"/>
            <a:ext cx="478471" cy="4741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72;p40">
            <a:extLst>
              <a:ext uri="{FF2B5EF4-FFF2-40B4-BE49-F238E27FC236}">
                <a16:creationId xmlns:a16="http://schemas.microsoft.com/office/drawing/2014/main" id="{4D003C2F-3386-71E6-B25D-2F94677C17C7}"/>
              </a:ext>
            </a:extLst>
          </p:cNvPr>
          <p:cNvSpPr txBox="1"/>
          <p:nvPr/>
        </p:nvSpPr>
        <p:spPr>
          <a:xfrm>
            <a:off x="2002253" y="1205475"/>
            <a:ext cx="4886100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BILAN DES TACHES A FAIRE</a:t>
            </a:r>
            <a:endParaRPr sz="4000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9D139B3-B71C-2712-1480-1C4ED361F9F1}"/>
              </a:ext>
            </a:extLst>
          </p:cNvPr>
          <p:cNvSpPr txBox="1"/>
          <p:nvPr/>
        </p:nvSpPr>
        <p:spPr>
          <a:xfrm>
            <a:off x="590424" y="4592800"/>
            <a:ext cx="653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088A3-99A7-6A2B-FD1C-64AAA8BCF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FBB9F4-11C4-52BC-E055-3ED9AA2D2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Implémenter le modèle SPM1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Ajouter un message lors de la génération de la surface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Activer la mise à jour automatique de la longueur d’onde selon la fréquence entrée par l’utilisateur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Activer K0/</a:t>
            </a:r>
            <a:r>
              <a:rPr lang="fr-CM" b="1" dirty="0" err="1">
                <a:latin typeface="Montserrat" panose="00000500000000000000" pitchFamily="2" charset="0"/>
              </a:rPr>
              <a:t>Kc</a:t>
            </a:r>
            <a:r>
              <a:rPr lang="fr-CM" b="1" dirty="0">
                <a:latin typeface="Montserrat" panose="00000500000000000000" pitchFamily="2" charset="0"/>
              </a:rPr>
              <a:t> seulement pour GO1sh et TSM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Inverser les positions des champs K0/</a:t>
            </a:r>
            <a:r>
              <a:rPr lang="fr-CM" b="1" dirty="0" err="1">
                <a:latin typeface="Montserrat" panose="00000500000000000000" pitchFamily="2" charset="0"/>
              </a:rPr>
              <a:t>Kc</a:t>
            </a:r>
            <a:r>
              <a:rPr lang="fr-CM" b="1" dirty="0">
                <a:latin typeface="Montserrat" panose="00000500000000000000" pitchFamily="2" charset="0"/>
              </a:rPr>
              <a:t> , </a:t>
            </a:r>
            <a:r>
              <a:rPr lang="fr-CM" b="1" dirty="0" err="1">
                <a:latin typeface="Montserrat" panose="00000500000000000000" pitchFamily="2" charset="0"/>
              </a:rPr>
              <a:t>Fetch</a:t>
            </a:r>
            <a:r>
              <a:rPr lang="fr-CM" b="1" dirty="0">
                <a:latin typeface="Montserrat" panose="00000500000000000000" pitchFamily="2" charset="0"/>
              </a:rPr>
              <a:t> et model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Etudier la création d’un fichier exécutable pour le partage de l’interface à des tiers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Ajuster les limites pour les modèles GO1sh et SPM1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Etudier la faisabilité de la parallélisation sur un onglet différent</a:t>
            </a:r>
            <a:endParaRPr lang="fr-CM" dirty="0">
              <a:latin typeface="Montserrat" panose="00000500000000000000" pitchFamily="2" charset="0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878FF3D-2C44-82FF-FE6C-EC1026522AE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4897" y="4516088"/>
            <a:ext cx="1100182" cy="627412"/>
          </a:xfrm>
        </p:spPr>
        <p:txBody>
          <a:bodyPr>
            <a:no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3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1E355EB-8F4F-3CA5-AB78-57A0C563F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214988"/>
            <a:ext cx="7508700" cy="458400"/>
          </a:xfrm>
        </p:spPr>
        <p:txBody>
          <a:bodyPr>
            <a:normAutofit fontScale="90000"/>
          </a:bodyPr>
          <a:lstStyle/>
          <a:p>
            <a:pPr lvl="0" algn="ctr">
              <a:lnSpc>
                <a:spcPct val="115000"/>
              </a:lnSpc>
            </a:pPr>
            <a:r>
              <a:rPr lang="fr-FR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BILAN DES TACHES A FAIRE</a:t>
            </a:r>
            <a:endParaRPr lang="fr-FR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62406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4815E-C524-4B66-17FB-9C3B4A7B6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23DC9C-BB94-0A99-51B0-94836E4BD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>
                <a:latin typeface="Montserrat" panose="00000500000000000000" pitchFamily="2" charset="0"/>
              </a:rPr>
              <a:t>Rédiger le rapport technique  </a:t>
            </a:r>
            <a:r>
              <a:rPr lang="fr-CM" b="1" i="1" dirty="0">
                <a:latin typeface="Montserrat" panose="00000500000000000000" pitchFamily="2" charset="0"/>
              </a:rPr>
              <a:t>(19/12)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>
                <a:latin typeface="Montserrat" panose="00000500000000000000" pitchFamily="2" charset="0"/>
              </a:rPr>
              <a:t>Rédiger le rapport de stage </a:t>
            </a:r>
            <a:r>
              <a:rPr lang="fr-CM" b="1" i="1" dirty="0">
                <a:latin typeface="Montserrat" panose="00000500000000000000" pitchFamily="2" charset="0"/>
              </a:rPr>
              <a:t>( 09/01)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dirty="0">
                <a:latin typeface="Montserrat" panose="00000500000000000000" pitchFamily="2" charset="0"/>
              </a:rPr>
              <a:t>Préparer la soutenance de fin </a:t>
            </a:r>
            <a:r>
              <a:rPr lang="fr-CM" b="1" i="1" dirty="0">
                <a:latin typeface="Montserrat" panose="00000500000000000000" pitchFamily="2" charset="0"/>
              </a:rPr>
              <a:t>( 12/01)</a:t>
            </a:r>
          </a:p>
          <a:p>
            <a:pPr marL="228600" indent="0"/>
            <a:endParaRPr lang="fr-CM" dirty="0">
              <a:latin typeface="Montserrat" panose="00000500000000000000" pitchFamily="2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endParaRPr lang="fr-CM" dirty="0">
              <a:latin typeface="Montserrat" panose="00000500000000000000" pitchFamily="2" charset="0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E335E1C-6E3B-4C6F-D06E-50892349AC4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4897" y="4516088"/>
            <a:ext cx="1100182" cy="627412"/>
          </a:xfrm>
        </p:spPr>
        <p:txBody>
          <a:bodyPr>
            <a:no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4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4B95D09-21D5-3D27-3CE6-6050FDBBA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214988"/>
            <a:ext cx="7508700" cy="458400"/>
          </a:xfrm>
        </p:spPr>
        <p:txBody>
          <a:bodyPr>
            <a:normAutofit fontScale="90000"/>
          </a:bodyPr>
          <a:lstStyle/>
          <a:p>
            <a:pPr algn="ctr"/>
            <a:r>
              <a:rPr lang="fr-CM" dirty="0"/>
              <a:t>DEADLINES </a:t>
            </a:r>
          </a:p>
        </p:txBody>
      </p:sp>
    </p:spTree>
    <p:extLst>
      <p:ext uri="{BB962C8B-B14F-4D97-AF65-F5344CB8AC3E}">
        <p14:creationId xmlns:p14="http://schemas.microsoft.com/office/powerpoint/2010/main" val="798921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>
          <a:extLst>
            <a:ext uri="{FF2B5EF4-FFF2-40B4-BE49-F238E27FC236}">
              <a16:creationId xmlns:a16="http://schemas.microsoft.com/office/drawing/2014/main" id="{857A21E4-36FB-45A4-B653-0885D491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0">
            <a:extLst>
              <a:ext uri="{FF2B5EF4-FFF2-40B4-BE49-F238E27FC236}">
                <a16:creationId xmlns:a16="http://schemas.microsoft.com/office/drawing/2014/main" id="{48129860-581C-B2D7-2E17-129CA8B245B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0"/>
            <a:ext cx="376670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0">
            <a:extLst>
              <a:ext uri="{FF2B5EF4-FFF2-40B4-BE49-F238E27FC236}">
                <a16:creationId xmlns:a16="http://schemas.microsoft.com/office/drawing/2014/main" id="{F7948FE7-1B59-CF82-E3A3-164F1DEBAF7C}"/>
              </a:ext>
            </a:extLst>
          </p:cNvPr>
          <p:cNvSpPr txBox="1"/>
          <p:nvPr/>
        </p:nvSpPr>
        <p:spPr>
          <a:xfrm>
            <a:off x="867383" y="4561810"/>
            <a:ext cx="488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dirty="0">
                <a:solidFill>
                  <a:srgbClr val="F29403"/>
                </a:solidFill>
                <a:latin typeface="Montserrat"/>
                <a:ea typeface="Montserrat"/>
                <a:cs typeface="Montserrat"/>
                <a:sym typeface="Montserrat"/>
              </a:rPr>
              <a:t>icam.fr/reseaux-sociaux</a:t>
            </a:r>
            <a:endParaRPr sz="16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272;p40">
            <a:extLst>
              <a:ext uri="{FF2B5EF4-FFF2-40B4-BE49-F238E27FC236}">
                <a16:creationId xmlns:a16="http://schemas.microsoft.com/office/drawing/2014/main" id="{D78742D0-C620-9378-FBDD-AB3126D1351B}"/>
              </a:ext>
            </a:extLst>
          </p:cNvPr>
          <p:cNvSpPr txBox="1"/>
          <p:nvPr/>
        </p:nvSpPr>
        <p:spPr>
          <a:xfrm>
            <a:off x="460146" y="1855163"/>
            <a:ext cx="6613114" cy="1467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spcAft>
                <a:spcPts val="400"/>
              </a:spcAft>
            </a:pPr>
            <a:r>
              <a:rPr lang="fr-F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DETAILS DES TACHES  REALISEES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09FD26D-2DE7-631D-8069-47A7455C2F30}"/>
              </a:ext>
            </a:extLst>
          </p:cNvPr>
          <p:cNvSpPr txBox="1"/>
          <p:nvPr/>
        </p:nvSpPr>
        <p:spPr>
          <a:xfrm>
            <a:off x="590424" y="4592800"/>
            <a:ext cx="6531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1052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68245-F7EC-D3A6-817F-57562043C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3F67BF-D8F9-3453-8CE1-3FF2C7E1B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b="1" dirty="0">
                <a:latin typeface="Montserrat" panose="00000500000000000000" pitchFamily="2" charset="0"/>
              </a:rPr>
              <a:t>TRAVAUX REALISES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3C7ABAB-5C8A-598D-184F-2302B2ABA2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Implémentation du modèle SPM1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Ajout d’un message lors de la génération de la surface </a:t>
            </a:r>
            <a:r>
              <a:rPr lang="fr-CM" dirty="0">
                <a:latin typeface="Montserrat" panose="00000500000000000000" pitchFamily="2" charset="0"/>
              </a:rPr>
              <a:t>: ajout d’une fenêtre lors de la génération de de la surface avec les détails de la surface générée et le temps de génération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Mise à jour automatique de la longueur d’onde selon la fréquence entrée par l’utilisateur </a:t>
            </a:r>
            <a:r>
              <a:rPr lang="fr-CM" dirty="0">
                <a:latin typeface="Montserrat" panose="00000500000000000000" pitchFamily="2" charset="0"/>
              </a:rPr>
              <a:t>: conversion automatique de la valeur de la fréquence en la longueur d’onde correspondante </a:t>
            </a: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Activation de K0/</a:t>
            </a:r>
            <a:r>
              <a:rPr lang="fr-CM" b="1" dirty="0" err="1">
                <a:latin typeface="Montserrat" panose="00000500000000000000" pitchFamily="2" charset="0"/>
              </a:rPr>
              <a:t>Kc</a:t>
            </a:r>
            <a:r>
              <a:rPr lang="fr-CM" b="1" dirty="0">
                <a:latin typeface="Montserrat" panose="00000500000000000000" pitchFamily="2" charset="0"/>
              </a:rPr>
              <a:t> seulement pour GO1sh et TSM Inverser les positions des champs K0/</a:t>
            </a:r>
            <a:r>
              <a:rPr lang="fr-CM" b="1" dirty="0" err="1">
                <a:latin typeface="Montserrat" panose="00000500000000000000" pitchFamily="2" charset="0"/>
              </a:rPr>
              <a:t>Kc</a:t>
            </a:r>
            <a:r>
              <a:rPr lang="fr-CM" b="1" dirty="0">
                <a:latin typeface="Montserrat" panose="00000500000000000000" pitchFamily="2" charset="0"/>
              </a:rPr>
              <a:t> , </a:t>
            </a:r>
            <a:r>
              <a:rPr lang="fr-CM" b="1" dirty="0" err="1">
                <a:latin typeface="Montserrat" panose="00000500000000000000" pitchFamily="2" charset="0"/>
              </a:rPr>
              <a:t>Fetch</a:t>
            </a:r>
            <a:r>
              <a:rPr lang="fr-CM" b="1" dirty="0">
                <a:latin typeface="Montserrat" panose="00000500000000000000" pitchFamily="2" charset="0"/>
              </a:rPr>
              <a:t> et model </a:t>
            </a:r>
            <a:r>
              <a:rPr lang="fr-CM" dirty="0">
                <a:latin typeface="Montserrat" panose="00000500000000000000" pitchFamily="2" charset="0"/>
              </a:rPr>
              <a:t>: inversion des positions sur l’interface des champs de ces paramètres  </a:t>
            </a: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CM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sym typeface="Montserrat Light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CM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sym typeface="Montserrat Light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CM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sym typeface="Montserrat Light"/>
            </a:endParaRPr>
          </a:p>
          <a:p>
            <a:pPr>
              <a:buFontTx/>
              <a:buChar char="-"/>
            </a:pPr>
            <a:endParaRPr lang="fr-CM" b="1" dirty="0">
              <a:latin typeface="Montserrat" panose="00000500000000000000" pitchFamily="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42733F4-8FA0-8672-BFF9-5CD8351EEB6A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6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25976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4C4F5F-A49B-7C82-20E5-295A56B97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b="1" dirty="0">
                <a:latin typeface="Montserrat" panose="00000500000000000000" pitchFamily="2" charset="0"/>
              </a:rPr>
              <a:t>TRAVAUX REALISES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8A89553-F360-B5AE-6A0D-1F5A858C2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811411"/>
          </a:xfrm>
        </p:spPr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Etude de la création d’un fichier exécutable pour le partage de l’interface à des tiers </a:t>
            </a:r>
            <a:r>
              <a:rPr lang="fr-CM" dirty="0">
                <a:latin typeface="Montserrat" panose="00000500000000000000" pitchFamily="2" charset="0"/>
              </a:rPr>
              <a:t>: la création d’un fichier exécutable partageable est possible en utilisant MATLAB Compiler avec tous les configurations nécessaires </a:t>
            </a: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Ajuster les limites pour les modèles GO1sh et SPM1 </a:t>
            </a:r>
            <a:r>
              <a:rPr lang="fr-CM" dirty="0">
                <a:latin typeface="Montserrat" panose="00000500000000000000" pitchFamily="2" charset="0"/>
              </a:rPr>
              <a:t>: ajustement des limites de Y lors de la superposition de plusieurs courbes avec la présence de GO1sh. Limite supérieure fixé en fonction du maximum théorique , limite inférieure allant de -80 à -50 dB en fonction de la polarisation </a:t>
            </a: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buFont typeface="Arial" panose="020B0604020202020204" pitchFamily="34" charset="0"/>
              <a:buChar char="•"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CM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sym typeface="Montserrat Light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CM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sym typeface="Montserrat Light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CM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sym typeface="Montserrat Light"/>
            </a:endParaRPr>
          </a:p>
          <a:p>
            <a:pPr>
              <a:buFontTx/>
              <a:buChar char="-"/>
            </a:pPr>
            <a:endParaRPr lang="fr-CM" b="1" dirty="0">
              <a:latin typeface="Montserrat" panose="00000500000000000000" pitchFamily="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9CA2FA3-BD2C-C620-BF6B-3B73FC658A15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7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507844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935C2-5BA7-957F-19F7-8018EE8AA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CC890E-DE00-8155-ACF8-5C3088289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CM" b="1" dirty="0">
                <a:latin typeface="Montserrat" panose="00000500000000000000" pitchFamily="2" charset="0"/>
              </a:rPr>
              <a:t>TRAVAUX REALISES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145F02F-ACDC-9A65-E991-0FC5DFE6B8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152474"/>
            <a:ext cx="8520600" cy="3811411"/>
          </a:xfrm>
        </p:spPr>
        <p:txBody>
          <a:bodyPr>
            <a:normAutofit/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>
                <a:latin typeface="Montserrat" panose="00000500000000000000" pitchFamily="2" charset="0"/>
              </a:rPr>
              <a:t>Etudier la faisabilité de la parallélisation sur un onglet différent </a:t>
            </a:r>
            <a:r>
              <a:rPr lang="fr-CM" dirty="0">
                <a:latin typeface="Montserrat" panose="00000500000000000000" pitchFamily="2" charset="0"/>
              </a:rPr>
              <a:t>:</a:t>
            </a:r>
          </a:p>
          <a:p>
            <a:pPr marL="228600" indent="0">
              <a:buNone/>
            </a:pPr>
            <a:r>
              <a:rPr lang="fr-CM" dirty="0">
                <a:latin typeface="Montserrat" panose="00000500000000000000" pitchFamily="2" charset="0"/>
              </a:rPr>
              <a:t>Parallélisation possible en Matlab en utilisant la </a:t>
            </a:r>
            <a:r>
              <a:rPr lang="fr-CM" dirty="0" err="1">
                <a:latin typeface="Montserrat" panose="00000500000000000000" pitchFamily="2" charset="0"/>
              </a:rPr>
              <a:t>Parallel</a:t>
            </a:r>
            <a:r>
              <a:rPr lang="fr-CM" dirty="0">
                <a:latin typeface="Montserrat" panose="00000500000000000000" pitchFamily="2" charset="0"/>
              </a:rPr>
              <a:t> </a:t>
            </a:r>
            <a:r>
              <a:rPr lang="fr-CM" dirty="0" err="1">
                <a:latin typeface="Montserrat" panose="00000500000000000000" pitchFamily="2" charset="0"/>
              </a:rPr>
              <a:t>Computing</a:t>
            </a:r>
            <a:r>
              <a:rPr lang="fr-CM" dirty="0">
                <a:latin typeface="Montserrat" panose="00000500000000000000" pitchFamily="2" charset="0"/>
              </a:rPr>
              <a:t> Toolbox via l’utilisation des ‘</a:t>
            </a:r>
            <a:r>
              <a:rPr lang="fr-CM" dirty="0" err="1">
                <a:latin typeface="Montserrat" panose="00000500000000000000" pitchFamily="2" charset="0"/>
              </a:rPr>
              <a:t>parfor</a:t>
            </a:r>
            <a:r>
              <a:rPr lang="fr-CM" dirty="0">
                <a:latin typeface="Montserrat" panose="00000500000000000000" pitchFamily="2" charset="0"/>
              </a:rPr>
              <a:t>’</a:t>
            </a:r>
          </a:p>
          <a:p>
            <a:pPr marL="228600" indent="0">
              <a:buNone/>
            </a:pPr>
            <a:r>
              <a:rPr lang="fr-CM" b="1" dirty="0">
                <a:latin typeface="Montserrat" panose="00000500000000000000" pitchFamily="2" charset="0"/>
              </a:rPr>
              <a:t>NB </a:t>
            </a:r>
            <a:r>
              <a:rPr lang="fr-CM" dirty="0">
                <a:latin typeface="Montserrat" panose="00000500000000000000" pitchFamily="2" charset="0"/>
              </a:rPr>
              <a:t>: S’assurer d’avoir  au moins 4 cœurs sur le pc </a:t>
            </a: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/>
          </a:p>
          <a:p>
            <a:pPr marL="514350" indent="-285750">
              <a:spcBef>
                <a:spcPts val="360"/>
              </a:spcBef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endParaRPr lang="fr-CM" b="1" dirty="0">
              <a:latin typeface="Montserrat" panose="00000500000000000000" pitchFamily="2" charset="0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CM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sym typeface="Montserrat Light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CM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sym typeface="Montserrat Light"/>
            </a:endParaRPr>
          </a:p>
          <a:p>
            <a:pPr marL="514350" marR="0" lvl="0" indent="-285750" algn="l" defTabSz="914400" rtl="0" eaLnBrk="1" fontAlgn="auto" latinLnBrk="0" hangingPunct="1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  <a:tabLst/>
              <a:defRPr/>
            </a:pPr>
            <a:endParaRPr kumimoji="0" lang="fr-CM" sz="1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 Light"/>
              <a:sym typeface="Montserrat Light"/>
            </a:endParaRPr>
          </a:p>
          <a:p>
            <a:pPr>
              <a:buFontTx/>
              <a:buChar char="-"/>
            </a:pPr>
            <a:endParaRPr lang="fr-CM" b="1" dirty="0">
              <a:latin typeface="Montserrat" panose="00000500000000000000" pitchFamily="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51288FD-60E1-E251-9CA9-6DCAC68B1191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8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4448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>
          <a:extLst>
            <a:ext uri="{FF2B5EF4-FFF2-40B4-BE49-F238E27FC236}">
              <a16:creationId xmlns:a16="http://schemas.microsoft.com/office/drawing/2014/main" id="{7386E986-1ADE-CB08-82E5-9334B2A9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>
            <a:extLst>
              <a:ext uri="{FF2B5EF4-FFF2-40B4-BE49-F238E27FC236}">
                <a16:creationId xmlns:a16="http://schemas.microsoft.com/office/drawing/2014/main" id="{29385FAF-BA05-27AC-1E08-0CB2247C2B6B}"/>
              </a:ext>
            </a:extLst>
          </p:cNvPr>
          <p:cNvSpPr/>
          <p:nvPr/>
        </p:nvSpPr>
        <p:spPr>
          <a:xfrm>
            <a:off x="1350" y="2145300"/>
            <a:ext cx="9141300" cy="246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38">
            <a:extLst>
              <a:ext uri="{FF2B5EF4-FFF2-40B4-BE49-F238E27FC236}">
                <a16:creationId xmlns:a16="http://schemas.microsoft.com/office/drawing/2014/main" id="{F0F2850D-416C-9038-8B91-3BD6239A6DD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4075" y="2150"/>
            <a:ext cx="5659925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8">
            <a:extLst>
              <a:ext uri="{FF2B5EF4-FFF2-40B4-BE49-F238E27FC236}">
                <a16:creationId xmlns:a16="http://schemas.microsoft.com/office/drawing/2014/main" id="{32925A70-4A56-9FC5-7F84-BD587D9FF427}"/>
              </a:ext>
            </a:extLst>
          </p:cNvPr>
          <p:cNvSpPr/>
          <p:nvPr/>
        </p:nvSpPr>
        <p:spPr>
          <a:xfrm>
            <a:off x="1350" y="0"/>
            <a:ext cx="3482700" cy="2114400"/>
          </a:xfrm>
          <a:prstGeom prst="rect">
            <a:avLst/>
          </a:prstGeom>
          <a:solidFill>
            <a:srgbClr val="09B0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8">
            <a:extLst>
              <a:ext uri="{FF2B5EF4-FFF2-40B4-BE49-F238E27FC236}">
                <a16:creationId xmlns:a16="http://schemas.microsoft.com/office/drawing/2014/main" id="{3D9D39D2-FF67-7009-03A2-B675022B58A2}"/>
              </a:ext>
            </a:extLst>
          </p:cNvPr>
          <p:cNvSpPr txBox="1"/>
          <p:nvPr/>
        </p:nvSpPr>
        <p:spPr>
          <a:xfrm>
            <a:off x="1040500" y="4715250"/>
            <a:ext cx="48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2" name="Google Shape;232;p38">
            <a:extLst>
              <a:ext uri="{FF2B5EF4-FFF2-40B4-BE49-F238E27FC236}">
                <a16:creationId xmlns:a16="http://schemas.microsoft.com/office/drawing/2014/main" id="{6835C172-CF37-24B8-9C3B-314FE892F07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8">
            <a:extLst>
              <a:ext uri="{FF2B5EF4-FFF2-40B4-BE49-F238E27FC236}">
                <a16:creationId xmlns:a16="http://schemas.microsoft.com/office/drawing/2014/main" id="{F16F5A86-D019-C53A-FC37-3A7EA3BC0521}"/>
              </a:ext>
            </a:extLst>
          </p:cNvPr>
          <p:cNvSpPr txBox="1"/>
          <p:nvPr/>
        </p:nvSpPr>
        <p:spPr>
          <a:xfrm>
            <a:off x="355602" y="814495"/>
            <a:ext cx="3119007" cy="10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TACHES A VENIR 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43E3EB4-E970-6683-4E57-CE91E6270272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9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3" name="Google Shape;233;p38">
            <a:extLst>
              <a:ext uri="{FF2B5EF4-FFF2-40B4-BE49-F238E27FC236}">
                <a16:creationId xmlns:a16="http://schemas.microsoft.com/office/drawing/2014/main" id="{9E31EB38-CA41-193D-2523-89064262F60B}"/>
              </a:ext>
            </a:extLst>
          </p:cNvPr>
          <p:cNvSpPr txBox="1"/>
          <p:nvPr/>
        </p:nvSpPr>
        <p:spPr>
          <a:xfrm>
            <a:off x="714955" y="2441597"/>
            <a:ext cx="4056857" cy="1918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Continuer l’étude de la parallélisation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fr"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Rédiger le rapport de stage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fr"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Regarder pour le chiffrement avec les P-code</a:t>
            </a:r>
            <a:endParaRPr lang="fr"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233;p38">
            <a:extLst>
              <a:ext uri="{FF2B5EF4-FFF2-40B4-BE49-F238E27FC236}">
                <a16:creationId xmlns:a16="http://schemas.microsoft.com/office/drawing/2014/main" id="{4079FAE5-0739-A861-1AA2-CFC5D2C980D6}"/>
              </a:ext>
            </a:extLst>
          </p:cNvPr>
          <p:cNvSpPr txBox="1"/>
          <p:nvPr/>
        </p:nvSpPr>
        <p:spPr>
          <a:xfrm>
            <a:off x="4887309" y="2441597"/>
            <a:ext cx="4056857" cy="1969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Préparer la soutenance de fin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fr"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Voir pour le code compilé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fr"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6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Valider la transcription CMOD7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endParaRPr lang="fr-CM" sz="16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784953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3" descr="Une image contenant bâtiment, plein air, ciel, architecture&#10;&#10;Le contenu généré par l’IA peut êtr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24492</TotalTime>
  <Words>429</Words>
  <Application>Microsoft Office PowerPoint</Application>
  <PresentationFormat>Affichage à l'écran (16:9)</PresentationFormat>
  <Paragraphs>95</Paragraphs>
  <Slides>11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Montserrat SemiBold</vt:lpstr>
      <vt:lpstr>Montserrat</vt:lpstr>
      <vt:lpstr>Arial</vt:lpstr>
      <vt:lpstr>Montserrat Light</vt:lpstr>
      <vt:lpstr>Aharoni</vt:lpstr>
      <vt:lpstr>Simple Light</vt:lpstr>
      <vt:lpstr>Présentation PowerPoint</vt:lpstr>
      <vt:lpstr>Présentation PowerPoint</vt:lpstr>
      <vt:lpstr>Présentation PowerPoint</vt:lpstr>
      <vt:lpstr>BILAN DES TACHES A FAIRE</vt:lpstr>
      <vt:lpstr>DEADLINES </vt:lpstr>
      <vt:lpstr>Présentation PowerPoint</vt:lpstr>
      <vt:lpstr>TRAVAUX REALISES</vt:lpstr>
      <vt:lpstr>TRAVAUX REALISES</vt:lpstr>
      <vt:lpstr>TRAVAUX REALISES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Rosilia Cabrelle</cp:lastModifiedBy>
  <cp:revision>20</cp:revision>
  <dcterms:modified xsi:type="dcterms:W3CDTF">2025-12-19T09:02:17Z</dcterms:modified>
</cp:coreProperties>
</file>